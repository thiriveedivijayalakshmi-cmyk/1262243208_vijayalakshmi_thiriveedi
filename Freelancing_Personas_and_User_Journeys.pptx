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BF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7068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BFA"/>
        </a:solidFill>
        <a:effectLst/>
      </p:bgPr>
    </p:bg>
    <p:spTree>
      <p:nvGrpSpPr>
        <p:cNvPr id="1" name=""/>
        <p:cNvGrpSpPr/>
        <p:nvPr/>
      </p:nvGrpSpPr>
      <p:grpSpPr>
        <a:xfrm>
          <a:off x="0" y="0"/>
          <a:ext cx="0" cy="0"/>
          <a:chOff x="0" y="0"/>
          <a:chExt cx="0" cy="0"/>
        </a:xfrm>
      </p:grpSpPr>
      <p:sp>
        <p:nvSpPr>
          <p:cNvPr id="2" name="Shape 0"/>
          <p:cNvSpPr/>
          <p:nvPr/>
        </p:nvSpPr>
        <p:spPr>
          <a:xfrm>
            <a:off x="8778240" y="-1280160"/>
            <a:ext cx="4572000" cy="4572000"/>
          </a:xfrm>
          <a:prstGeom prst="ellipse">
            <a:avLst/>
          </a:prstGeom>
          <a:solidFill>
            <a:srgbClr val="C9BFEA">
              <a:alpha val="45000"/>
            </a:srgbClr>
          </a:solidFill>
          <a:ln/>
        </p:spPr>
      </p:sp>
      <p:sp>
        <p:nvSpPr>
          <p:cNvPr id="3" name="Shape 1"/>
          <p:cNvSpPr/>
          <p:nvPr/>
        </p:nvSpPr>
        <p:spPr>
          <a:xfrm>
            <a:off x="-1463040" y="4846320"/>
            <a:ext cx="3840480" cy="3840480"/>
          </a:xfrm>
          <a:prstGeom prst="ellipse">
            <a:avLst/>
          </a:prstGeom>
          <a:solidFill>
            <a:srgbClr val="A8E6CF">
              <a:alpha val="45000"/>
            </a:srgbClr>
          </a:solidFill>
          <a:ln/>
        </p:spPr>
      </p:sp>
      <p:sp>
        <p:nvSpPr>
          <p:cNvPr id="4" name="Shape 2"/>
          <p:cNvSpPr/>
          <p:nvPr/>
        </p:nvSpPr>
        <p:spPr>
          <a:xfrm>
            <a:off x="9875520" y="5120640"/>
            <a:ext cx="2377440" cy="2377440"/>
          </a:xfrm>
          <a:prstGeom prst="ellipse">
            <a:avLst/>
          </a:prstGeom>
          <a:solidFill>
            <a:srgbClr val="F0D77B">
              <a:alpha val="45000"/>
            </a:srgbClr>
          </a:solidFill>
          <a:ln/>
        </p:spPr>
      </p:sp>
      <p:sp>
        <p:nvSpPr>
          <p:cNvPr id="5" name="Shape 3"/>
          <p:cNvSpPr/>
          <p:nvPr/>
        </p:nvSpPr>
        <p:spPr>
          <a:xfrm>
            <a:off x="1005840" y="1600200"/>
            <a:ext cx="10177272" cy="3657600"/>
          </a:xfrm>
          <a:prstGeom prst="roundRect">
            <a:avLst>
              <a:gd name="adj" fmla="val 4000"/>
            </a:avLst>
          </a:prstGeom>
          <a:solidFill>
            <a:srgbClr val="FFFFFF"/>
          </a:solidFill>
          <a:ln/>
          <a:effectLst>
            <a:outerShdw blurRad="228600" dist="76200" dir="5400000" algn="bl" rotWithShape="0">
              <a:srgbClr val="6C5CBF">
                <a:alpha val="18000"/>
              </a:srgbClr>
            </a:outerShdw>
          </a:effectLst>
        </p:spPr>
      </p:sp>
      <p:sp>
        <p:nvSpPr>
          <p:cNvPr id="6" name="Shape 4"/>
          <p:cNvSpPr/>
          <p:nvPr/>
        </p:nvSpPr>
        <p:spPr>
          <a:xfrm>
            <a:off x="1856232" y="3822192"/>
            <a:ext cx="4297680" cy="402336"/>
          </a:xfrm>
          <a:prstGeom prst="roundRect">
            <a:avLst>
              <a:gd name="adj" fmla="val 50000"/>
            </a:avLst>
          </a:prstGeom>
          <a:solidFill>
            <a:srgbClr val="EFEBFA"/>
          </a:solidFill>
          <a:ln/>
        </p:spPr>
        <p:txBody>
          <a:bodyPr/>
          <a:lstStyle/>
          <a:p>
            <a:endParaRPr lang="en-IN" dirty="0"/>
          </a:p>
        </p:txBody>
      </p:sp>
      <p:sp>
        <p:nvSpPr>
          <p:cNvPr id="7" name="Text 5"/>
          <p:cNvSpPr/>
          <p:nvPr/>
        </p:nvSpPr>
        <p:spPr>
          <a:xfrm>
            <a:off x="1463040" y="3659466"/>
            <a:ext cx="5146766" cy="683934"/>
          </a:xfrm>
          <a:prstGeom prst="rect">
            <a:avLst/>
          </a:prstGeom>
          <a:noFill/>
          <a:ln/>
        </p:spPr>
        <p:txBody>
          <a:bodyPr wrap="square" rtlCol="0" anchor="ctr"/>
          <a:lstStyle/>
          <a:p>
            <a:pPr marL="0" indent="0" algn="ctr">
              <a:buNone/>
            </a:pPr>
            <a:r>
              <a:rPr lang="en-US" sz="1600" b="1" dirty="0">
                <a:solidFill>
                  <a:srgbClr val="6C5CBF"/>
                </a:solidFill>
                <a:latin typeface="Calibri" pitchFamily="34" charset="0"/>
                <a:ea typeface="Calibri" pitchFamily="34" charset="-122"/>
                <a:cs typeface="Calibri" pitchFamily="34" charset="-120"/>
              </a:rPr>
              <a:t>FREELANCE  PLATFORMS</a:t>
            </a:r>
            <a:endParaRPr lang="en-US" sz="1600" dirty="0"/>
          </a:p>
        </p:txBody>
      </p:sp>
      <p:sp>
        <p:nvSpPr>
          <p:cNvPr id="8" name="Text 6"/>
          <p:cNvSpPr/>
          <p:nvPr/>
        </p:nvSpPr>
        <p:spPr>
          <a:xfrm>
            <a:off x="1463040" y="2697480"/>
            <a:ext cx="9235440" cy="1005840"/>
          </a:xfrm>
          <a:prstGeom prst="rect">
            <a:avLst/>
          </a:prstGeom>
          <a:noFill/>
          <a:ln/>
        </p:spPr>
        <p:txBody>
          <a:bodyPr wrap="square" rtlCol="0" anchor="ctr"/>
          <a:lstStyle/>
          <a:p>
            <a:pPr marL="0" indent="0">
              <a:buNone/>
            </a:pPr>
            <a:r>
              <a:rPr lang="en-US" sz="4800" b="1" dirty="0">
                <a:solidFill>
                  <a:srgbClr val="2E2B45"/>
                </a:solidFill>
                <a:latin typeface="Bernard MT Condensed" panose="02050806060905020404" pitchFamily="18" charset="0"/>
                <a:ea typeface="Poppins" pitchFamily="34" charset="-122"/>
                <a:cs typeface="Poppins" pitchFamily="34" charset="-120"/>
              </a:rPr>
              <a:t>Personas &amp; User Journeys</a:t>
            </a:r>
            <a:endParaRPr lang="en-US" sz="4800" dirty="0">
              <a:latin typeface="Bernard MT Condensed" panose="02050806060905020404" pitchFamily="18" charset="0"/>
            </a:endParaRPr>
          </a:p>
        </p:txBody>
      </p:sp>
      <p:sp>
        <p:nvSpPr>
          <p:cNvPr id="9" name="Text 7"/>
          <p:cNvSpPr/>
          <p:nvPr/>
        </p:nvSpPr>
        <p:spPr>
          <a:xfrm>
            <a:off x="1463040" y="2379306"/>
            <a:ext cx="8778240" cy="501054"/>
          </a:xfrm>
          <a:prstGeom prst="rect">
            <a:avLst/>
          </a:prstGeom>
          <a:noFill/>
          <a:ln/>
        </p:spPr>
        <p:txBody>
          <a:bodyPr wrap="square" rtlCol="0" anchor="ctr"/>
          <a:lstStyle/>
          <a:p>
            <a:r>
              <a:rPr lang="en-US" sz="2400" b="1" dirty="0">
                <a:solidFill>
                  <a:srgbClr val="1F2430"/>
                </a:solidFill>
                <a:latin typeface="Britannic Bold" panose="020B0903060703020204" pitchFamily="34" charset="0"/>
                <a:ea typeface="Cambria" pitchFamily="34" charset="-122"/>
                <a:cs typeface="Cambria" pitchFamily="34" charset="-120"/>
              </a:rPr>
              <a:t>UI/UX Assignment 02: </a:t>
            </a:r>
            <a:endParaRPr lang="en-US" sz="2400" dirty="0">
              <a:latin typeface="Britannic Bold" panose="020B0903060703020204" pitchFamily="34" charset="0"/>
            </a:endParaRPr>
          </a:p>
        </p:txBody>
      </p:sp>
      <p:sp>
        <p:nvSpPr>
          <p:cNvPr id="11" name="Text 9"/>
          <p:cNvSpPr/>
          <p:nvPr/>
        </p:nvSpPr>
        <p:spPr>
          <a:xfrm>
            <a:off x="1463040" y="4343400"/>
            <a:ext cx="1458468" cy="384048"/>
          </a:xfrm>
          <a:prstGeom prst="rect">
            <a:avLst/>
          </a:prstGeom>
          <a:noFill/>
          <a:ln/>
        </p:spPr>
        <p:txBody>
          <a:bodyPr wrap="square" rtlCol="0" anchor="ctr"/>
          <a:lstStyle/>
          <a:p>
            <a:pPr marL="0" indent="0" algn="ctr">
              <a:buNone/>
            </a:pPr>
            <a:endParaRPr lang="en-US" sz="1100" dirty="0"/>
          </a:p>
        </p:txBody>
      </p:sp>
      <p:sp>
        <p:nvSpPr>
          <p:cNvPr id="13" name="Text 11"/>
          <p:cNvSpPr/>
          <p:nvPr/>
        </p:nvSpPr>
        <p:spPr>
          <a:xfrm>
            <a:off x="3122676" y="4343400"/>
            <a:ext cx="1458468" cy="384048"/>
          </a:xfrm>
          <a:prstGeom prst="rect">
            <a:avLst/>
          </a:prstGeom>
          <a:noFill/>
          <a:ln/>
        </p:spPr>
        <p:txBody>
          <a:bodyPr wrap="square" rtlCol="0" anchor="ctr"/>
          <a:lstStyle/>
          <a:p>
            <a:pPr marL="0" indent="0" algn="ctr">
              <a:buNone/>
            </a:pPr>
            <a:endParaRPr lang="en-US" sz="1100" dirty="0"/>
          </a:p>
        </p:txBody>
      </p:sp>
      <p:sp>
        <p:nvSpPr>
          <p:cNvPr id="15" name="Text 13"/>
          <p:cNvSpPr/>
          <p:nvPr/>
        </p:nvSpPr>
        <p:spPr>
          <a:xfrm>
            <a:off x="4782312" y="4343400"/>
            <a:ext cx="1371600" cy="384048"/>
          </a:xfrm>
          <a:prstGeom prst="rect">
            <a:avLst/>
          </a:prstGeom>
          <a:noFill/>
          <a:ln/>
        </p:spPr>
        <p:txBody>
          <a:bodyPr wrap="square" rtlCol="0" anchor="ctr"/>
          <a:lstStyle/>
          <a:p>
            <a:pPr marL="0" indent="0" algn="ctr">
              <a:buNone/>
            </a:pPr>
            <a:endParaRPr lang="en-US" sz="1100" dirty="0"/>
          </a:p>
        </p:txBody>
      </p:sp>
      <p:sp>
        <p:nvSpPr>
          <p:cNvPr id="17" name="Text 15"/>
          <p:cNvSpPr/>
          <p:nvPr/>
        </p:nvSpPr>
        <p:spPr>
          <a:xfrm>
            <a:off x="6355080" y="4343400"/>
            <a:ext cx="1632204" cy="384048"/>
          </a:xfrm>
          <a:prstGeom prst="rect">
            <a:avLst/>
          </a:prstGeom>
          <a:noFill/>
          <a:ln/>
        </p:spPr>
        <p:txBody>
          <a:bodyPr wrap="square" rtlCol="0" anchor="ctr"/>
          <a:lstStyle/>
          <a:p>
            <a:pPr marL="0" indent="0" algn="ctr">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320040"/>
          </a:xfrm>
          <a:prstGeom prst="rect">
            <a:avLst/>
          </a:prstGeom>
          <a:noFill/>
          <a:ln/>
        </p:spPr>
        <p:txBody>
          <a:bodyPr wrap="square" rtlCol="0" anchor="ctr"/>
          <a:lstStyle/>
          <a:p>
            <a:pPr marL="0" indent="0">
              <a:buNone/>
            </a:pPr>
            <a:endParaRPr lang="en-US" sz="1200" dirty="0"/>
          </a:p>
        </p:txBody>
      </p:sp>
      <p:sp>
        <p:nvSpPr>
          <p:cNvPr id="3" name="Text 1"/>
          <p:cNvSpPr/>
          <p:nvPr/>
        </p:nvSpPr>
        <p:spPr>
          <a:xfrm>
            <a:off x="457200" y="621792"/>
            <a:ext cx="9601200" cy="548640"/>
          </a:xfrm>
          <a:prstGeom prst="rect">
            <a:avLst/>
          </a:prstGeom>
          <a:noFill/>
          <a:ln/>
        </p:spPr>
        <p:txBody>
          <a:bodyPr wrap="square" rtlCol="0" anchor="ctr"/>
          <a:lstStyle/>
          <a:p>
            <a:pPr marL="0" indent="0">
              <a:buNone/>
            </a:pPr>
            <a:r>
              <a:rPr lang="en-US" sz="3000" b="1" dirty="0">
                <a:solidFill>
                  <a:srgbClr val="2E2B45"/>
                </a:solidFill>
                <a:latin typeface="Poppins" pitchFamily="34" charset="0"/>
                <a:ea typeface="Poppins" pitchFamily="34" charset="-122"/>
                <a:cs typeface="Poppins" pitchFamily="34" charset="-120"/>
              </a:rPr>
              <a:t>Empathy Map</a:t>
            </a:r>
            <a:endParaRPr lang="en-US" sz="3000" dirty="0"/>
          </a:p>
        </p:txBody>
      </p:sp>
      <p:sp>
        <p:nvSpPr>
          <p:cNvPr id="5" name="Shape 3"/>
          <p:cNvSpPr/>
          <p:nvPr/>
        </p:nvSpPr>
        <p:spPr>
          <a:xfrm>
            <a:off x="457200" y="1691640"/>
            <a:ext cx="5120640" cy="1920240"/>
          </a:xfrm>
          <a:prstGeom prst="roundRect">
            <a:avLst>
              <a:gd name="adj" fmla="val 5714"/>
            </a:avLst>
          </a:prstGeom>
          <a:solidFill>
            <a:srgbClr val="EFEBFA"/>
          </a:solidFill>
          <a:ln/>
        </p:spPr>
      </p:sp>
      <p:sp>
        <p:nvSpPr>
          <p:cNvPr id="6" name="Text 4"/>
          <p:cNvSpPr/>
          <p:nvPr/>
        </p:nvSpPr>
        <p:spPr>
          <a:xfrm>
            <a:off x="685800" y="1819656"/>
            <a:ext cx="2743200" cy="320040"/>
          </a:xfrm>
          <a:prstGeom prst="rect">
            <a:avLst/>
          </a:prstGeom>
          <a:noFill/>
          <a:ln/>
        </p:spPr>
        <p:txBody>
          <a:bodyPr wrap="square" rtlCol="0" anchor="ctr"/>
          <a:lstStyle/>
          <a:p>
            <a:pPr marL="0" indent="0">
              <a:buNone/>
            </a:pPr>
            <a:r>
              <a:rPr lang="en-US" sz="1300" b="1" kern="0" spc="100" dirty="0">
                <a:solidFill>
                  <a:srgbClr val="6C5CBF"/>
                </a:solidFill>
                <a:latin typeface="Calibri" pitchFamily="34" charset="0"/>
                <a:ea typeface="Calibri" pitchFamily="34" charset="-122"/>
                <a:cs typeface="Calibri" pitchFamily="34" charset="-120"/>
              </a:rPr>
              <a:t>SAYS</a:t>
            </a:r>
            <a:endParaRPr lang="en-US" sz="1300" dirty="0"/>
          </a:p>
        </p:txBody>
      </p:sp>
      <p:sp>
        <p:nvSpPr>
          <p:cNvPr id="7" name="Text 5"/>
          <p:cNvSpPr/>
          <p:nvPr/>
        </p:nvSpPr>
        <p:spPr>
          <a:xfrm>
            <a:off x="685800" y="2167128"/>
            <a:ext cx="4663440" cy="1325880"/>
          </a:xfrm>
          <a:prstGeom prst="rect">
            <a:avLst/>
          </a:prstGeom>
          <a:noFill/>
          <a:ln/>
        </p:spPr>
        <p:txBody>
          <a:bodyPr wrap="square" rtlCol="0" anchor="t"/>
          <a:lstStyle/>
          <a:p>
            <a:pPr marL="177800" indent="-177800">
              <a:lnSpc>
                <a:spcPct val="105000"/>
              </a:lnSpc>
              <a:spcAft>
                <a:spcPts val="800"/>
              </a:spcAft>
              <a:buSzPct val="100000"/>
              <a:buChar char="•"/>
            </a:pPr>
            <a:r>
              <a:rPr lang="en-US" sz="1100" dirty="0">
                <a:solidFill>
                  <a:srgbClr val="2E2B45"/>
                </a:solidFill>
                <a:latin typeface="Calibri" pitchFamily="34" charset="0"/>
                <a:ea typeface="Calibri" pitchFamily="34" charset="-122"/>
                <a:cs typeface="Calibri" pitchFamily="34" charset="-120"/>
              </a:rPr>
              <a:t>“I don’t want to lower my rate just to look ‘affordable’ in search results.”</a:t>
            </a:r>
            <a:endParaRPr lang="en-US" sz="1100" dirty="0"/>
          </a:p>
          <a:p>
            <a:pPr marL="177800" indent="-177800">
              <a:lnSpc>
                <a:spcPct val="105000"/>
              </a:lnSpc>
              <a:spcAft>
                <a:spcPts val="800"/>
              </a:spcAft>
              <a:buSzPct val="100000"/>
              <a:buChar char="•"/>
            </a:pPr>
            <a:r>
              <a:rPr lang="en-US" sz="1100" dirty="0">
                <a:solidFill>
                  <a:srgbClr val="2E2B45"/>
                </a:solidFill>
                <a:latin typeface="Calibri" pitchFamily="34" charset="0"/>
                <a:ea typeface="Calibri" pitchFamily="34" charset="-122"/>
                <a:cs typeface="Calibri" pitchFamily="34" charset="-120"/>
              </a:rPr>
              <a:t>“Why does every client want a free sample before they’ll even reply?”</a:t>
            </a:r>
            <a:endParaRPr lang="en-US" sz="1100" dirty="0"/>
          </a:p>
          <a:p>
            <a:pPr marL="177800" indent="-177800">
              <a:lnSpc>
                <a:spcPct val="105000"/>
              </a:lnSpc>
              <a:spcAft>
                <a:spcPts val="800"/>
              </a:spcAft>
              <a:buSzPct val="100000"/>
              <a:buChar char="•"/>
            </a:pPr>
            <a:r>
              <a:rPr lang="en-US" sz="1100" dirty="0">
                <a:solidFill>
                  <a:srgbClr val="2E2B45"/>
                </a:solidFill>
                <a:latin typeface="Calibri" pitchFamily="34" charset="0"/>
                <a:ea typeface="Calibri" pitchFamily="34" charset="-122"/>
                <a:cs typeface="Calibri" pitchFamily="34" charset="-120"/>
              </a:rPr>
              <a:t>“The client hasn’t messaged in four days — is this project even alive?”</a:t>
            </a:r>
            <a:endParaRPr lang="en-US" sz="1100" dirty="0"/>
          </a:p>
          <a:p>
            <a:pPr marL="177800" indent="-177800">
              <a:lnSpc>
                <a:spcPct val="105000"/>
              </a:lnSpc>
              <a:spcAft>
                <a:spcPts val="800"/>
              </a:spcAft>
              <a:buSzPct val="100000"/>
              <a:buChar char="•"/>
            </a:pPr>
            <a:r>
              <a:rPr lang="en-US" sz="1100" dirty="0">
                <a:solidFill>
                  <a:srgbClr val="2E2B45"/>
                </a:solidFill>
                <a:latin typeface="Calibri" pitchFamily="34" charset="0"/>
                <a:ea typeface="Calibri" pitchFamily="34" charset="-122"/>
                <a:cs typeface="Calibri" pitchFamily="34" charset="-120"/>
              </a:rPr>
              <a:t>“I finished the milestone, why is the payment still ‘processing’?”</a:t>
            </a:r>
            <a:endParaRPr lang="en-US" sz="1100" dirty="0"/>
          </a:p>
        </p:txBody>
      </p:sp>
      <p:sp>
        <p:nvSpPr>
          <p:cNvPr id="8" name="Shape 6"/>
          <p:cNvSpPr/>
          <p:nvPr/>
        </p:nvSpPr>
        <p:spPr>
          <a:xfrm>
            <a:off x="6172200" y="1691640"/>
            <a:ext cx="5120640" cy="1920240"/>
          </a:xfrm>
          <a:prstGeom prst="roundRect">
            <a:avLst>
              <a:gd name="adj" fmla="val 5714"/>
            </a:avLst>
          </a:prstGeom>
          <a:solidFill>
            <a:srgbClr val="E7F2FB"/>
          </a:solidFill>
          <a:ln/>
        </p:spPr>
      </p:sp>
      <p:sp>
        <p:nvSpPr>
          <p:cNvPr id="9" name="Text 7"/>
          <p:cNvSpPr/>
          <p:nvPr/>
        </p:nvSpPr>
        <p:spPr>
          <a:xfrm>
            <a:off x="6400800" y="1819656"/>
            <a:ext cx="2743200" cy="320040"/>
          </a:xfrm>
          <a:prstGeom prst="rect">
            <a:avLst/>
          </a:prstGeom>
          <a:noFill/>
          <a:ln/>
        </p:spPr>
        <p:txBody>
          <a:bodyPr wrap="square" rtlCol="0" anchor="ctr"/>
          <a:lstStyle/>
          <a:p>
            <a:pPr marL="0" indent="0">
              <a:buNone/>
            </a:pPr>
            <a:r>
              <a:rPr lang="en-US" sz="1300" b="1" kern="0" spc="100" dirty="0">
                <a:solidFill>
                  <a:srgbClr val="3E7CB1"/>
                </a:solidFill>
                <a:latin typeface="Calibri" pitchFamily="34" charset="0"/>
                <a:ea typeface="Calibri" pitchFamily="34" charset="-122"/>
                <a:cs typeface="Calibri" pitchFamily="34" charset="-120"/>
              </a:rPr>
              <a:t>THINKS</a:t>
            </a:r>
            <a:endParaRPr lang="en-US" sz="1300" dirty="0"/>
          </a:p>
        </p:txBody>
      </p:sp>
      <p:sp>
        <p:nvSpPr>
          <p:cNvPr id="10" name="Text 8"/>
          <p:cNvSpPr/>
          <p:nvPr/>
        </p:nvSpPr>
        <p:spPr>
          <a:xfrm>
            <a:off x="6400800" y="2167128"/>
            <a:ext cx="4663440" cy="1325880"/>
          </a:xfrm>
          <a:prstGeom prst="rect">
            <a:avLst/>
          </a:prstGeom>
          <a:noFill/>
          <a:ln/>
        </p:spPr>
        <p:txBody>
          <a:bodyPr wrap="square" rtlCol="0" anchor="t"/>
          <a:lstStyle/>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Wonders if the algorithm hides new freelancers, no matter how good the portfolio is</a:t>
            </a:r>
            <a:endParaRPr lang="en-US" sz="1200" dirty="0"/>
          </a:p>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Assumes a client’s silence means the project quietly died</a:t>
            </a:r>
            <a:endParaRPr lang="en-US" sz="1200" dirty="0"/>
          </a:p>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Believes platform fees eat more into small projects than large ones</a:t>
            </a:r>
            <a:endParaRPr lang="en-US" sz="1200" dirty="0"/>
          </a:p>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Suspects one bad review can outweigh ten great ones</a:t>
            </a:r>
            <a:endParaRPr lang="en-US" sz="1200" dirty="0"/>
          </a:p>
        </p:txBody>
      </p:sp>
      <p:sp>
        <p:nvSpPr>
          <p:cNvPr id="11" name="Shape 9"/>
          <p:cNvSpPr/>
          <p:nvPr/>
        </p:nvSpPr>
        <p:spPr>
          <a:xfrm>
            <a:off x="457200" y="4114800"/>
            <a:ext cx="5120640" cy="1920240"/>
          </a:xfrm>
          <a:prstGeom prst="roundRect">
            <a:avLst>
              <a:gd name="adj" fmla="val 5714"/>
            </a:avLst>
          </a:prstGeom>
          <a:solidFill>
            <a:srgbClr val="E1F5EC"/>
          </a:solidFill>
          <a:ln/>
        </p:spPr>
      </p:sp>
      <p:sp>
        <p:nvSpPr>
          <p:cNvPr id="12" name="Text 10"/>
          <p:cNvSpPr/>
          <p:nvPr/>
        </p:nvSpPr>
        <p:spPr>
          <a:xfrm>
            <a:off x="685800" y="4242816"/>
            <a:ext cx="2743200" cy="320040"/>
          </a:xfrm>
          <a:prstGeom prst="rect">
            <a:avLst/>
          </a:prstGeom>
          <a:noFill/>
          <a:ln/>
        </p:spPr>
        <p:txBody>
          <a:bodyPr wrap="square" rtlCol="0" anchor="ctr"/>
          <a:lstStyle/>
          <a:p>
            <a:pPr marL="0" indent="0">
              <a:buNone/>
            </a:pPr>
            <a:r>
              <a:rPr lang="en-US" sz="1300" b="1" kern="0" spc="100" dirty="0">
                <a:solidFill>
                  <a:srgbClr val="2FA88A"/>
                </a:solidFill>
                <a:latin typeface="Calibri" pitchFamily="34" charset="0"/>
                <a:ea typeface="Calibri" pitchFamily="34" charset="-122"/>
                <a:cs typeface="Calibri" pitchFamily="34" charset="-120"/>
              </a:rPr>
              <a:t>DOES</a:t>
            </a:r>
            <a:endParaRPr lang="en-US" sz="1300" dirty="0"/>
          </a:p>
        </p:txBody>
      </p:sp>
      <p:sp>
        <p:nvSpPr>
          <p:cNvPr id="13" name="Text 11"/>
          <p:cNvSpPr/>
          <p:nvPr/>
        </p:nvSpPr>
        <p:spPr>
          <a:xfrm>
            <a:off x="685800" y="4590288"/>
            <a:ext cx="4663440" cy="1325880"/>
          </a:xfrm>
          <a:prstGeom prst="rect">
            <a:avLst/>
          </a:prstGeom>
          <a:noFill/>
          <a:ln/>
        </p:spPr>
        <p:txBody>
          <a:bodyPr wrap="square" rtlCol="0" anchor="t"/>
          <a:lstStyle/>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Sends a tailored proposal for every job post, even similar ones</a:t>
            </a:r>
            <a:endParaRPr lang="en-US" sz="1200" dirty="0"/>
          </a:p>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Refreshes the earnings dashboard often near payout dates</a:t>
            </a:r>
            <a:endParaRPr lang="en-US" sz="1200" dirty="0"/>
          </a:p>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Keeps a personal spreadsheet outside the platform for real income</a:t>
            </a:r>
            <a:endParaRPr lang="en-US" sz="1200" dirty="0"/>
          </a:p>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Screenshots client chats in case a dispute needs proof later</a:t>
            </a:r>
            <a:endParaRPr lang="en-US" sz="1200" dirty="0"/>
          </a:p>
        </p:txBody>
      </p:sp>
      <p:sp>
        <p:nvSpPr>
          <p:cNvPr id="14" name="Shape 12"/>
          <p:cNvSpPr/>
          <p:nvPr/>
        </p:nvSpPr>
        <p:spPr>
          <a:xfrm>
            <a:off x="6172200" y="4114800"/>
            <a:ext cx="5120640" cy="1920240"/>
          </a:xfrm>
          <a:prstGeom prst="roundRect">
            <a:avLst>
              <a:gd name="adj" fmla="val 5714"/>
            </a:avLst>
          </a:prstGeom>
          <a:solidFill>
            <a:srgbClr val="FDECE0"/>
          </a:solidFill>
          <a:ln/>
        </p:spPr>
      </p:sp>
      <p:sp>
        <p:nvSpPr>
          <p:cNvPr id="15" name="Text 13"/>
          <p:cNvSpPr/>
          <p:nvPr/>
        </p:nvSpPr>
        <p:spPr>
          <a:xfrm>
            <a:off x="6400800" y="4242816"/>
            <a:ext cx="2743200" cy="320040"/>
          </a:xfrm>
          <a:prstGeom prst="rect">
            <a:avLst/>
          </a:prstGeom>
          <a:noFill/>
          <a:ln/>
        </p:spPr>
        <p:txBody>
          <a:bodyPr wrap="square" rtlCol="0" anchor="ctr"/>
          <a:lstStyle/>
          <a:p>
            <a:pPr marL="0" indent="0">
              <a:buNone/>
            </a:pPr>
            <a:r>
              <a:rPr lang="en-US" sz="1300" b="1" kern="0" spc="100" dirty="0">
                <a:solidFill>
                  <a:srgbClr val="D97B4F"/>
                </a:solidFill>
                <a:latin typeface="Calibri" pitchFamily="34" charset="0"/>
                <a:ea typeface="Calibri" pitchFamily="34" charset="-122"/>
                <a:cs typeface="Calibri" pitchFamily="34" charset="-120"/>
              </a:rPr>
              <a:t>FEELS</a:t>
            </a:r>
            <a:endParaRPr lang="en-US" sz="1300" dirty="0"/>
          </a:p>
        </p:txBody>
      </p:sp>
      <p:sp>
        <p:nvSpPr>
          <p:cNvPr id="16" name="Text 14"/>
          <p:cNvSpPr/>
          <p:nvPr/>
        </p:nvSpPr>
        <p:spPr>
          <a:xfrm>
            <a:off x="6400800" y="4590288"/>
            <a:ext cx="4663440" cy="1325880"/>
          </a:xfrm>
          <a:prstGeom prst="rect">
            <a:avLst/>
          </a:prstGeom>
          <a:noFill/>
          <a:ln/>
        </p:spPr>
        <p:txBody>
          <a:bodyPr wrap="square" rtlCol="0" anchor="t"/>
          <a:lstStyle/>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Hopeful right after submitting a strong proposal</a:t>
            </a:r>
            <a:endParaRPr lang="en-US" sz="1200" dirty="0"/>
          </a:p>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Anxious during the wait for a client’s first reply</a:t>
            </a:r>
            <a:endParaRPr lang="en-US" sz="1200" dirty="0"/>
          </a:p>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Relieved when a milestone payment finally clears</a:t>
            </a:r>
            <a:endParaRPr lang="en-US" sz="1200" dirty="0"/>
          </a:p>
          <a:p>
            <a:pPr marL="177800" indent="-177800">
              <a:lnSpc>
                <a:spcPct val="105000"/>
              </a:lnSpc>
              <a:spcAft>
                <a:spcPts val="800"/>
              </a:spcAft>
              <a:buSzPct val="100000"/>
              <a:buChar char="•"/>
            </a:pPr>
            <a:r>
              <a:rPr lang="en-US" sz="1200" dirty="0">
                <a:solidFill>
                  <a:srgbClr val="2E2B45"/>
                </a:solidFill>
                <a:latin typeface="Calibri" pitchFamily="34" charset="0"/>
                <a:ea typeface="Calibri" pitchFamily="34" charset="-122"/>
                <a:cs typeface="Calibri" pitchFamily="34" charset="-120"/>
              </a:rPr>
              <a:t>Undervalued when a client haggles after work is already scoped</a:t>
            </a:r>
            <a:endParaRPr lang="en-US" sz="1200" dirty="0"/>
          </a:p>
        </p:txBody>
      </p:sp>
      <p:sp>
        <p:nvSpPr>
          <p:cNvPr id="17" name="Shape 15"/>
          <p:cNvSpPr/>
          <p:nvPr/>
        </p:nvSpPr>
        <p:spPr>
          <a:xfrm>
            <a:off x="5372100" y="3314700"/>
            <a:ext cx="1005840" cy="1005840"/>
          </a:xfrm>
          <a:prstGeom prst="ellipse">
            <a:avLst/>
          </a:prstGeom>
          <a:solidFill>
            <a:srgbClr val="FFFFFF"/>
          </a:solidFill>
          <a:ln w="25400">
            <a:solidFill>
              <a:srgbClr val="C9BFEA"/>
            </a:solidFill>
            <a:prstDash val="solid"/>
          </a:ln>
          <a:effectLst>
            <a:outerShdw blurRad="127000" dist="38100" dir="5400000" algn="bl" rotWithShape="0">
              <a:srgbClr val="2E2B45">
                <a:alpha val="12000"/>
              </a:srgbClr>
            </a:outerShdw>
          </a:effectLst>
        </p:spPr>
        <p:txBody>
          <a:bodyPr/>
          <a:lstStyle/>
          <a:p>
            <a:endParaRPr lang="en-IN" dirty="0"/>
          </a:p>
        </p:txBody>
      </p:sp>
      <p:sp>
        <p:nvSpPr>
          <p:cNvPr id="18" name="Text 16"/>
          <p:cNvSpPr/>
          <p:nvPr/>
        </p:nvSpPr>
        <p:spPr>
          <a:xfrm>
            <a:off x="5253135" y="3584448"/>
            <a:ext cx="1287624" cy="466344"/>
          </a:xfrm>
          <a:prstGeom prst="rect">
            <a:avLst/>
          </a:prstGeom>
          <a:noFill/>
          <a:ln/>
        </p:spPr>
        <p:txBody>
          <a:bodyPr wrap="square" rtlCol="0" anchor="ctr"/>
          <a:lstStyle/>
          <a:p>
            <a:pPr marL="0" indent="0" algn="ctr">
              <a:buNone/>
            </a:pPr>
            <a:r>
              <a:rPr lang="en-US" sz="1400" b="1" dirty="0">
                <a:solidFill>
                  <a:srgbClr val="2E2B45"/>
                </a:solidFill>
                <a:latin typeface="Calibri" pitchFamily="34" charset="0"/>
                <a:ea typeface="Calibri" pitchFamily="34" charset="-122"/>
                <a:cs typeface="Calibri" pitchFamily="34" charset="-120"/>
              </a:rPr>
              <a:t>Freelance</a:t>
            </a:r>
            <a:endParaRPr lang="en-US" sz="850" dirty="0"/>
          </a:p>
        </p:txBody>
      </p:sp>
      <p:sp>
        <p:nvSpPr>
          <p:cNvPr id="19" name="Text 17"/>
          <p:cNvSpPr/>
          <p:nvPr/>
        </p:nvSpPr>
        <p:spPr>
          <a:xfrm>
            <a:off x="5372100" y="3776472"/>
            <a:ext cx="1005840" cy="274320"/>
          </a:xfrm>
          <a:prstGeom prst="rect">
            <a:avLst/>
          </a:prstGeom>
          <a:noFill/>
          <a:ln/>
        </p:spPr>
        <p:txBody>
          <a:bodyPr wrap="square" rtlCol="0" anchor="ctr"/>
          <a:lstStyle/>
          <a:p>
            <a:pPr marL="0" indent="0" algn="ctr">
              <a:buNone/>
            </a:pPr>
            <a:endParaRPr lang="en-US" sz="850" dirty="0"/>
          </a:p>
        </p:txBody>
      </p:sp>
      <p:sp>
        <p:nvSpPr>
          <p:cNvPr id="21" name="Text 19"/>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320040"/>
          </a:xfrm>
          <a:prstGeom prst="rect">
            <a:avLst/>
          </a:prstGeom>
          <a:noFill/>
          <a:ln/>
        </p:spPr>
        <p:txBody>
          <a:bodyPr wrap="square" rtlCol="0" anchor="ctr"/>
          <a:lstStyle/>
          <a:p>
            <a:pPr marL="0" indent="0">
              <a:buNone/>
            </a:pPr>
            <a:endParaRPr lang="en-US" sz="1200" dirty="0"/>
          </a:p>
        </p:txBody>
      </p:sp>
      <p:sp>
        <p:nvSpPr>
          <p:cNvPr id="3" name="Text 1"/>
          <p:cNvSpPr/>
          <p:nvPr/>
        </p:nvSpPr>
        <p:spPr>
          <a:xfrm>
            <a:off x="457200" y="621792"/>
            <a:ext cx="9601200" cy="548640"/>
          </a:xfrm>
          <a:prstGeom prst="rect">
            <a:avLst/>
          </a:prstGeom>
          <a:noFill/>
          <a:ln/>
        </p:spPr>
        <p:txBody>
          <a:bodyPr wrap="square" rtlCol="0" anchor="ctr"/>
          <a:lstStyle/>
          <a:p>
            <a:pPr marL="0" indent="0">
              <a:buNone/>
            </a:pPr>
            <a:r>
              <a:rPr lang="en-US" sz="3000" b="1" dirty="0">
                <a:solidFill>
                  <a:srgbClr val="2E2B45"/>
                </a:solidFill>
                <a:latin typeface="Poppins" pitchFamily="34" charset="0"/>
                <a:ea typeface="Poppins" pitchFamily="34" charset="-122"/>
                <a:cs typeface="Poppins" pitchFamily="34" charset="-120"/>
              </a:rPr>
              <a:t>User Pain Points</a:t>
            </a:r>
            <a:endParaRPr lang="en-US" sz="3000" dirty="0"/>
          </a:p>
        </p:txBody>
      </p:sp>
      <p:sp>
        <p:nvSpPr>
          <p:cNvPr id="4" name="Shape 2"/>
          <p:cNvSpPr/>
          <p:nvPr/>
        </p:nvSpPr>
        <p:spPr>
          <a:xfrm>
            <a:off x="457200" y="1417320"/>
            <a:ext cx="5349240" cy="2148840"/>
          </a:xfrm>
          <a:prstGeom prst="roundRect">
            <a:avLst>
              <a:gd name="adj" fmla="val 5106"/>
            </a:avLst>
          </a:prstGeom>
          <a:solidFill>
            <a:srgbClr val="FFFFFF"/>
          </a:solidFill>
          <a:ln w="12700">
            <a:solidFill>
              <a:srgbClr val="E7E3F3"/>
            </a:solidFill>
            <a:prstDash val="solid"/>
          </a:ln>
          <a:effectLst>
            <a:outerShdw blurRad="127000" dist="38100" dir="5400000" algn="bl" rotWithShape="0">
              <a:srgbClr val="2E2B45">
                <a:alpha val="8000"/>
              </a:srgbClr>
            </a:outerShdw>
          </a:effectLst>
        </p:spPr>
        <p:txBody>
          <a:bodyPr/>
          <a:lstStyle/>
          <a:p>
            <a:endParaRPr lang="en-IN" dirty="0"/>
          </a:p>
        </p:txBody>
      </p:sp>
      <p:sp>
        <p:nvSpPr>
          <p:cNvPr id="5" name="Shape 3"/>
          <p:cNvSpPr/>
          <p:nvPr/>
        </p:nvSpPr>
        <p:spPr>
          <a:xfrm>
            <a:off x="685800" y="1645920"/>
            <a:ext cx="502920" cy="502920"/>
          </a:xfrm>
          <a:prstGeom prst="ellipse">
            <a:avLst/>
          </a:prstGeom>
          <a:solidFill>
            <a:srgbClr val="C9BFEA"/>
          </a:solidFill>
          <a:ln/>
        </p:spPr>
      </p:sp>
      <p:sp>
        <p:nvSpPr>
          <p:cNvPr id="6" name="Text 4"/>
          <p:cNvSpPr/>
          <p:nvPr/>
        </p:nvSpPr>
        <p:spPr>
          <a:xfrm>
            <a:off x="685800" y="1645920"/>
            <a:ext cx="502920" cy="502920"/>
          </a:xfrm>
          <a:prstGeom prst="rect">
            <a:avLst/>
          </a:prstGeom>
          <a:noFill/>
          <a:ln/>
        </p:spPr>
        <p:txBody>
          <a:bodyPr wrap="square"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1</a:t>
            </a:r>
            <a:endParaRPr lang="en-US" sz="1800" dirty="0"/>
          </a:p>
        </p:txBody>
      </p:sp>
      <p:sp>
        <p:nvSpPr>
          <p:cNvPr id="7" name="Text 5"/>
          <p:cNvSpPr/>
          <p:nvPr/>
        </p:nvSpPr>
        <p:spPr>
          <a:xfrm>
            <a:off x="1325880" y="1600200"/>
            <a:ext cx="4251960" cy="685800"/>
          </a:xfrm>
          <a:prstGeom prst="rect">
            <a:avLst/>
          </a:prstGeom>
          <a:noFill/>
          <a:ln/>
        </p:spPr>
        <p:txBody>
          <a:bodyPr wrap="square" rtlCol="0" anchor="t"/>
          <a:lstStyle/>
          <a:p>
            <a:pPr marL="0" indent="0">
              <a:buNone/>
            </a:pPr>
            <a:r>
              <a:rPr lang="en-US" sz="1400" b="1" dirty="0">
                <a:solidFill>
                  <a:srgbClr val="2E2B45"/>
                </a:solidFill>
                <a:latin typeface="Calibri" pitchFamily="34" charset="0"/>
                <a:ea typeface="Calibri" pitchFamily="34" charset="-122"/>
                <a:cs typeface="Calibri" pitchFamily="34" charset="-120"/>
              </a:rPr>
              <a:t>Landing the gig and getting paid fairly don’t always overlap</a:t>
            </a:r>
            <a:endParaRPr lang="en-US" sz="1400" dirty="0"/>
          </a:p>
        </p:txBody>
      </p:sp>
      <p:sp>
        <p:nvSpPr>
          <p:cNvPr id="8" name="Text 6"/>
          <p:cNvSpPr/>
          <p:nvPr/>
        </p:nvSpPr>
        <p:spPr>
          <a:xfrm>
            <a:off x="685800" y="2377440"/>
            <a:ext cx="4892040" cy="1005840"/>
          </a:xfrm>
          <a:prstGeom prst="rect">
            <a:avLst/>
          </a:prstGeom>
          <a:noFill/>
          <a:ln/>
        </p:spPr>
        <p:txBody>
          <a:bodyPr wrap="square" rtlCol="0" anchor="t"/>
          <a:lstStyle/>
          <a:p>
            <a:pPr marL="0" indent="0">
              <a:lnSpc>
                <a:spcPct val="112000"/>
              </a:lnSpc>
              <a:buNone/>
            </a:pPr>
            <a:r>
              <a:rPr lang="en-US" sz="1100" dirty="0">
                <a:solidFill>
                  <a:srgbClr val="5B5570"/>
                </a:solidFill>
                <a:latin typeface="Calibri" pitchFamily="34" charset="0"/>
                <a:ea typeface="Calibri" pitchFamily="34" charset="-122"/>
                <a:cs typeface="Calibri" pitchFamily="34" charset="-120"/>
              </a:rPr>
              <a:t>P</a:t>
            </a:r>
            <a:r>
              <a:rPr lang="en-US" sz="1400" dirty="0">
                <a:solidFill>
                  <a:srgbClr val="5B5570"/>
                </a:solidFill>
                <a:latin typeface="Calibri" pitchFamily="34" charset="0"/>
                <a:ea typeface="Calibri" pitchFamily="34" charset="-122"/>
                <a:cs typeface="Calibri" pitchFamily="34" charset="-120"/>
              </a:rPr>
              <a:t>riya submits proposals at her real rate and still loses out to bids half her price. Arjun’s client keeps adding “quick fixes” with no extra pay attached to any of them</a:t>
            </a:r>
            <a:r>
              <a:rPr lang="en-US" sz="1100" dirty="0">
                <a:solidFill>
                  <a:srgbClr val="5B5570"/>
                </a:solidFill>
                <a:latin typeface="Calibri" pitchFamily="34" charset="0"/>
                <a:ea typeface="Calibri" pitchFamily="34" charset="-122"/>
                <a:cs typeface="Calibri" pitchFamily="34" charset="-120"/>
              </a:rPr>
              <a:t>.</a:t>
            </a:r>
            <a:endParaRPr lang="en-US" sz="1100" dirty="0"/>
          </a:p>
        </p:txBody>
      </p:sp>
      <p:sp>
        <p:nvSpPr>
          <p:cNvPr id="9" name="Shape 7"/>
          <p:cNvSpPr/>
          <p:nvPr/>
        </p:nvSpPr>
        <p:spPr>
          <a:xfrm>
            <a:off x="6080760" y="1417320"/>
            <a:ext cx="5349240" cy="2148840"/>
          </a:xfrm>
          <a:prstGeom prst="roundRect">
            <a:avLst>
              <a:gd name="adj" fmla="val 5106"/>
            </a:avLst>
          </a:prstGeom>
          <a:solidFill>
            <a:srgbClr val="FFFFFF"/>
          </a:solidFill>
          <a:ln w="12700">
            <a:solidFill>
              <a:srgbClr val="E7E3F3"/>
            </a:solidFill>
            <a:prstDash val="solid"/>
          </a:ln>
          <a:effectLst>
            <a:outerShdw blurRad="127000" dist="38100" dir="5400000" algn="bl" rotWithShape="0">
              <a:srgbClr val="2E2B45">
                <a:alpha val="8000"/>
              </a:srgbClr>
            </a:outerShdw>
          </a:effectLst>
        </p:spPr>
      </p:sp>
      <p:sp>
        <p:nvSpPr>
          <p:cNvPr id="10" name="Shape 8"/>
          <p:cNvSpPr/>
          <p:nvPr/>
        </p:nvSpPr>
        <p:spPr>
          <a:xfrm>
            <a:off x="6309360" y="1645920"/>
            <a:ext cx="502920" cy="502920"/>
          </a:xfrm>
          <a:prstGeom prst="ellipse">
            <a:avLst/>
          </a:prstGeom>
          <a:solidFill>
            <a:srgbClr val="AEDFF7"/>
          </a:solidFill>
          <a:ln/>
        </p:spPr>
      </p:sp>
      <p:sp>
        <p:nvSpPr>
          <p:cNvPr id="11" name="Text 9"/>
          <p:cNvSpPr/>
          <p:nvPr/>
        </p:nvSpPr>
        <p:spPr>
          <a:xfrm>
            <a:off x="6309360" y="1645920"/>
            <a:ext cx="502920" cy="502920"/>
          </a:xfrm>
          <a:prstGeom prst="rect">
            <a:avLst/>
          </a:prstGeom>
          <a:noFill/>
          <a:ln/>
        </p:spPr>
        <p:txBody>
          <a:bodyPr wrap="square"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2</a:t>
            </a:r>
            <a:endParaRPr lang="en-US" sz="1800" dirty="0"/>
          </a:p>
        </p:txBody>
      </p:sp>
      <p:sp>
        <p:nvSpPr>
          <p:cNvPr id="12" name="Text 10"/>
          <p:cNvSpPr/>
          <p:nvPr/>
        </p:nvSpPr>
        <p:spPr>
          <a:xfrm>
            <a:off x="6949440" y="1600200"/>
            <a:ext cx="4251960" cy="685800"/>
          </a:xfrm>
          <a:prstGeom prst="rect">
            <a:avLst/>
          </a:prstGeom>
          <a:noFill/>
          <a:ln/>
        </p:spPr>
        <p:txBody>
          <a:bodyPr wrap="square" rtlCol="0" anchor="t"/>
          <a:lstStyle/>
          <a:p>
            <a:pPr marL="0" indent="0">
              <a:buNone/>
            </a:pPr>
            <a:r>
              <a:rPr lang="en-US" sz="1400" b="1" dirty="0">
                <a:solidFill>
                  <a:srgbClr val="2E2B45"/>
                </a:solidFill>
                <a:latin typeface="Calibri" pitchFamily="34" charset="0"/>
                <a:ea typeface="Calibri" pitchFamily="34" charset="-122"/>
                <a:cs typeface="Calibri" pitchFamily="34" charset="-120"/>
              </a:rPr>
              <a:t>Trust has to be built before the first project even begins</a:t>
            </a:r>
            <a:endParaRPr lang="en-US" sz="1400" dirty="0"/>
          </a:p>
        </p:txBody>
      </p:sp>
      <p:sp>
        <p:nvSpPr>
          <p:cNvPr id="13" name="Text 11"/>
          <p:cNvSpPr/>
          <p:nvPr/>
        </p:nvSpPr>
        <p:spPr>
          <a:xfrm>
            <a:off x="6309360" y="2377440"/>
            <a:ext cx="4892040" cy="1005840"/>
          </a:xfrm>
          <a:prstGeom prst="rect">
            <a:avLst/>
          </a:prstGeom>
          <a:noFill/>
          <a:ln/>
        </p:spPr>
        <p:txBody>
          <a:bodyPr wrap="square" rtlCol="0" anchor="t"/>
          <a:lstStyle/>
          <a:p>
            <a:pPr marL="0" indent="0">
              <a:lnSpc>
                <a:spcPct val="112000"/>
              </a:lnSpc>
              <a:buNone/>
            </a:pPr>
            <a:r>
              <a:rPr lang="en-US" sz="1400" dirty="0">
                <a:solidFill>
                  <a:srgbClr val="5B5570"/>
                </a:solidFill>
                <a:latin typeface="Calibri" pitchFamily="34" charset="0"/>
                <a:ea typeface="Calibri" pitchFamily="34" charset="-122"/>
                <a:cs typeface="Calibri" pitchFamily="34" charset="-120"/>
              </a:rPr>
              <a:t>Meera’s client wants three sample articles before committing to a contract. Rohan’s biggest lead disappeared once the client couldn’t find any reviews on his week-old profile.</a:t>
            </a:r>
            <a:endParaRPr lang="en-US" sz="1400" dirty="0"/>
          </a:p>
        </p:txBody>
      </p:sp>
      <p:sp>
        <p:nvSpPr>
          <p:cNvPr id="14" name="Shape 12"/>
          <p:cNvSpPr/>
          <p:nvPr/>
        </p:nvSpPr>
        <p:spPr>
          <a:xfrm>
            <a:off x="457200" y="3840480"/>
            <a:ext cx="5349240" cy="2148840"/>
          </a:xfrm>
          <a:prstGeom prst="roundRect">
            <a:avLst>
              <a:gd name="adj" fmla="val 5106"/>
            </a:avLst>
          </a:prstGeom>
          <a:solidFill>
            <a:srgbClr val="FFFFFF"/>
          </a:solidFill>
          <a:ln w="12700">
            <a:solidFill>
              <a:srgbClr val="E7E3F3"/>
            </a:solidFill>
            <a:prstDash val="solid"/>
          </a:ln>
          <a:effectLst>
            <a:outerShdw blurRad="127000" dist="38100" dir="5400000" algn="bl" rotWithShape="0">
              <a:srgbClr val="2E2B45">
                <a:alpha val="8000"/>
              </a:srgbClr>
            </a:outerShdw>
          </a:effectLst>
        </p:spPr>
      </p:sp>
      <p:sp>
        <p:nvSpPr>
          <p:cNvPr id="15" name="Shape 13"/>
          <p:cNvSpPr/>
          <p:nvPr/>
        </p:nvSpPr>
        <p:spPr>
          <a:xfrm>
            <a:off x="685800" y="4069080"/>
            <a:ext cx="502920" cy="502920"/>
          </a:xfrm>
          <a:prstGeom prst="ellipse">
            <a:avLst/>
          </a:prstGeom>
          <a:solidFill>
            <a:srgbClr val="A8E6CF"/>
          </a:solidFill>
          <a:ln/>
        </p:spPr>
      </p:sp>
      <p:sp>
        <p:nvSpPr>
          <p:cNvPr id="16" name="Text 14"/>
          <p:cNvSpPr/>
          <p:nvPr/>
        </p:nvSpPr>
        <p:spPr>
          <a:xfrm>
            <a:off x="685800" y="4069080"/>
            <a:ext cx="502920" cy="502920"/>
          </a:xfrm>
          <a:prstGeom prst="rect">
            <a:avLst/>
          </a:prstGeom>
          <a:noFill/>
          <a:ln/>
        </p:spPr>
        <p:txBody>
          <a:bodyPr wrap="square"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3</a:t>
            </a:r>
            <a:endParaRPr lang="en-US" sz="1800" dirty="0"/>
          </a:p>
        </p:txBody>
      </p:sp>
      <p:sp>
        <p:nvSpPr>
          <p:cNvPr id="17" name="Text 15"/>
          <p:cNvSpPr/>
          <p:nvPr/>
        </p:nvSpPr>
        <p:spPr>
          <a:xfrm>
            <a:off x="1325880" y="4023360"/>
            <a:ext cx="4251960" cy="685800"/>
          </a:xfrm>
          <a:prstGeom prst="rect">
            <a:avLst/>
          </a:prstGeom>
          <a:noFill/>
          <a:ln/>
        </p:spPr>
        <p:txBody>
          <a:bodyPr wrap="square" rtlCol="0" anchor="t"/>
          <a:lstStyle/>
          <a:p>
            <a:pPr marL="0" indent="0">
              <a:buNone/>
            </a:pPr>
            <a:r>
              <a:rPr lang="en-US" sz="1400" b="1" dirty="0">
                <a:solidFill>
                  <a:srgbClr val="2E2B45"/>
                </a:solidFill>
                <a:latin typeface="Calibri" pitchFamily="34" charset="0"/>
                <a:ea typeface="Calibri" pitchFamily="34" charset="-122"/>
                <a:cs typeface="Calibri" pitchFamily="34" charset="-120"/>
              </a:rPr>
              <a:t>Client communication stays scattered across five different tools</a:t>
            </a:r>
            <a:endParaRPr lang="en-US" sz="1400" dirty="0"/>
          </a:p>
        </p:txBody>
      </p:sp>
      <p:sp>
        <p:nvSpPr>
          <p:cNvPr id="18" name="Text 16"/>
          <p:cNvSpPr/>
          <p:nvPr/>
        </p:nvSpPr>
        <p:spPr>
          <a:xfrm>
            <a:off x="685800" y="4800600"/>
            <a:ext cx="4892040" cy="1005840"/>
          </a:xfrm>
          <a:prstGeom prst="rect">
            <a:avLst/>
          </a:prstGeom>
          <a:noFill/>
          <a:ln/>
        </p:spPr>
        <p:txBody>
          <a:bodyPr wrap="square" rtlCol="0" anchor="t"/>
          <a:lstStyle/>
          <a:p>
            <a:pPr marL="0" indent="0">
              <a:lnSpc>
                <a:spcPct val="112000"/>
              </a:lnSpc>
              <a:buNone/>
            </a:pPr>
            <a:r>
              <a:rPr lang="en-US" sz="1400" dirty="0">
                <a:solidFill>
                  <a:srgbClr val="5B5570"/>
                </a:solidFill>
                <a:latin typeface="Calibri" pitchFamily="34" charset="0"/>
                <a:ea typeface="Calibri" pitchFamily="34" charset="-122"/>
                <a:cs typeface="Calibri" pitchFamily="34" charset="-120"/>
              </a:rPr>
              <a:t>Kavita manages one client on platform chat, another on WhatsApp, and a brief buried in email. Priya loses track of which round of feedback is actually the latest one.</a:t>
            </a:r>
            <a:endParaRPr lang="en-US" sz="1400" dirty="0"/>
          </a:p>
        </p:txBody>
      </p:sp>
      <p:sp>
        <p:nvSpPr>
          <p:cNvPr id="19" name="Shape 17"/>
          <p:cNvSpPr/>
          <p:nvPr/>
        </p:nvSpPr>
        <p:spPr>
          <a:xfrm>
            <a:off x="6080760" y="3840480"/>
            <a:ext cx="5349240" cy="2148840"/>
          </a:xfrm>
          <a:prstGeom prst="roundRect">
            <a:avLst>
              <a:gd name="adj" fmla="val 5106"/>
            </a:avLst>
          </a:prstGeom>
          <a:solidFill>
            <a:srgbClr val="FFFFFF"/>
          </a:solidFill>
          <a:ln w="12700">
            <a:solidFill>
              <a:srgbClr val="E7E3F3"/>
            </a:solidFill>
            <a:prstDash val="solid"/>
          </a:ln>
          <a:effectLst>
            <a:outerShdw blurRad="127000" dist="38100" dir="5400000" algn="bl" rotWithShape="0">
              <a:srgbClr val="2E2B45">
                <a:alpha val="8000"/>
              </a:srgbClr>
            </a:outerShdw>
          </a:effectLst>
        </p:spPr>
      </p:sp>
      <p:sp>
        <p:nvSpPr>
          <p:cNvPr id="20" name="Shape 18"/>
          <p:cNvSpPr/>
          <p:nvPr/>
        </p:nvSpPr>
        <p:spPr>
          <a:xfrm>
            <a:off x="6309360" y="4069080"/>
            <a:ext cx="502920" cy="502920"/>
          </a:xfrm>
          <a:prstGeom prst="ellipse">
            <a:avLst/>
          </a:prstGeom>
          <a:solidFill>
            <a:srgbClr val="F7C9A8"/>
          </a:solidFill>
          <a:ln/>
        </p:spPr>
      </p:sp>
      <p:sp>
        <p:nvSpPr>
          <p:cNvPr id="21" name="Text 19"/>
          <p:cNvSpPr/>
          <p:nvPr/>
        </p:nvSpPr>
        <p:spPr>
          <a:xfrm>
            <a:off x="6309360" y="4069080"/>
            <a:ext cx="502920" cy="502920"/>
          </a:xfrm>
          <a:prstGeom prst="rect">
            <a:avLst/>
          </a:prstGeom>
          <a:noFill/>
          <a:ln/>
        </p:spPr>
        <p:txBody>
          <a:bodyPr wrap="square" rtlCol="0" anchor="ctr"/>
          <a:lstStyle/>
          <a:p>
            <a:pPr marL="0" indent="0" algn="ctr">
              <a:buNone/>
            </a:pPr>
            <a:r>
              <a:rPr lang="en-US" sz="1800" b="1" dirty="0">
                <a:solidFill>
                  <a:srgbClr val="FFFFFF"/>
                </a:solidFill>
                <a:latin typeface="Poppins" pitchFamily="34" charset="0"/>
                <a:ea typeface="Poppins" pitchFamily="34" charset="-122"/>
                <a:cs typeface="Poppins" pitchFamily="34" charset="-120"/>
              </a:rPr>
              <a:t>4</a:t>
            </a:r>
            <a:endParaRPr lang="en-US" sz="1800" dirty="0"/>
          </a:p>
        </p:txBody>
      </p:sp>
      <p:sp>
        <p:nvSpPr>
          <p:cNvPr id="22" name="Text 20"/>
          <p:cNvSpPr/>
          <p:nvPr/>
        </p:nvSpPr>
        <p:spPr>
          <a:xfrm>
            <a:off x="6949440" y="4023360"/>
            <a:ext cx="4251960" cy="685800"/>
          </a:xfrm>
          <a:prstGeom prst="rect">
            <a:avLst/>
          </a:prstGeom>
          <a:noFill/>
          <a:ln/>
        </p:spPr>
        <p:txBody>
          <a:bodyPr wrap="square" rtlCol="0" anchor="t"/>
          <a:lstStyle/>
          <a:p>
            <a:pPr marL="0" indent="0">
              <a:buNone/>
            </a:pPr>
            <a:r>
              <a:rPr lang="en-US" sz="1400" b="1" dirty="0">
                <a:solidFill>
                  <a:srgbClr val="2E2B45"/>
                </a:solidFill>
                <a:latin typeface="Calibri" pitchFamily="34" charset="0"/>
                <a:ea typeface="Calibri" pitchFamily="34" charset="-122"/>
                <a:cs typeface="Calibri" pitchFamily="34" charset="-120"/>
              </a:rPr>
              <a:t>Every returning client still starts the relationship from zero</a:t>
            </a:r>
            <a:endParaRPr lang="en-US" sz="1400" dirty="0"/>
          </a:p>
        </p:txBody>
      </p:sp>
      <p:sp>
        <p:nvSpPr>
          <p:cNvPr id="23" name="Text 21"/>
          <p:cNvSpPr/>
          <p:nvPr/>
        </p:nvSpPr>
        <p:spPr>
          <a:xfrm>
            <a:off x="6309360" y="4800600"/>
            <a:ext cx="4892040" cy="1005840"/>
          </a:xfrm>
          <a:prstGeom prst="rect">
            <a:avLst/>
          </a:prstGeom>
          <a:noFill/>
          <a:ln/>
        </p:spPr>
        <p:txBody>
          <a:bodyPr wrap="square" rtlCol="0" anchor="t"/>
          <a:lstStyle/>
          <a:p>
            <a:pPr marL="0" indent="0">
              <a:lnSpc>
                <a:spcPct val="112000"/>
              </a:lnSpc>
              <a:buNone/>
            </a:pPr>
            <a:r>
              <a:rPr lang="en-US" sz="1400" dirty="0">
                <a:solidFill>
                  <a:srgbClr val="5B5570"/>
                </a:solidFill>
                <a:latin typeface="Calibri" pitchFamily="34" charset="0"/>
                <a:ea typeface="Calibri" pitchFamily="34" charset="-122"/>
                <a:cs typeface="Calibri" pitchFamily="34" charset="-120"/>
              </a:rPr>
              <a:t>Arjun re-explains his availability and rate to a repeat client because the platform forgets their history. Meera re-sends her portfolio to a client she has already worked with twice.</a:t>
            </a:r>
            <a:endParaRPr lang="en-US" sz="1400" dirty="0"/>
          </a:p>
        </p:txBody>
      </p:sp>
      <p:sp>
        <p:nvSpPr>
          <p:cNvPr id="25" name="Text 23"/>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BFA"/>
        </a:solidFill>
        <a:effectLst/>
      </p:bgPr>
    </p:bg>
    <p:spTree>
      <p:nvGrpSpPr>
        <p:cNvPr id="1" name=""/>
        <p:cNvGrpSpPr/>
        <p:nvPr/>
      </p:nvGrpSpPr>
      <p:grpSpPr>
        <a:xfrm>
          <a:off x="0" y="0"/>
          <a:ext cx="0" cy="0"/>
          <a:chOff x="0" y="0"/>
          <a:chExt cx="0" cy="0"/>
        </a:xfrm>
      </p:grpSpPr>
      <p:sp>
        <p:nvSpPr>
          <p:cNvPr id="2" name="Shape 0"/>
          <p:cNvSpPr/>
          <p:nvPr/>
        </p:nvSpPr>
        <p:spPr>
          <a:xfrm>
            <a:off x="9052560" y="-1463040"/>
            <a:ext cx="4754880" cy="4754880"/>
          </a:xfrm>
          <a:prstGeom prst="ellipse">
            <a:avLst/>
          </a:prstGeom>
          <a:solidFill>
            <a:srgbClr val="C9BFEA">
              <a:alpha val="55000"/>
            </a:srgbClr>
          </a:solidFill>
          <a:ln/>
        </p:spPr>
      </p:sp>
      <p:sp>
        <p:nvSpPr>
          <p:cNvPr id="3" name="Shape 1"/>
          <p:cNvSpPr/>
          <p:nvPr/>
        </p:nvSpPr>
        <p:spPr>
          <a:xfrm>
            <a:off x="-1645920" y="4480560"/>
            <a:ext cx="4206240" cy="4206240"/>
          </a:xfrm>
          <a:prstGeom prst="ellipse">
            <a:avLst/>
          </a:prstGeom>
          <a:solidFill>
            <a:srgbClr val="6C5CBF">
              <a:alpha val="30000"/>
            </a:srgbClr>
          </a:solidFill>
          <a:ln/>
        </p:spPr>
      </p:sp>
      <p:sp>
        <p:nvSpPr>
          <p:cNvPr id="4" name="Shape 2"/>
          <p:cNvSpPr/>
          <p:nvPr/>
        </p:nvSpPr>
        <p:spPr>
          <a:xfrm>
            <a:off x="1005840" y="2468880"/>
            <a:ext cx="2377440" cy="411480"/>
          </a:xfrm>
          <a:prstGeom prst="roundRect">
            <a:avLst>
              <a:gd name="adj" fmla="val 50000"/>
            </a:avLst>
          </a:prstGeom>
          <a:solidFill>
            <a:srgbClr val="FFFFFF"/>
          </a:solidFill>
          <a:ln/>
        </p:spPr>
        <p:txBody>
          <a:bodyPr/>
          <a:lstStyle/>
          <a:p>
            <a:endParaRPr lang="en-IN" dirty="0"/>
          </a:p>
        </p:txBody>
      </p:sp>
      <p:sp>
        <p:nvSpPr>
          <p:cNvPr id="5" name="Text 3"/>
          <p:cNvSpPr/>
          <p:nvPr/>
        </p:nvSpPr>
        <p:spPr>
          <a:xfrm>
            <a:off x="1005840" y="2468880"/>
            <a:ext cx="2377440" cy="411480"/>
          </a:xfrm>
          <a:prstGeom prst="rect">
            <a:avLst/>
          </a:prstGeom>
          <a:noFill/>
          <a:ln/>
        </p:spPr>
        <p:txBody>
          <a:bodyPr wrap="square" rtlCol="0" anchor="ctr"/>
          <a:lstStyle/>
          <a:p>
            <a:pPr marL="0" indent="0" algn="ctr">
              <a:buNone/>
            </a:pPr>
            <a:r>
              <a:rPr lang="en-US" sz="1400" b="1" dirty="0">
                <a:solidFill>
                  <a:srgbClr val="6C5CBF"/>
                </a:solidFill>
                <a:latin typeface="Calibri" pitchFamily="34" charset="0"/>
                <a:ea typeface="Calibri" pitchFamily="34" charset="-122"/>
                <a:cs typeface="Calibri" pitchFamily="34" charset="-120"/>
              </a:rPr>
              <a:t>MEET THE USERS</a:t>
            </a:r>
            <a:endParaRPr lang="en-US" sz="1400" dirty="0"/>
          </a:p>
        </p:txBody>
      </p:sp>
      <p:sp>
        <p:nvSpPr>
          <p:cNvPr id="6" name="Text 4"/>
          <p:cNvSpPr/>
          <p:nvPr/>
        </p:nvSpPr>
        <p:spPr>
          <a:xfrm>
            <a:off x="960120" y="2971800"/>
            <a:ext cx="9144000" cy="1005840"/>
          </a:xfrm>
          <a:prstGeom prst="rect">
            <a:avLst/>
          </a:prstGeom>
          <a:noFill/>
          <a:ln/>
        </p:spPr>
        <p:txBody>
          <a:bodyPr wrap="square" rtlCol="0" anchor="ctr"/>
          <a:lstStyle/>
          <a:p>
            <a:pPr marL="0" indent="0">
              <a:buNone/>
            </a:pPr>
            <a:r>
              <a:rPr lang="en-US" sz="6600" b="1" dirty="0">
                <a:solidFill>
                  <a:srgbClr val="2E2B45"/>
                </a:solidFill>
                <a:latin typeface="Algerian" panose="04020705040A02060702" pitchFamily="82" charset="0"/>
                <a:ea typeface="Poppins" pitchFamily="34" charset="-122"/>
                <a:cs typeface="Poppins" pitchFamily="34" charset="-120"/>
              </a:rPr>
              <a:t>Personas</a:t>
            </a:r>
            <a:endParaRPr lang="en-US" sz="6600" dirty="0">
              <a:latin typeface="Algerian" panose="04020705040A02060702" pitchFamily="82" charset="0"/>
            </a:endParaRPr>
          </a:p>
        </p:txBody>
      </p:sp>
      <p:sp>
        <p:nvSpPr>
          <p:cNvPr id="7" name="Text 5"/>
          <p:cNvSpPr/>
          <p:nvPr/>
        </p:nvSpPr>
        <p:spPr>
          <a:xfrm>
            <a:off x="1005840" y="3886200"/>
            <a:ext cx="8686800" cy="457200"/>
          </a:xfrm>
          <a:prstGeom prst="rect">
            <a:avLst/>
          </a:prstGeom>
          <a:noFill/>
          <a:ln/>
        </p:spPr>
        <p:txBody>
          <a:bodyPr wrap="square" rtlCol="0" anchor="ctr"/>
          <a:lstStyle/>
          <a:p>
            <a:pPr marL="0" indent="0">
              <a:buNone/>
            </a:pPr>
            <a:endParaRPr lang="en-US" sz="1500" dirty="0"/>
          </a:p>
        </p:txBody>
      </p:sp>
      <p:sp>
        <p:nvSpPr>
          <p:cNvPr id="9" name="Text 7"/>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868680"/>
          </a:xfrm>
          <a:prstGeom prst="ellipse">
            <a:avLst/>
          </a:prstGeom>
          <a:solidFill>
            <a:srgbClr val="C9BFEA"/>
          </a:solidFill>
          <a:ln/>
        </p:spPr>
      </p:sp>
      <p:sp>
        <p:nvSpPr>
          <p:cNvPr id="3" name="Text 1"/>
          <p:cNvSpPr/>
          <p:nvPr/>
        </p:nvSpPr>
        <p:spPr>
          <a:xfrm>
            <a:off x="457200" y="384048"/>
            <a:ext cx="868680" cy="868680"/>
          </a:xfrm>
          <a:prstGeom prst="rect">
            <a:avLst/>
          </a:prstGeom>
          <a:noFill/>
          <a:ln/>
        </p:spPr>
        <p:txBody>
          <a:bodyPr wrap="square"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PM</a:t>
            </a:r>
            <a:endParaRPr lang="en-US" sz="2000" dirty="0"/>
          </a:p>
        </p:txBody>
      </p:sp>
      <p:sp>
        <p:nvSpPr>
          <p:cNvPr id="4" name="Text 2"/>
          <p:cNvSpPr/>
          <p:nvPr/>
        </p:nvSpPr>
        <p:spPr>
          <a:xfrm>
            <a:off x="1508760" y="365760"/>
            <a:ext cx="6858000" cy="45720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Priya Menon</a:t>
            </a:r>
            <a:endParaRPr lang="en-US" sz="2400" dirty="0"/>
          </a:p>
        </p:txBody>
      </p:sp>
      <p:sp>
        <p:nvSpPr>
          <p:cNvPr id="5" name="Text 3"/>
          <p:cNvSpPr/>
          <p:nvPr/>
        </p:nvSpPr>
        <p:spPr>
          <a:xfrm>
            <a:off x="1508760" y="777240"/>
            <a:ext cx="7315200" cy="365760"/>
          </a:xfrm>
          <a:prstGeom prst="rect">
            <a:avLst/>
          </a:prstGeom>
          <a:noFill/>
          <a:ln/>
        </p:spPr>
        <p:txBody>
          <a:bodyPr wrap="square" rtlCol="0" anchor="ctr"/>
          <a:lstStyle/>
          <a:p>
            <a:pPr marL="0" indent="0">
              <a:buNone/>
            </a:pPr>
            <a:r>
              <a:rPr lang="en-US" sz="1300" b="1" dirty="0">
                <a:solidFill>
                  <a:srgbClr val="6C5CBF"/>
                </a:solidFill>
                <a:latin typeface="Calibri" pitchFamily="34" charset="0"/>
                <a:ea typeface="Calibri" pitchFamily="34" charset="-122"/>
                <a:cs typeface="Calibri" pitchFamily="34" charset="-120"/>
              </a:rPr>
              <a:t>Freelance Graphic Designer • Portfolio-First Freelancer</a:t>
            </a:r>
            <a:endParaRPr lang="en-US" sz="1300" dirty="0"/>
          </a:p>
        </p:txBody>
      </p:sp>
      <p:sp>
        <p:nvSpPr>
          <p:cNvPr id="6" name="Shape 4"/>
          <p:cNvSpPr/>
          <p:nvPr/>
        </p:nvSpPr>
        <p:spPr>
          <a:xfrm>
            <a:off x="9966960" y="457200"/>
            <a:ext cx="1737360" cy="365760"/>
          </a:xfrm>
          <a:prstGeom prst="roundRect">
            <a:avLst>
              <a:gd name="adj" fmla="val 50000"/>
            </a:avLst>
          </a:prstGeom>
          <a:solidFill>
            <a:srgbClr val="EFEBFA"/>
          </a:solidFill>
          <a:ln/>
        </p:spPr>
      </p:sp>
      <p:sp>
        <p:nvSpPr>
          <p:cNvPr id="7" name="Text 5"/>
          <p:cNvSpPr/>
          <p:nvPr/>
        </p:nvSpPr>
        <p:spPr>
          <a:xfrm>
            <a:off x="9966960" y="457200"/>
            <a:ext cx="1737360" cy="365760"/>
          </a:xfrm>
          <a:prstGeom prst="rect">
            <a:avLst/>
          </a:prstGeom>
          <a:noFill/>
          <a:ln/>
        </p:spPr>
        <p:txBody>
          <a:bodyPr wrap="square" rtlCol="0" anchor="ctr"/>
          <a:lstStyle/>
          <a:p>
            <a:pPr marL="0" indent="0" algn="ctr">
              <a:buNone/>
            </a:pPr>
            <a:r>
              <a:rPr lang="en-US" sz="1100" b="1" dirty="0">
                <a:solidFill>
                  <a:srgbClr val="6C5CBF"/>
                </a:solidFill>
                <a:latin typeface="Calibri" pitchFamily="34" charset="0"/>
                <a:ea typeface="Calibri" pitchFamily="34" charset="-122"/>
                <a:cs typeface="Calibri" pitchFamily="34" charset="-120"/>
              </a:rPr>
              <a:t>Persona 1 of 5</a:t>
            </a:r>
            <a:endParaRPr lang="en-US" sz="1100" dirty="0"/>
          </a:p>
        </p:txBody>
      </p:sp>
      <p:sp>
        <p:nvSpPr>
          <p:cNvPr id="8" name="Shape 6"/>
          <p:cNvSpPr/>
          <p:nvPr/>
        </p:nvSpPr>
        <p:spPr>
          <a:xfrm>
            <a:off x="457200" y="1371600"/>
            <a:ext cx="2688336" cy="621792"/>
          </a:xfrm>
          <a:prstGeom prst="roundRect">
            <a:avLst>
              <a:gd name="adj" fmla="val 13235"/>
            </a:avLst>
          </a:prstGeom>
          <a:solidFill>
            <a:srgbClr val="EFEBFA"/>
          </a:solidFill>
          <a:ln/>
        </p:spPr>
      </p:sp>
      <p:sp>
        <p:nvSpPr>
          <p:cNvPr id="9" name="Text 7"/>
          <p:cNvSpPr/>
          <p:nvPr/>
        </p:nvSpPr>
        <p:spPr>
          <a:xfrm>
            <a:off x="594360" y="1435608"/>
            <a:ext cx="2414016" cy="201168"/>
          </a:xfrm>
          <a:prstGeom prst="rect">
            <a:avLst/>
          </a:prstGeom>
          <a:noFill/>
          <a:ln/>
        </p:spPr>
        <p:txBody>
          <a:bodyPr wrap="square" rtlCol="0" anchor="ctr"/>
          <a:lstStyle/>
          <a:p>
            <a:pPr marL="0" indent="0">
              <a:buNone/>
            </a:pPr>
            <a:r>
              <a:rPr lang="en-US" sz="850" b="1" kern="0" spc="100" dirty="0">
                <a:solidFill>
                  <a:srgbClr val="6C5CBF"/>
                </a:solidFill>
                <a:latin typeface="Calibri" pitchFamily="34" charset="0"/>
                <a:ea typeface="Calibri" pitchFamily="34" charset="-122"/>
                <a:cs typeface="Calibri" pitchFamily="34" charset="-120"/>
              </a:rPr>
              <a:t>AGE</a:t>
            </a:r>
            <a:endParaRPr lang="en-US" sz="850" dirty="0"/>
          </a:p>
        </p:txBody>
      </p:sp>
      <p:sp>
        <p:nvSpPr>
          <p:cNvPr id="10" name="Text 8"/>
          <p:cNvSpPr/>
          <p:nvPr/>
        </p:nvSpPr>
        <p:spPr>
          <a:xfrm>
            <a:off x="594360"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27</a:t>
            </a:r>
            <a:endParaRPr lang="en-US" sz="1050" dirty="0"/>
          </a:p>
        </p:txBody>
      </p:sp>
      <p:sp>
        <p:nvSpPr>
          <p:cNvPr id="11" name="Shape 9"/>
          <p:cNvSpPr/>
          <p:nvPr/>
        </p:nvSpPr>
        <p:spPr>
          <a:xfrm>
            <a:off x="3264408" y="1371600"/>
            <a:ext cx="2688336" cy="621792"/>
          </a:xfrm>
          <a:prstGeom prst="roundRect">
            <a:avLst>
              <a:gd name="adj" fmla="val 13235"/>
            </a:avLst>
          </a:prstGeom>
          <a:solidFill>
            <a:srgbClr val="EFEBFA"/>
          </a:solidFill>
          <a:ln/>
        </p:spPr>
      </p:sp>
      <p:sp>
        <p:nvSpPr>
          <p:cNvPr id="12" name="Text 10"/>
          <p:cNvSpPr/>
          <p:nvPr/>
        </p:nvSpPr>
        <p:spPr>
          <a:xfrm>
            <a:off x="3401568" y="1435608"/>
            <a:ext cx="2414016" cy="201168"/>
          </a:xfrm>
          <a:prstGeom prst="rect">
            <a:avLst/>
          </a:prstGeom>
          <a:noFill/>
          <a:ln/>
        </p:spPr>
        <p:txBody>
          <a:bodyPr wrap="square" rtlCol="0" anchor="ctr"/>
          <a:lstStyle/>
          <a:p>
            <a:pPr marL="0" indent="0">
              <a:buNone/>
            </a:pPr>
            <a:r>
              <a:rPr lang="en-US" sz="850" b="1" kern="0" spc="100" dirty="0">
                <a:solidFill>
                  <a:srgbClr val="6C5CBF"/>
                </a:solidFill>
                <a:latin typeface="Calibri" pitchFamily="34" charset="0"/>
                <a:ea typeface="Calibri" pitchFamily="34" charset="-122"/>
                <a:cs typeface="Calibri" pitchFamily="34" charset="-120"/>
              </a:rPr>
              <a:t>LOCATION</a:t>
            </a:r>
            <a:endParaRPr lang="en-US" sz="850" dirty="0"/>
          </a:p>
        </p:txBody>
      </p:sp>
      <p:sp>
        <p:nvSpPr>
          <p:cNvPr id="13" name="Text 11"/>
          <p:cNvSpPr/>
          <p:nvPr/>
        </p:nvSpPr>
        <p:spPr>
          <a:xfrm>
            <a:off x="3401568"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Mumbai, India</a:t>
            </a:r>
            <a:endParaRPr lang="en-US" sz="1050" dirty="0"/>
          </a:p>
        </p:txBody>
      </p:sp>
      <p:sp>
        <p:nvSpPr>
          <p:cNvPr id="14" name="Shape 12"/>
          <p:cNvSpPr/>
          <p:nvPr/>
        </p:nvSpPr>
        <p:spPr>
          <a:xfrm>
            <a:off x="6071616" y="1371600"/>
            <a:ext cx="2688336" cy="621792"/>
          </a:xfrm>
          <a:prstGeom prst="roundRect">
            <a:avLst>
              <a:gd name="adj" fmla="val 13235"/>
            </a:avLst>
          </a:prstGeom>
          <a:solidFill>
            <a:srgbClr val="EFEBFA"/>
          </a:solidFill>
          <a:ln/>
        </p:spPr>
      </p:sp>
      <p:sp>
        <p:nvSpPr>
          <p:cNvPr id="15" name="Text 13"/>
          <p:cNvSpPr/>
          <p:nvPr/>
        </p:nvSpPr>
        <p:spPr>
          <a:xfrm>
            <a:off x="6208776" y="1435608"/>
            <a:ext cx="2414016" cy="201168"/>
          </a:xfrm>
          <a:prstGeom prst="rect">
            <a:avLst/>
          </a:prstGeom>
          <a:noFill/>
          <a:ln/>
        </p:spPr>
        <p:txBody>
          <a:bodyPr wrap="square" rtlCol="0" anchor="ctr"/>
          <a:lstStyle/>
          <a:p>
            <a:pPr marL="0" indent="0">
              <a:buNone/>
            </a:pPr>
            <a:r>
              <a:rPr lang="en-US" sz="850" b="1" kern="0" spc="100" dirty="0">
                <a:solidFill>
                  <a:srgbClr val="6C5CBF"/>
                </a:solidFill>
                <a:latin typeface="Calibri" pitchFamily="34" charset="0"/>
                <a:ea typeface="Calibri" pitchFamily="34" charset="-122"/>
                <a:cs typeface="Calibri" pitchFamily="34" charset="-120"/>
              </a:rPr>
              <a:t>OCCUPATION</a:t>
            </a:r>
            <a:endParaRPr lang="en-US" sz="850" dirty="0"/>
          </a:p>
        </p:txBody>
      </p:sp>
      <p:sp>
        <p:nvSpPr>
          <p:cNvPr id="16" name="Text 14"/>
          <p:cNvSpPr/>
          <p:nvPr/>
        </p:nvSpPr>
        <p:spPr>
          <a:xfrm>
            <a:off x="6208776"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Freelance brand &amp; logo designer</a:t>
            </a:r>
            <a:endParaRPr lang="en-US" sz="1050" dirty="0"/>
          </a:p>
        </p:txBody>
      </p:sp>
      <p:sp>
        <p:nvSpPr>
          <p:cNvPr id="17" name="Shape 15"/>
          <p:cNvSpPr/>
          <p:nvPr/>
        </p:nvSpPr>
        <p:spPr>
          <a:xfrm>
            <a:off x="8878824" y="1371600"/>
            <a:ext cx="2688336" cy="621792"/>
          </a:xfrm>
          <a:prstGeom prst="roundRect">
            <a:avLst>
              <a:gd name="adj" fmla="val 13235"/>
            </a:avLst>
          </a:prstGeom>
          <a:solidFill>
            <a:srgbClr val="EFEBFA"/>
          </a:solidFill>
          <a:ln/>
        </p:spPr>
      </p:sp>
      <p:sp>
        <p:nvSpPr>
          <p:cNvPr id="18" name="Text 16"/>
          <p:cNvSpPr/>
          <p:nvPr/>
        </p:nvSpPr>
        <p:spPr>
          <a:xfrm>
            <a:off x="9015984" y="1435608"/>
            <a:ext cx="2414016" cy="201168"/>
          </a:xfrm>
          <a:prstGeom prst="rect">
            <a:avLst/>
          </a:prstGeom>
          <a:noFill/>
          <a:ln/>
        </p:spPr>
        <p:txBody>
          <a:bodyPr wrap="square" rtlCol="0" anchor="ctr"/>
          <a:lstStyle/>
          <a:p>
            <a:pPr marL="0" indent="0">
              <a:buNone/>
            </a:pPr>
            <a:r>
              <a:rPr lang="en-US" sz="850" b="1" kern="0" spc="100" dirty="0">
                <a:solidFill>
                  <a:srgbClr val="6C5CBF"/>
                </a:solidFill>
                <a:latin typeface="Calibri" pitchFamily="34" charset="0"/>
                <a:ea typeface="Calibri" pitchFamily="34" charset="-122"/>
                <a:cs typeface="Calibri" pitchFamily="34" charset="-120"/>
              </a:rPr>
              <a:t>PLATFORM USE</a:t>
            </a:r>
            <a:endParaRPr lang="en-US" sz="850" dirty="0"/>
          </a:p>
        </p:txBody>
      </p:sp>
      <p:sp>
        <p:nvSpPr>
          <p:cNvPr id="19" name="Text 17"/>
          <p:cNvSpPr/>
          <p:nvPr/>
        </p:nvSpPr>
        <p:spPr>
          <a:xfrm>
            <a:off x="9015984"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Behance + Upwork</a:t>
            </a:r>
            <a:endParaRPr lang="en-US" sz="1050" dirty="0"/>
          </a:p>
        </p:txBody>
      </p:sp>
      <p:sp>
        <p:nvSpPr>
          <p:cNvPr id="20" name="Shape 18"/>
          <p:cNvSpPr/>
          <p:nvPr/>
        </p:nvSpPr>
        <p:spPr>
          <a:xfrm>
            <a:off x="457200" y="2121408"/>
            <a:ext cx="11274552" cy="658368"/>
          </a:xfrm>
          <a:prstGeom prst="roundRect">
            <a:avLst>
              <a:gd name="adj" fmla="val 13889"/>
            </a:avLst>
          </a:prstGeom>
          <a:solidFill>
            <a:schemeClr val="tx2">
              <a:lumMod val="60000"/>
              <a:lumOff val="40000"/>
            </a:schemeClr>
          </a:solidFill>
          <a:ln/>
        </p:spPr>
      </p:sp>
      <p:sp>
        <p:nvSpPr>
          <p:cNvPr id="21" name="Text 19"/>
          <p:cNvSpPr/>
          <p:nvPr/>
        </p:nvSpPr>
        <p:spPr>
          <a:xfrm>
            <a:off x="777240" y="2121408"/>
            <a:ext cx="10607040" cy="658368"/>
          </a:xfrm>
          <a:prstGeom prst="rect">
            <a:avLst/>
          </a:prstGeom>
          <a:noFill/>
          <a:ln/>
        </p:spPr>
        <p:txBody>
          <a:bodyPr wrap="square"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My portfolio speaks for itself — I just need clients to see it before the cheapest bid does.</a:t>
            </a:r>
            <a:endParaRPr lang="en-US" sz="1300" dirty="0"/>
          </a:p>
        </p:txBody>
      </p:sp>
      <p:sp>
        <p:nvSpPr>
          <p:cNvPr id="22" name="Shape 20"/>
          <p:cNvSpPr/>
          <p:nvPr/>
        </p:nvSpPr>
        <p:spPr>
          <a:xfrm>
            <a:off x="457200" y="2926080"/>
            <a:ext cx="5513832" cy="1481328"/>
          </a:xfrm>
          <a:prstGeom prst="roundRect">
            <a:avLst>
              <a:gd name="adj" fmla="val 6173"/>
            </a:avLst>
          </a:prstGeom>
          <a:solidFill>
            <a:srgbClr val="E1F5EC"/>
          </a:solidFill>
          <a:ln/>
        </p:spPr>
      </p:sp>
      <p:sp>
        <p:nvSpPr>
          <p:cNvPr id="23" name="Text 21"/>
          <p:cNvSpPr/>
          <p:nvPr/>
        </p:nvSpPr>
        <p:spPr>
          <a:xfrm>
            <a:off x="658368" y="3035808"/>
            <a:ext cx="3657600" cy="274320"/>
          </a:xfrm>
          <a:prstGeom prst="rect">
            <a:avLst/>
          </a:prstGeom>
          <a:noFill/>
          <a:ln/>
        </p:spPr>
        <p:txBody>
          <a:bodyPr wrap="square" rtlCol="0" anchor="ctr"/>
          <a:lstStyle/>
          <a:p>
            <a:pPr marL="0" indent="0">
              <a:buNone/>
            </a:pPr>
            <a:r>
              <a:rPr lang="en-US" sz="1100" b="1" kern="0" spc="100" dirty="0">
                <a:solidFill>
                  <a:srgbClr val="2FA88A"/>
                </a:solidFill>
                <a:latin typeface="Calibri" pitchFamily="34" charset="0"/>
                <a:ea typeface="Calibri" pitchFamily="34" charset="-122"/>
                <a:cs typeface="Calibri" pitchFamily="34" charset="-120"/>
              </a:rPr>
              <a:t>GOALS</a:t>
            </a:r>
            <a:endParaRPr lang="en-US" sz="1100" dirty="0"/>
          </a:p>
        </p:txBody>
      </p:sp>
      <p:sp>
        <p:nvSpPr>
          <p:cNvPr id="24" name="Text 22"/>
          <p:cNvSpPr/>
          <p:nvPr/>
        </p:nvSpPr>
        <p:spPr>
          <a:xfrm>
            <a:off x="65836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A way to show real client results, not just a portfolio gallery</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Search visibility that doesn’t only favor the lowest bidder</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One dashboard for proposals, feedback, and payments</a:t>
            </a:r>
            <a:endParaRPr lang="en-US" sz="1050" dirty="0"/>
          </a:p>
        </p:txBody>
      </p:sp>
      <p:sp>
        <p:nvSpPr>
          <p:cNvPr id="25" name="Shape 23"/>
          <p:cNvSpPr/>
          <p:nvPr/>
        </p:nvSpPr>
        <p:spPr>
          <a:xfrm>
            <a:off x="6217920" y="2926080"/>
            <a:ext cx="5513832" cy="1481328"/>
          </a:xfrm>
          <a:prstGeom prst="roundRect">
            <a:avLst>
              <a:gd name="adj" fmla="val 6173"/>
            </a:avLst>
          </a:prstGeom>
          <a:solidFill>
            <a:srgbClr val="FDECE0"/>
          </a:solidFill>
          <a:ln/>
        </p:spPr>
      </p:sp>
      <p:sp>
        <p:nvSpPr>
          <p:cNvPr id="26" name="Text 24"/>
          <p:cNvSpPr/>
          <p:nvPr/>
        </p:nvSpPr>
        <p:spPr>
          <a:xfrm>
            <a:off x="6419088" y="3035808"/>
            <a:ext cx="3657600" cy="274320"/>
          </a:xfrm>
          <a:prstGeom prst="rect">
            <a:avLst/>
          </a:prstGeom>
          <a:noFill/>
          <a:ln/>
        </p:spPr>
        <p:txBody>
          <a:bodyPr wrap="square" rtlCol="0" anchor="ctr"/>
          <a:lstStyle/>
          <a:p>
            <a:pPr marL="0" indent="0">
              <a:buNone/>
            </a:pPr>
            <a:r>
              <a:rPr lang="en-US" sz="1100" b="1" kern="0" spc="100" dirty="0">
                <a:solidFill>
                  <a:srgbClr val="D97B4F"/>
                </a:solidFill>
                <a:latin typeface="Calibri" pitchFamily="34" charset="0"/>
                <a:ea typeface="Calibri" pitchFamily="34" charset="-122"/>
                <a:cs typeface="Calibri" pitchFamily="34" charset="-120"/>
              </a:rPr>
              <a:t>FRUSTRATIONS</a:t>
            </a:r>
            <a:endParaRPr lang="en-US" sz="1100" dirty="0"/>
          </a:p>
        </p:txBody>
      </p:sp>
      <p:sp>
        <p:nvSpPr>
          <p:cNvPr id="27" name="Text 25"/>
          <p:cNvSpPr/>
          <p:nvPr/>
        </p:nvSpPr>
        <p:spPr>
          <a:xfrm>
            <a:off x="641908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New-profile invisibility, no matter how strong the portfolio</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Clients ask for revisions without extra pay attached</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Unclear who has final say on approved artwork</a:t>
            </a:r>
            <a:endParaRPr lang="en-US" sz="1050" dirty="0"/>
          </a:p>
        </p:txBody>
      </p:sp>
      <p:sp>
        <p:nvSpPr>
          <p:cNvPr id="28" name="Shape 26"/>
          <p:cNvSpPr/>
          <p:nvPr/>
        </p:nvSpPr>
        <p:spPr>
          <a:xfrm>
            <a:off x="457200" y="4608576"/>
            <a:ext cx="3636264" cy="1417320"/>
          </a:xfrm>
          <a:prstGeom prst="roundRect">
            <a:avLst>
              <a:gd name="adj" fmla="val 6452"/>
            </a:avLst>
          </a:prstGeom>
          <a:solidFill>
            <a:srgbClr val="E7F2FB"/>
          </a:solidFill>
          <a:ln/>
        </p:spPr>
      </p:sp>
      <p:sp>
        <p:nvSpPr>
          <p:cNvPr id="29" name="Text 27"/>
          <p:cNvSpPr/>
          <p:nvPr/>
        </p:nvSpPr>
        <p:spPr>
          <a:xfrm>
            <a:off x="640080" y="4718304"/>
            <a:ext cx="3270504" cy="256032"/>
          </a:xfrm>
          <a:prstGeom prst="rect">
            <a:avLst/>
          </a:prstGeom>
          <a:noFill/>
          <a:ln/>
        </p:spPr>
        <p:txBody>
          <a:bodyPr wrap="square" rtlCol="0" anchor="ctr"/>
          <a:lstStyle/>
          <a:p>
            <a:pPr marL="0" indent="0">
              <a:buNone/>
            </a:pPr>
            <a:r>
              <a:rPr lang="en-US" sz="1050" b="1" kern="0" spc="100" dirty="0">
                <a:solidFill>
                  <a:srgbClr val="3E7CB1"/>
                </a:solidFill>
                <a:latin typeface="Calibri" pitchFamily="34" charset="0"/>
                <a:ea typeface="Calibri" pitchFamily="34" charset="-122"/>
                <a:cs typeface="Calibri" pitchFamily="34" charset="-120"/>
              </a:rPr>
              <a:t>ACTIONS</a:t>
            </a:r>
            <a:endParaRPr lang="en-US" sz="1050" dirty="0"/>
          </a:p>
        </p:txBody>
      </p:sp>
      <p:sp>
        <p:nvSpPr>
          <p:cNvPr id="30" name="Text 28"/>
          <p:cNvSpPr/>
          <p:nvPr/>
        </p:nvSpPr>
        <p:spPr>
          <a:xfrm>
            <a:off x="640080" y="5010912"/>
            <a:ext cx="3270504" cy="914400"/>
          </a:xfrm>
          <a:prstGeom prst="rect">
            <a:avLst/>
          </a:prstGeom>
          <a:noFill/>
          <a:ln/>
        </p:spPr>
        <p:txBody>
          <a:bodyPr wrap="square" rtlCol="0" anchor="t"/>
          <a:lstStyle/>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Sends 4–5 tailored proposals a week with a matching mockup</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Checks profile views each morning before replying to messages</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Keeps a swipe file of best client testimonials to reuse</a:t>
            </a:r>
            <a:endParaRPr lang="en-US" sz="950" dirty="0"/>
          </a:p>
        </p:txBody>
      </p:sp>
      <p:sp>
        <p:nvSpPr>
          <p:cNvPr id="31" name="Shape 29"/>
          <p:cNvSpPr/>
          <p:nvPr/>
        </p:nvSpPr>
        <p:spPr>
          <a:xfrm>
            <a:off x="4276344" y="4608576"/>
            <a:ext cx="3636264" cy="1417320"/>
          </a:xfrm>
          <a:prstGeom prst="roundRect">
            <a:avLst>
              <a:gd name="adj" fmla="val 6452"/>
            </a:avLst>
          </a:prstGeom>
          <a:solidFill>
            <a:srgbClr val="EFEBFA"/>
          </a:solidFill>
          <a:ln/>
        </p:spPr>
      </p:sp>
      <p:sp>
        <p:nvSpPr>
          <p:cNvPr id="32" name="Text 30"/>
          <p:cNvSpPr/>
          <p:nvPr/>
        </p:nvSpPr>
        <p:spPr>
          <a:xfrm>
            <a:off x="4459224" y="4718304"/>
            <a:ext cx="3270504" cy="256032"/>
          </a:xfrm>
          <a:prstGeom prst="rect">
            <a:avLst/>
          </a:prstGeom>
          <a:noFill/>
          <a:ln/>
        </p:spPr>
        <p:txBody>
          <a:bodyPr wrap="square" rtlCol="0" anchor="ctr"/>
          <a:lstStyle/>
          <a:p>
            <a:pPr marL="0" indent="0">
              <a:buNone/>
            </a:pPr>
            <a:r>
              <a:rPr lang="en-US" sz="1050" b="1" kern="0" spc="100" dirty="0">
                <a:solidFill>
                  <a:srgbClr val="6C5CBF"/>
                </a:solidFill>
                <a:latin typeface="Calibri" pitchFamily="34" charset="0"/>
                <a:ea typeface="Calibri" pitchFamily="34" charset="-122"/>
                <a:cs typeface="Calibri" pitchFamily="34" charset="-120"/>
              </a:rPr>
              <a:t>FEELINGS</a:t>
            </a:r>
            <a:endParaRPr lang="en-US" sz="1050" dirty="0"/>
          </a:p>
        </p:txBody>
      </p:sp>
      <p:sp>
        <p:nvSpPr>
          <p:cNvPr id="33" name="Text 31"/>
          <p:cNvSpPr/>
          <p:nvPr/>
        </p:nvSpPr>
        <p:spPr>
          <a:xfrm>
            <a:off x="4459224"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Energized pitching a project she’s excited about; deflated re-explaining her rate for the third time.</a:t>
            </a:r>
            <a:endParaRPr lang="en-US" sz="950" dirty="0"/>
          </a:p>
        </p:txBody>
      </p:sp>
      <p:sp>
        <p:nvSpPr>
          <p:cNvPr id="34" name="Shape 32"/>
          <p:cNvSpPr/>
          <p:nvPr/>
        </p:nvSpPr>
        <p:spPr>
          <a:xfrm>
            <a:off x="8095488" y="4608576"/>
            <a:ext cx="3636264" cy="1417320"/>
          </a:xfrm>
          <a:prstGeom prst="roundRect">
            <a:avLst>
              <a:gd name="adj" fmla="val 6452"/>
            </a:avLst>
          </a:prstGeom>
          <a:solidFill>
            <a:srgbClr val="EFEBFA"/>
          </a:solidFill>
          <a:ln/>
        </p:spPr>
      </p:sp>
      <p:sp>
        <p:nvSpPr>
          <p:cNvPr id="35" name="Text 33"/>
          <p:cNvSpPr/>
          <p:nvPr/>
        </p:nvSpPr>
        <p:spPr>
          <a:xfrm>
            <a:off x="8278368" y="4718304"/>
            <a:ext cx="3270504" cy="256032"/>
          </a:xfrm>
          <a:prstGeom prst="rect">
            <a:avLst/>
          </a:prstGeom>
          <a:noFill/>
          <a:ln/>
        </p:spPr>
        <p:txBody>
          <a:bodyPr wrap="square" rtlCol="0" anchor="ctr"/>
          <a:lstStyle/>
          <a:p>
            <a:pPr marL="0" indent="0">
              <a:buNone/>
            </a:pPr>
            <a:r>
              <a:rPr lang="en-US" sz="1050" b="1" kern="0" spc="100" dirty="0">
                <a:solidFill>
                  <a:srgbClr val="6C5CBF"/>
                </a:solidFill>
                <a:latin typeface="Calibri" pitchFamily="34" charset="0"/>
                <a:ea typeface="Calibri" pitchFamily="34" charset="-122"/>
                <a:cs typeface="Calibri" pitchFamily="34" charset="-120"/>
              </a:rPr>
              <a:t>OPPORTUNITY</a:t>
            </a:r>
            <a:endParaRPr lang="en-US" sz="1050" dirty="0"/>
          </a:p>
        </p:txBody>
      </p:sp>
      <p:sp>
        <p:nvSpPr>
          <p:cNvPr id="36" name="Text 34"/>
          <p:cNvSpPr/>
          <p:nvPr/>
        </p:nvSpPr>
        <p:spPr>
          <a:xfrm>
            <a:off x="8278368"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A “results” tab on her profile showing before/after project outcomes, ranked above raw bid price.</a:t>
            </a:r>
            <a:endParaRPr lang="en-US" sz="950" dirty="0"/>
          </a:p>
        </p:txBody>
      </p:sp>
      <p:sp>
        <p:nvSpPr>
          <p:cNvPr id="38" name="Text 36"/>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868680"/>
          </a:xfrm>
          <a:prstGeom prst="ellipse">
            <a:avLst/>
          </a:prstGeom>
          <a:solidFill>
            <a:srgbClr val="AEDFF7"/>
          </a:solidFill>
          <a:ln/>
        </p:spPr>
      </p:sp>
      <p:sp>
        <p:nvSpPr>
          <p:cNvPr id="3" name="Text 1"/>
          <p:cNvSpPr/>
          <p:nvPr/>
        </p:nvSpPr>
        <p:spPr>
          <a:xfrm>
            <a:off x="457200" y="384048"/>
            <a:ext cx="868680" cy="868680"/>
          </a:xfrm>
          <a:prstGeom prst="rect">
            <a:avLst/>
          </a:prstGeom>
          <a:noFill/>
          <a:ln/>
        </p:spPr>
        <p:txBody>
          <a:bodyPr wrap="square"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AV</a:t>
            </a:r>
            <a:endParaRPr lang="en-US" sz="2000" dirty="0"/>
          </a:p>
        </p:txBody>
      </p:sp>
      <p:sp>
        <p:nvSpPr>
          <p:cNvPr id="4" name="Text 2"/>
          <p:cNvSpPr/>
          <p:nvPr/>
        </p:nvSpPr>
        <p:spPr>
          <a:xfrm>
            <a:off x="1508760" y="365760"/>
            <a:ext cx="6858000" cy="45720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Arjun Verma</a:t>
            </a:r>
            <a:endParaRPr lang="en-US" sz="2400" dirty="0"/>
          </a:p>
        </p:txBody>
      </p:sp>
      <p:sp>
        <p:nvSpPr>
          <p:cNvPr id="5" name="Text 3"/>
          <p:cNvSpPr/>
          <p:nvPr/>
        </p:nvSpPr>
        <p:spPr>
          <a:xfrm>
            <a:off x="1508760" y="777240"/>
            <a:ext cx="7315200" cy="365760"/>
          </a:xfrm>
          <a:prstGeom prst="rect">
            <a:avLst/>
          </a:prstGeom>
          <a:noFill/>
          <a:ln/>
        </p:spPr>
        <p:txBody>
          <a:bodyPr wrap="square" rtlCol="0" anchor="ctr"/>
          <a:lstStyle/>
          <a:p>
            <a:pPr marL="0" indent="0">
              <a:buNone/>
            </a:pPr>
            <a:r>
              <a:rPr lang="en-US" sz="1300" b="1" dirty="0">
                <a:solidFill>
                  <a:srgbClr val="3E7CB1"/>
                </a:solidFill>
                <a:latin typeface="Calibri" pitchFamily="34" charset="0"/>
                <a:ea typeface="Calibri" pitchFamily="34" charset="-122"/>
                <a:cs typeface="Calibri" pitchFamily="34" charset="-120"/>
              </a:rPr>
              <a:t>Freelance Web Developer • Long-Term Contract Seeker</a:t>
            </a:r>
            <a:endParaRPr lang="en-US" sz="1300" dirty="0"/>
          </a:p>
        </p:txBody>
      </p:sp>
      <p:sp>
        <p:nvSpPr>
          <p:cNvPr id="6" name="Shape 4"/>
          <p:cNvSpPr/>
          <p:nvPr/>
        </p:nvSpPr>
        <p:spPr>
          <a:xfrm>
            <a:off x="9966960" y="457200"/>
            <a:ext cx="1737360" cy="365760"/>
          </a:xfrm>
          <a:prstGeom prst="roundRect">
            <a:avLst>
              <a:gd name="adj" fmla="val 50000"/>
            </a:avLst>
          </a:prstGeom>
          <a:solidFill>
            <a:srgbClr val="E7F2FB"/>
          </a:solidFill>
          <a:ln/>
        </p:spPr>
      </p:sp>
      <p:sp>
        <p:nvSpPr>
          <p:cNvPr id="7" name="Text 5"/>
          <p:cNvSpPr/>
          <p:nvPr/>
        </p:nvSpPr>
        <p:spPr>
          <a:xfrm>
            <a:off x="9966960" y="457200"/>
            <a:ext cx="1737360" cy="365760"/>
          </a:xfrm>
          <a:prstGeom prst="rect">
            <a:avLst/>
          </a:prstGeom>
          <a:noFill/>
          <a:ln/>
        </p:spPr>
        <p:txBody>
          <a:bodyPr wrap="square" rtlCol="0" anchor="ctr"/>
          <a:lstStyle/>
          <a:p>
            <a:pPr marL="0" indent="0" algn="ctr">
              <a:buNone/>
            </a:pPr>
            <a:r>
              <a:rPr lang="en-US" sz="1100" b="1" dirty="0">
                <a:solidFill>
                  <a:srgbClr val="3E7CB1"/>
                </a:solidFill>
                <a:latin typeface="Calibri" pitchFamily="34" charset="0"/>
                <a:ea typeface="Calibri" pitchFamily="34" charset="-122"/>
                <a:cs typeface="Calibri" pitchFamily="34" charset="-120"/>
              </a:rPr>
              <a:t>Persona 2 of 5</a:t>
            </a:r>
            <a:endParaRPr lang="en-US" sz="1100" dirty="0"/>
          </a:p>
        </p:txBody>
      </p:sp>
      <p:sp>
        <p:nvSpPr>
          <p:cNvPr id="8" name="Shape 6"/>
          <p:cNvSpPr/>
          <p:nvPr/>
        </p:nvSpPr>
        <p:spPr>
          <a:xfrm>
            <a:off x="457200" y="1371600"/>
            <a:ext cx="2688336" cy="621792"/>
          </a:xfrm>
          <a:prstGeom prst="roundRect">
            <a:avLst>
              <a:gd name="adj" fmla="val 13235"/>
            </a:avLst>
          </a:prstGeom>
          <a:solidFill>
            <a:srgbClr val="E7F2FB"/>
          </a:solidFill>
          <a:ln/>
        </p:spPr>
      </p:sp>
      <p:sp>
        <p:nvSpPr>
          <p:cNvPr id="9" name="Text 7"/>
          <p:cNvSpPr/>
          <p:nvPr/>
        </p:nvSpPr>
        <p:spPr>
          <a:xfrm>
            <a:off x="594360" y="1435608"/>
            <a:ext cx="2414016" cy="201168"/>
          </a:xfrm>
          <a:prstGeom prst="rect">
            <a:avLst/>
          </a:prstGeom>
          <a:noFill/>
          <a:ln/>
        </p:spPr>
        <p:txBody>
          <a:bodyPr wrap="square" rtlCol="0" anchor="ctr"/>
          <a:lstStyle/>
          <a:p>
            <a:pPr marL="0" indent="0">
              <a:buNone/>
            </a:pPr>
            <a:r>
              <a:rPr lang="en-US" sz="850" b="1" kern="0" spc="100" dirty="0">
                <a:solidFill>
                  <a:srgbClr val="3E7CB1"/>
                </a:solidFill>
                <a:latin typeface="Calibri" pitchFamily="34" charset="0"/>
                <a:ea typeface="Calibri" pitchFamily="34" charset="-122"/>
                <a:cs typeface="Calibri" pitchFamily="34" charset="-120"/>
              </a:rPr>
              <a:t>AGE</a:t>
            </a:r>
            <a:endParaRPr lang="en-US" sz="850" dirty="0"/>
          </a:p>
        </p:txBody>
      </p:sp>
      <p:sp>
        <p:nvSpPr>
          <p:cNvPr id="10" name="Text 8"/>
          <p:cNvSpPr/>
          <p:nvPr/>
        </p:nvSpPr>
        <p:spPr>
          <a:xfrm>
            <a:off x="594360"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31</a:t>
            </a:r>
            <a:endParaRPr lang="en-US" sz="1050" dirty="0"/>
          </a:p>
        </p:txBody>
      </p:sp>
      <p:sp>
        <p:nvSpPr>
          <p:cNvPr id="11" name="Shape 9"/>
          <p:cNvSpPr/>
          <p:nvPr/>
        </p:nvSpPr>
        <p:spPr>
          <a:xfrm>
            <a:off x="3264408" y="1371600"/>
            <a:ext cx="2688336" cy="621792"/>
          </a:xfrm>
          <a:prstGeom prst="roundRect">
            <a:avLst>
              <a:gd name="adj" fmla="val 13235"/>
            </a:avLst>
          </a:prstGeom>
          <a:solidFill>
            <a:srgbClr val="E7F2FB"/>
          </a:solidFill>
          <a:ln/>
        </p:spPr>
      </p:sp>
      <p:sp>
        <p:nvSpPr>
          <p:cNvPr id="12" name="Text 10"/>
          <p:cNvSpPr/>
          <p:nvPr/>
        </p:nvSpPr>
        <p:spPr>
          <a:xfrm>
            <a:off x="3401568" y="1435608"/>
            <a:ext cx="2414016" cy="201168"/>
          </a:xfrm>
          <a:prstGeom prst="rect">
            <a:avLst/>
          </a:prstGeom>
          <a:noFill/>
          <a:ln/>
        </p:spPr>
        <p:txBody>
          <a:bodyPr wrap="square" rtlCol="0" anchor="ctr"/>
          <a:lstStyle/>
          <a:p>
            <a:pPr marL="0" indent="0">
              <a:buNone/>
            </a:pPr>
            <a:r>
              <a:rPr lang="en-US" sz="850" b="1" kern="0" spc="100" dirty="0">
                <a:solidFill>
                  <a:srgbClr val="3E7CB1"/>
                </a:solidFill>
                <a:latin typeface="Calibri" pitchFamily="34" charset="0"/>
                <a:ea typeface="Calibri" pitchFamily="34" charset="-122"/>
                <a:cs typeface="Calibri" pitchFamily="34" charset="-120"/>
              </a:rPr>
              <a:t>LOCATION</a:t>
            </a:r>
            <a:endParaRPr lang="en-US" sz="850" dirty="0"/>
          </a:p>
        </p:txBody>
      </p:sp>
      <p:sp>
        <p:nvSpPr>
          <p:cNvPr id="13" name="Text 11"/>
          <p:cNvSpPr/>
          <p:nvPr/>
        </p:nvSpPr>
        <p:spPr>
          <a:xfrm>
            <a:off x="3401568"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Bengaluru, India</a:t>
            </a:r>
            <a:endParaRPr lang="en-US" sz="1050" dirty="0"/>
          </a:p>
        </p:txBody>
      </p:sp>
      <p:sp>
        <p:nvSpPr>
          <p:cNvPr id="14" name="Shape 12"/>
          <p:cNvSpPr/>
          <p:nvPr/>
        </p:nvSpPr>
        <p:spPr>
          <a:xfrm>
            <a:off x="6071616" y="1371600"/>
            <a:ext cx="2688336" cy="621792"/>
          </a:xfrm>
          <a:prstGeom prst="roundRect">
            <a:avLst>
              <a:gd name="adj" fmla="val 13235"/>
            </a:avLst>
          </a:prstGeom>
          <a:solidFill>
            <a:srgbClr val="E7F2FB"/>
          </a:solidFill>
          <a:ln/>
        </p:spPr>
      </p:sp>
      <p:sp>
        <p:nvSpPr>
          <p:cNvPr id="15" name="Text 13"/>
          <p:cNvSpPr/>
          <p:nvPr/>
        </p:nvSpPr>
        <p:spPr>
          <a:xfrm>
            <a:off x="6208776" y="1435608"/>
            <a:ext cx="2414016" cy="201168"/>
          </a:xfrm>
          <a:prstGeom prst="rect">
            <a:avLst/>
          </a:prstGeom>
          <a:noFill/>
          <a:ln/>
        </p:spPr>
        <p:txBody>
          <a:bodyPr wrap="square" rtlCol="0" anchor="ctr"/>
          <a:lstStyle/>
          <a:p>
            <a:pPr marL="0" indent="0">
              <a:buNone/>
            </a:pPr>
            <a:r>
              <a:rPr lang="en-US" sz="850" b="1" kern="0" spc="100" dirty="0">
                <a:solidFill>
                  <a:srgbClr val="3E7CB1"/>
                </a:solidFill>
                <a:latin typeface="Calibri" pitchFamily="34" charset="0"/>
                <a:ea typeface="Calibri" pitchFamily="34" charset="-122"/>
                <a:cs typeface="Calibri" pitchFamily="34" charset="-120"/>
              </a:rPr>
              <a:t>OCCUPATION</a:t>
            </a:r>
            <a:endParaRPr lang="en-US" sz="850" dirty="0"/>
          </a:p>
        </p:txBody>
      </p:sp>
      <p:sp>
        <p:nvSpPr>
          <p:cNvPr id="16" name="Text 14"/>
          <p:cNvSpPr/>
          <p:nvPr/>
        </p:nvSpPr>
        <p:spPr>
          <a:xfrm>
            <a:off x="6208776"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Full-stack freelance developer</a:t>
            </a:r>
            <a:endParaRPr lang="en-US" sz="1050" dirty="0"/>
          </a:p>
        </p:txBody>
      </p:sp>
      <p:sp>
        <p:nvSpPr>
          <p:cNvPr id="17" name="Shape 15"/>
          <p:cNvSpPr/>
          <p:nvPr/>
        </p:nvSpPr>
        <p:spPr>
          <a:xfrm>
            <a:off x="8878824" y="1371600"/>
            <a:ext cx="2688336" cy="621792"/>
          </a:xfrm>
          <a:prstGeom prst="roundRect">
            <a:avLst>
              <a:gd name="adj" fmla="val 13235"/>
            </a:avLst>
          </a:prstGeom>
          <a:solidFill>
            <a:srgbClr val="E7F2FB"/>
          </a:solidFill>
          <a:ln/>
        </p:spPr>
      </p:sp>
      <p:sp>
        <p:nvSpPr>
          <p:cNvPr id="18" name="Text 16"/>
          <p:cNvSpPr/>
          <p:nvPr/>
        </p:nvSpPr>
        <p:spPr>
          <a:xfrm>
            <a:off x="9015984" y="1435608"/>
            <a:ext cx="2414016" cy="201168"/>
          </a:xfrm>
          <a:prstGeom prst="rect">
            <a:avLst/>
          </a:prstGeom>
          <a:noFill/>
          <a:ln/>
        </p:spPr>
        <p:txBody>
          <a:bodyPr wrap="square" rtlCol="0" anchor="ctr"/>
          <a:lstStyle/>
          <a:p>
            <a:pPr marL="0" indent="0">
              <a:buNone/>
            </a:pPr>
            <a:r>
              <a:rPr lang="en-US" sz="850" b="1" kern="0" spc="100" dirty="0">
                <a:solidFill>
                  <a:srgbClr val="3E7CB1"/>
                </a:solidFill>
                <a:latin typeface="Calibri" pitchFamily="34" charset="0"/>
                <a:ea typeface="Calibri" pitchFamily="34" charset="-122"/>
                <a:cs typeface="Calibri" pitchFamily="34" charset="-120"/>
              </a:rPr>
              <a:t>PLATFORM USE</a:t>
            </a:r>
            <a:endParaRPr lang="en-US" sz="850" dirty="0"/>
          </a:p>
        </p:txBody>
      </p:sp>
      <p:sp>
        <p:nvSpPr>
          <p:cNvPr id="19" name="Text 17"/>
          <p:cNvSpPr/>
          <p:nvPr/>
        </p:nvSpPr>
        <p:spPr>
          <a:xfrm>
            <a:off x="9015984"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Upwork, long-term contracts</a:t>
            </a:r>
            <a:endParaRPr lang="en-US" sz="1050" dirty="0"/>
          </a:p>
        </p:txBody>
      </p:sp>
      <p:sp>
        <p:nvSpPr>
          <p:cNvPr id="20" name="Shape 18"/>
          <p:cNvSpPr/>
          <p:nvPr/>
        </p:nvSpPr>
        <p:spPr>
          <a:xfrm>
            <a:off x="457200" y="2130739"/>
            <a:ext cx="11274552" cy="658368"/>
          </a:xfrm>
          <a:prstGeom prst="roundRect">
            <a:avLst>
              <a:gd name="adj" fmla="val 13889"/>
            </a:avLst>
          </a:prstGeom>
          <a:solidFill>
            <a:schemeClr val="accent5">
              <a:lumMod val="75000"/>
            </a:schemeClr>
          </a:solidFill>
          <a:ln/>
        </p:spPr>
      </p:sp>
      <p:sp>
        <p:nvSpPr>
          <p:cNvPr id="21" name="Text 19"/>
          <p:cNvSpPr/>
          <p:nvPr/>
        </p:nvSpPr>
        <p:spPr>
          <a:xfrm>
            <a:off x="777240" y="2121408"/>
            <a:ext cx="10607040" cy="658368"/>
          </a:xfrm>
          <a:prstGeom prst="rect">
            <a:avLst/>
          </a:prstGeom>
          <a:noFill/>
          <a:ln/>
        </p:spPr>
        <p:txBody>
          <a:bodyPr wrap="square"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I don’t mind scope changes — I mind doing them for free because there was no way to log them.</a:t>
            </a:r>
            <a:endParaRPr lang="en-US" sz="1300" dirty="0"/>
          </a:p>
        </p:txBody>
      </p:sp>
      <p:sp>
        <p:nvSpPr>
          <p:cNvPr id="22" name="Shape 20"/>
          <p:cNvSpPr/>
          <p:nvPr/>
        </p:nvSpPr>
        <p:spPr>
          <a:xfrm>
            <a:off x="457200" y="2926080"/>
            <a:ext cx="5513832" cy="1481328"/>
          </a:xfrm>
          <a:prstGeom prst="roundRect">
            <a:avLst>
              <a:gd name="adj" fmla="val 6173"/>
            </a:avLst>
          </a:prstGeom>
          <a:solidFill>
            <a:srgbClr val="E1F5EC"/>
          </a:solidFill>
          <a:ln/>
        </p:spPr>
      </p:sp>
      <p:sp>
        <p:nvSpPr>
          <p:cNvPr id="23" name="Text 21"/>
          <p:cNvSpPr/>
          <p:nvPr/>
        </p:nvSpPr>
        <p:spPr>
          <a:xfrm>
            <a:off x="658368" y="3035808"/>
            <a:ext cx="3657600" cy="274320"/>
          </a:xfrm>
          <a:prstGeom prst="rect">
            <a:avLst/>
          </a:prstGeom>
          <a:noFill/>
          <a:ln/>
        </p:spPr>
        <p:txBody>
          <a:bodyPr wrap="square" rtlCol="0" anchor="ctr"/>
          <a:lstStyle/>
          <a:p>
            <a:pPr marL="0" indent="0">
              <a:buNone/>
            </a:pPr>
            <a:r>
              <a:rPr lang="en-US" sz="1100" b="1" kern="0" spc="100" dirty="0">
                <a:solidFill>
                  <a:srgbClr val="2FA88A"/>
                </a:solidFill>
                <a:latin typeface="Calibri" pitchFamily="34" charset="0"/>
                <a:ea typeface="Calibri" pitchFamily="34" charset="-122"/>
                <a:cs typeface="Calibri" pitchFamily="34" charset="-120"/>
              </a:rPr>
              <a:t>GOALS</a:t>
            </a:r>
            <a:endParaRPr lang="en-US" sz="1100" dirty="0"/>
          </a:p>
        </p:txBody>
      </p:sp>
      <p:sp>
        <p:nvSpPr>
          <p:cNvPr id="24" name="Text 22"/>
          <p:cNvSpPr/>
          <p:nvPr/>
        </p:nvSpPr>
        <p:spPr>
          <a:xfrm>
            <a:off x="65836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Scope-lock tools so “quick fixes” get logged and paid</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Repeat-client history that carries over automatically</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Milestone payments that release faster after approval</a:t>
            </a:r>
            <a:endParaRPr lang="en-US" sz="1050" dirty="0"/>
          </a:p>
        </p:txBody>
      </p:sp>
      <p:sp>
        <p:nvSpPr>
          <p:cNvPr id="25" name="Shape 23"/>
          <p:cNvSpPr/>
          <p:nvPr/>
        </p:nvSpPr>
        <p:spPr>
          <a:xfrm>
            <a:off x="6217920" y="2926080"/>
            <a:ext cx="5513832" cy="1481328"/>
          </a:xfrm>
          <a:prstGeom prst="roundRect">
            <a:avLst>
              <a:gd name="adj" fmla="val 6173"/>
            </a:avLst>
          </a:prstGeom>
          <a:solidFill>
            <a:srgbClr val="FDECE0"/>
          </a:solidFill>
          <a:ln/>
        </p:spPr>
      </p:sp>
      <p:sp>
        <p:nvSpPr>
          <p:cNvPr id="26" name="Text 24"/>
          <p:cNvSpPr/>
          <p:nvPr/>
        </p:nvSpPr>
        <p:spPr>
          <a:xfrm>
            <a:off x="6419088" y="3035808"/>
            <a:ext cx="3657600" cy="274320"/>
          </a:xfrm>
          <a:prstGeom prst="rect">
            <a:avLst/>
          </a:prstGeom>
          <a:noFill/>
          <a:ln/>
        </p:spPr>
        <p:txBody>
          <a:bodyPr wrap="square" rtlCol="0" anchor="ctr"/>
          <a:lstStyle/>
          <a:p>
            <a:pPr marL="0" indent="0">
              <a:buNone/>
            </a:pPr>
            <a:r>
              <a:rPr lang="en-US" sz="1100" b="1" kern="0" spc="100" dirty="0">
                <a:solidFill>
                  <a:srgbClr val="D97B4F"/>
                </a:solidFill>
                <a:latin typeface="Calibri" pitchFamily="34" charset="0"/>
                <a:ea typeface="Calibri" pitchFamily="34" charset="-122"/>
                <a:cs typeface="Calibri" pitchFamily="34" charset="-120"/>
              </a:rPr>
              <a:t>FRUSTRATIONS</a:t>
            </a:r>
            <a:endParaRPr lang="en-US" sz="1100" dirty="0"/>
          </a:p>
        </p:txBody>
      </p:sp>
      <p:sp>
        <p:nvSpPr>
          <p:cNvPr id="27" name="Text 25"/>
          <p:cNvSpPr/>
          <p:nvPr/>
        </p:nvSpPr>
        <p:spPr>
          <a:xfrm>
            <a:off x="641908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Clients add small asks with no formal change order</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Platform doesn’t remember past clients he’s worked with</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Payment sits “processing” for days after milestone approval</a:t>
            </a:r>
            <a:endParaRPr lang="en-US" sz="1050" dirty="0"/>
          </a:p>
        </p:txBody>
      </p:sp>
      <p:sp>
        <p:nvSpPr>
          <p:cNvPr id="28" name="Shape 26"/>
          <p:cNvSpPr/>
          <p:nvPr/>
        </p:nvSpPr>
        <p:spPr>
          <a:xfrm>
            <a:off x="457200" y="4608576"/>
            <a:ext cx="3636264" cy="1417320"/>
          </a:xfrm>
          <a:prstGeom prst="roundRect">
            <a:avLst>
              <a:gd name="adj" fmla="val 6452"/>
            </a:avLst>
          </a:prstGeom>
          <a:solidFill>
            <a:srgbClr val="E7F2FB"/>
          </a:solidFill>
          <a:ln/>
        </p:spPr>
      </p:sp>
      <p:sp>
        <p:nvSpPr>
          <p:cNvPr id="29" name="Text 27"/>
          <p:cNvSpPr/>
          <p:nvPr/>
        </p:nvSpPr>
        <p:spPr>
          <a:xfrm>
            <a:off x="640080" y="4718304"/>
            <a:ext cx="3270504" cy="256032"/>
          </a:xfrm>
          <a:prstGeom prst="rect">
            <a:avLst/>
          </a:prstGeom>
          <a:noFill/>
          <a:ln/>
        </p:spPr>
        <p:txBody>
          <a:bodyPr wrap="square" rtlCol="0" anchor="ctr"/>
          <a:lstStyle/>
          <a:p>
            <a:pPr marL="0" indent="0">
              <a:buNone/>
            </a:pPr>
            <a:r>
              <a:rPr lang="en-US" sz="1050" b="1" kern="0" spc="100" dirty="0">
                <a:solidFill>
                  <a:srgbClr val="3E7CB1"/>
                </a:solidFill>
                <a:latin typeface="Calibri" pitchFamily="34" charset="0"/>
                <a:ea typeface="Calibri" pitchFamily="34" charset="-122"/>
                <a:cs typeface="Calibri" pitchFamily="34" charset="-120"/>
              </a:rPr>
              <a:t>ACTIONS</a:t>
            </a:r>
            <a:endParaRPr lang="en-US" sz="1050" dirty="0"/>
          </a:p>
        </p:txBody>
      </p:sp>
      <p:sp>
        <p:nvSpPr>
          <p:cNvPr id="30" name="Text 28"/>
          <p:cNvSpPr/>
          <p:nvPr/>
        </p:nvSpPr>
        <p:spPr>
          <a:xfrm>
            <a:off x="640080" y="5010912"/>
            <a:ext cx="3270504" cy="914400"/>
          </a:xfrm>
          <a:prstGeom prst="rect">
            <a:avLst/>
          </a:prstGeom>
          <a:noFill/>
          <a:ln/>
        </p:spPr>
        <p:txBody>
          <a:bodyPr wrap="square" rtlCol="0" anchor="t"/>
          <a:lstStyle/>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Writes a locked scope document before starting any contract</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Tracks hours in a separate app as backup</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Follows up on payment status every two days near release</a:t>
            </a:r>
            <a:endParaRPr lang="en-US" sz="950" dirty="0"/>
          </a:p>
        </p:txBody>
      </p:sp>
      <p:sp>
        <p:nvSpPr>
          <p:cNvPr id="31" name="Shape 29"/>
          <p:cNvSpPr/>
          <p:nvPr/>
        </p:nvSpPr>
        <p:spPr>
          <a:xfrm>
            <a:off x="4276344" y="4608576"/>
            <a:ext cx="3636264" cy="1417320"/>
          </a:xfrm>
          <a:prstGeom prst="roundRect">
            <a:avLst>
              <a:gd name="adj" fmla="val 6452"/>
            </a:avLst>
          </a:prstGeom>
          <a:solidFill>
            <a:srgbClr val="EFEBFA"/>
          </a:solidFill>
          <a:ln/>
        </p:spPr>
      </p:sp>
      <p:sp>
        <p:nvSpPr>
          <p:cNvPr id="32" name="Text 30"/>
          <p:cNvSpPr/>
          <p:nvPr/>
        </p:nvSpPr>
        <p:spPr>
          <a:xfrm>
            <a:off x="4459224" y="4718304"/>
            <a:ext cx="3270504" cy="256032"/>
          </a:xfrm>
          <a:prstGeom prst="rect">
            <a:avLst/>
          </a:prstGeom>
          <a:noFill/>
          <a:ln/>
        </p:spPr>
        <p:txBody>
          <a:bodyPr wrap="square" rtlCol="0" anchor="ctr"/>
          <a:lstStyle/>
          <a:p>
            <a:pPr marL="0" indent="0">
              <a:buNone/>
            </a:pPr>
            <a:r>
              <a:rPr lang="en-US" sz="1050" b="1" kern="0" spc="100" dirty="0">
                <a:solidFill>
                  <a:srgbClr val="6C5CBF"/>
                </a:solidFill>
                <a:latin typeface="Calibri" pitchFamily="34" charset="0"/>
                <a:ea typeface="Calibri" pitchFamily="34" charset="-122"/>
                <a:cs typeface="Calibri" pitchFamily="34" charset="-120"/>
              </a:rPr>
              <a:t>FEELINGS</a:t>
            </a:r>
            <a:endParaRPr lang="en-US" sz="1050" dirty="0"/>
          </a:p>
        </p:txBody>
      </p:sp>
      <p:sp>
        <p:nvSpPr>
          <p:cNvPr id="33" name="Text 31"/>
          <p:cNvSpPr/>
          <p:nvPr/>
        </p:nvSpPr>
        <p:spPr>
          <a:xfrm>
            <a:off x="4459224"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Confident going into a well-scoped project; frustrated watching “processing” sit unchanged for days.</a:t>
            </a:r>
            <a:endParaRPr lang="en-US" sz="950" dirty="0"/>
          </a:p>
        </p:txBody>
      </p:sp>
      <p:sp>
        <p:nvSpPr>
          <p:cNvPr id="34" name="Shape 32"/>
          <p:cNvSpPr/>
          <p:nvPr/>
        </p:nvSpPr>
        <p:spPr>
          <a:xfrm>
            <a:off x="8095488" y="4608576"/>
            <a:ext cx="3636264" cy="1417320"/>
          </a:xfrm>
          <a:prstGeom prst="roundRect">
            <a:avLst>
              <a:gd name="adj" fmla="val 6452"/>
            </a:avLst>
          </a:prstGeom>
          <a:solidFill>
            <a:srgbClr val="E7F2FB"/>
          </a:solidFill>
          <a:ln/>
        </p:spPr>
      </p:sp>
      <p:sp>
        <p:nvSpPr>
          <p:cNvPr id="35" name="Text 33"/>
          <p:cNvSpPr/>
          <p:nvPr/>
        </p:nvSpPr>
        <p:spPr>
          <a:xfrm>
            <a:off x="8278368" y="4718304"/>
            <a:ext cx="3270504" cy="256032"/>
          </a:xfrm>
          <a:prstGeom prst="rect">
            <a:avLst/>
          </a:prstGeom>
          <a:noFill/>
          <a:ln/>
        </p:spPr>
        <p:txBody>
          <a:bodyPr wrap="square" rtlCol="0" anchor="ctr"/>
          <a:lstStyle/>
          <a:p>
            <a:pPr marL="0" indent="0">
              <a:buNone/>
            </a:pPr>
            <a:r>
              <a:rPr lang="en-US" sz="1050" b="1" kern="0" spc="100" dirty="0">
                <a:solidFill>
                  <a:srgbClr val="3E7CB1"/>
                </a:solidFill>
                <a:latin typeface="Calibri" pitchFamily="34" charset="0"/>
                <a:ea typeface="Calibri" pitchFamily="34" charset="-122"/>
                <a:cs typeface="Calibri" pitchFamily="34" charset="-120"/>
              </a:rPr>
              <a:t>OPPORTUNITY</a:t>
            </a:r>
            <a:endParaRPr lang="en-US" sz="1050" dirty="0"/>
          </a:p>
        </p:txBody>
      </p:sp>
      <p:sp>
        <p:nvSpPr>
          <p:cNvPr id="36" name="Text 34"/>
          <p:cNvSpPr/>
          <p:nvPr/>
        </p:nvSpPr>
        <p:spPr>
          <a:xfrm>
            <a:off x="8278368"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A built-in change-order button that logs and re-quotes extra work inside the same contract thread.</a:t>
            </a:r>
            <a:endParaRPr lang="en-US" sz="950" dirty="0"/>
          </a:p>
        </p:txBody>
      </p:sp>
      <p:sp>
        <p:nvSpPr>
          <p:cNvPr id="38" name="Text 36"/>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868680"/>
          </a:xfrm>
          <a:prstGeom prst="ellipse">
            <a:avLst/>
          </a:prstGeom>
          <a:solidFill>
            <a:srgbClr val="F7C9A8"/>
          </a:solidFill>
          <a:ln/>
        </p:spPr>
      </p:sp>
      <p:sp>
        <p:nvSpPr>
          <p:cNvPr id="3" name="Text 1"/>
          <p:cNvSpPr/>
          <p:nvPr/>
        </p:nvSpPr>
        <p:spPr>
          <a:xfrm>
            <a:off x="457200" y="384048"/>
            <a:ext cx="868680" cy="868680"/>
          </a:xfrm>
          <a:prstGeom prst="rect">
            <a:avLst/>
          </a:prstGeom>
          <a:noFill/>
          <a:ln/>
        </p:spPr>
        <p:txBody>
          <a:bodyPr wrap="square"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MI</a:t>
            </a:r>
            <a:endParaRPr lang="en-US" sz="2000" dirty="0"/>
          </a:p>
        </p:txBody>
      </p:sp>
      <p:sp>
        <p:nvSpPr>
          <p:cNvPr id="4" name="Text 2"/>
          <p:cNvSpPr/>
          <p:nvPr/>
        </p:nvSpPr>
        <p:spPr>
          <a:xfrm>
            <a:off x="1508760" y="365760"/>
            <a:ext cx="6858000" cy="45720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Meera Iyer</a:t>
            </a:r>
            <a:endParaRPr lang="en-US" sz="2400" dirty="0"/>
          </a:p>
        </p:txBody>
      </p:sp>
      <p:sp>
        <p:nvSpPr>
          <p:cNvPr id="5" name="Text 3"/>
          <p:cNvSpPr/>
          <p:nvPr/>
        </p:nvSpPr>
        <p:spPr>
          <a:xfrm>
            <a:off x="1508760" y="777240"/>
            <a:ext cx="7315200" cy="365760"/>
          </a:xfrm>
          <a:prstGeom prst="rect">
            <a:avLst/>
          </a:prstGeom>
          <a:noFill/>
          <a:ln/>
        </p:spPr>
        <p:txBody>
          <a:bodyPr wrap="square" rtlCol="0" anchor="ctr"/>
          <a:lstStyle/>
          <a:p>
            <a:pPr marL="0" indent="0">
              <a:buNone/>
            </a:pPr>
            <a:r>
              <a:rPr lang="en-US" sz="1300" b="1" dirty="0">
                <a:solidFill>
                  <a:srgbClr val="D97B4F"/>
                </a:solidFill>
                <a:latin typeface="Calibri" pitchFamily="34" charset="0"/>
                <a:ea typeface="Calibri" pitchFamily="34" charset="-122"/>
                <a:cs typeface="Calibri" pitchFamily="34" charset="-120"/>
              </a:rPr>
              <a:t>Freelance Content Writer • Niche Specialist</a:t>
            </a:r>
            <a:endParaRPr lang="en-US" sz="1300" dirty="0"/>
          </a:p>
        </p:txBody>
      </p:sp>
      <p:sp>
        <p:nvSpPr>
          <p:cNvPr id="6" name="Shape 4"/>
          <p:cNvSpPr/>
          <p:nvPr/>
        </p:nvSpPr>
        <p:spPr>
          <a:xfrm>
            <a:off x="9966960" y="457200"/>
            <a:ext cx="1737360" cy="365760"/>
          </a:xfrm>
          <a:prstGeom prst="roundRect">
            <a:avLst>
              <a:gd name="adj" fmla="val 50000"/>
            </a:avLst>
          </a:prstGeom>
          <a:solidFill>
            <a:srgbClr val="FDECE0"/>
          </a:solidFill>
          <a:ln/>
        </p:spPr>
      </p:sp>
      <p:sp>
        <p:nvSpPr>
          <p:cNvPr id="7" name="Text 5"/>
          <p:cNvSpPr/>
          <p:nvPr/>
        </p:nvSpPr>
        <p:spPr>
          <a:xfrm>
            <a:off x="9966960" y="457200"/>
            <a:ext cx="1737360" cy="365760"/>
          </a:xfrm>
          <a:prstGeom prst="rect">
            <a:avLst/>
          </a:prstGeom>
          <a:noFill/>
          <a:ln/>
        </p:spPr>
        <p:txBody>
          <a:bodyPr wrap="square" rtlCol="0" anchor="ctr"/>
          <a:lstStyle/>
          <a:p>
            <a:pPr marL="0" indent="0" algn="ctr">
              <a:buNone/>
            </a:pPr>
            <a:r>
              <a:rPr lang="en-US" sz="1100" b="1" dirty="0">
                <a:solidFill>
                  <a:srgbClr val="D97B4F"/>
                </a:solidFill>
                <a:latin typeface="Calibri" pitchFamily="34" charset="0"/>
                <a:ea typeface="Calibri" pitchFamily="34" charset="-122"/>
                <a:cs typeface="Calibri" pitchFamily="34" charset="-120"/>
              </a:rPr>
              <a:t>Persona 3 of 5</a:t>
            </a:r>
            <a:endParaRPr lang="en-US" sz="1100" dirty="0"/>
          </a:p>
        </p:txBody>
      </p:sp>
      <p:sp>
        <p:nvSpPr>
          <p:cNvPr id="8" name="Shape 6"/>
          <p:cNvSpPr/>
          <p:nvPr/>
        </p:nvSpPr>
        <p:spPr>
          <a:xfrm>
            <a:off x="457200" y="1371600"/>
            <a:ext cx="2688336" cy="621792"/>
          </a:xfrm>
          <a:prstGeom prst="roundRect">
            <a:avLst>
              <a:gd name="adj" fmla="val 13235"/>
            </a:avLst>
          </a:prstGeom>
          <a:solidFill>
            <a:srgbClr val="FDECE0"/>
          </a:solidFill>
          <a:ln/>
        </p:spPr>
      </p:sp>
      <p:sp>
        <p:nvSpPr>
          <p:cNvPr id="9" name="Text 7"/>
          <p:cNvSpPr/>
          <p:nvPr/>
        </p:nvSpPr>
        <p:spPr>
          <a:xfrm>
            <a:off x="594360" y="1435608"/>
            <a:ext cx="2414016" cy="201168"/>
          </a:xfrm>
          <a:prstGeom prst="rect">
            <a:avLst/>
          </a:prstGeom>
          <a:noFill/>
          <a:ln/>
        </p:spPr>
        <p:txBody>
          <a:bodyPr wrap="square" rtlCol="0" anchor="ctr"/>
          <a:lstStyle/>
          <a:p>
            <a:pPr marL="0" indent="0">
              <a:buNone/>
            </a:pPr>
            <a:r>
              <a:rPr lang="en-US" sz="850" b="1" kern="0" spc="100" dirty="0">
                <a:solidFill>
                  <a:srgbClr val="D97B4F"/>
                </a:solidFill>
                <a:latin typeface="Calibri" pitchFamily="34" charset="0"/>
                <a:ea typeface="Calibri" pitchFamily="34" charset="-122"/>
                <a:cs typeface="Calibri" pitchFamily="34" charset="-120"/>
              </a:rPr>
              <a:t>AGE</a:t>
            </a:r>
            <a:endParaRPr lang="en-US" sz="850" dirty="0"/>
          </a:p>
        </p:txBody>
      </p:sp>
      <p:sp>
        <p:nvSpPr>
          <p:cNvPr id="10" name="Text 8"/>
          <p:cNvSpPr/>
          <p:nvPr/>
        </p:nvSpPr>
        <p:spPr>
          <a:xfrm>
            <a:off x="594360"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29</a:t>
            </a:r>
            <a:endParaRPr lang="en-US" sz="1050" dirty="0"/>
          </a:p>
        </p:txBody>
      </p:sp>
      <p:sp>
        <p:nvSpPr>
          <p:cNvPr id="11" name="Shape 9"/>
          <p:cNvSpPr/>
          <p:nvPr/>
        </p:nvSpPr>
        <p:spPr>
          <a:xfrm>
            <a:off x="3264408" y="1371600"/>
            <a:ext cx="2688336" cy="621792"/>
          </a:xfrm>
          <a:prstGeom prst="roundRect">
            <a:avLst>
              <a:gd name="adj" fmla="val 13235"/>
            </a:avLst>
          </a:prstGeom>
          <a:solidFill>
            <a:srgbClr val="FDECE0"/>
          </a:solidFill>
          <a:ln/>
        </p:spPr>
      </p:sp>
      <p:sp>
        <p:nvSpPr>
          <p:cNvPr id="12" name="Text 10"/>
          <p:cNvSpPr/>
          <p:nvPr/>
        </p:nvSpPr>
        <p:spPr>
          <a:xfrm>
            <a:off x="3401568" y="1435608"/>
            <a:ext cx="2414016" cy="201168"/>
          </a:xfrm>
          <a:prstGeom prst="rect">
            <a:avLst/>
          </a:prstGeom>
          <a:noFill/>
          <a:ln/>
        </p:spPr>
        <p:txBody>
          <a:bodyPr wrap="square" rtlCol="0" anchor="ctr"/>
          <a:lstStyle/>
          <a:p>
            <a:pPr marL="0" indent="0">
              <a:buNone/>
            </a:pPr>
            <a:r>
              <a:rPr lang="en-US" sz="850" b="1" kern="0" spc="100" dirty="0">
                <a:solidFill>
                  <a:srgbClr val="D97B4F"/>
                </a:solidFill>
                <a:latin typeface="Calibri" pitchFamily="34" charset="0"/>
                <a:ea typeface="Calibri" pitchFamily="34" charset="-122"/>
                <a:cs typeface="Calibri" pitchFamily="34" charset="-120"/>
              </a:rPr>
              <a:t>LOCATION</a:t>
            </a:r>
            <a:endParaRPr lang="en-US" sz="850" dirty="0"/>
          </a:p>
        </p:txBody>
      </p:sp>
      <p:sp>
        <p:nvSpPr>
          <p:cNvPr id="13" name="Text 11"/>
          <p:cNvSpPr/>
          <p:nvPr/>
        </p:nvSpPr>
        <p:spPr>
          <a:xfrm>
            <a:off x="3401568"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Pune, India</a:t>
            </a:r>
            <a:endParaRPr lang="en-US" sz="1050" dirty="0"/>
          </a:p>
        </p:txBody>
      </p:sp>
      <p:sp>
        <p:nvSpPr>
          <p:cNvPr id="14" name="Shape 12"/>
          <p:cNvSpPr/>
          <p:nvPr/>
        </p:nvSpPr>
        <p:spPr>
          <a:xfrm>
            <a:off x="6071616" y="1371600"/>
            <a:ext cx="2688336" cy="621792"/>
          </a:xfrm>
          <a:prstGeom prst="roundRect">
            <a:avLst>
              <a:gd name="adj" fmla="val 13235"/>
            </a:avLst>
          </a:prstGeom>
          <a:solidFill>
            <a:srgbClr val="FDECE0"/>
          </a:solidFill>
          <a:ln/>
        </p:spPr>
      </p:sp>
      <p:sp>
        <p:nvSpPr>
          <p:cNvPr id="15" name="Text 13"/>
          <p:cNvSpPr/>
          <p:nvPr/>
        </p:nvSpPr>
        <p:spPr>
          <a:xfrm>
            <a:off x="6208776" y="1435608"/>
            <a:ext cx="2414016" cy="201168"/>
          </a:xfrm>
          <a:prstGeom prst="rect">
            <a:avLst/>
          </a:prstGeom>
          <a:noFill/>
          <a:ln/>
        </p:spPr>
        <p:txBody>
          <a:bodyPr wrap="square" rtlCol="0" anchor="ctr"/>
          <a:lstStyle/>
          <a:p>
            <a:pPr marL="0" indent="0">
              <a:buNone/>
            </a:pPr>
            <a:r>
              <a:rPr lang="en-US" sz="850" b="1" kern="0" spc="100" dirty="0">
                <a:solidFill>
                  <a:srgbClr val="D97B4F"/>
                </a:solidFill>
                <a:latin typeface="Calibri" pitchFamily="34" charset="0"/>
                <a:ea typeface="Calibri" pitchFamily="34" charset="-122"/>
                <a:cs typeface="Calibri" pitchFamily="34" charset="-120"/>
              </a:rPr>
              <a:t>OCCUPATION</a:t>
            </a:r>
            <a:endParaRPr lang="en-US" sz="850" dirty="0"/>
          </a:p>
        </p:txBody>
      </p:sp>
      <p:sp>
        <p:nvSpPr>
          <p:cNvPr id="16" name="Text 14"/>
          <p:cNvSpPr/>
          <p:nvPr/>
        </p:nvSpPr>
        <p:spPr>
          <a:xfrm>
            <a:off x="6208776"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SEO &amp; long-form content writer</a:t>
            </a:r>
            <a:endParaRPr lang="en-US" sz="1050" dirty="0"/>
          </a:p>
        </p:txBody>
      </p:sp>
      <p:sp>
        <p:nvSpPr>
          <p:cNvPr id="17" name="Shape 15"/>
          <p:cNvSpPr/>
          <p:nvPr/>
        </p:nvSpPr>
        <p:spPr>
          <a:xfrm>
            <a:off x="8878824" y="1371600"/>
            <a:ext cx="2688336" cy="621792"/>
          </a:xfrm>
          <a:prstGeom prst="roundRect">
            <a:avLst>
              <a:gd name="adj" fmla="val 13235"/>
            </a:avLst>
          </a:prstGeom>
          <a:solidFill>
            <a:srgbClr val="FDECE0"/>
          </a:solidFill>
          <a:ln/>
        </p:spPr>
      </p:sp>
      <p:sp>
        <p:nvSpPr>
          <p:cNvPr id="18" name="Text 16"/>
          <p:cNvSpPr/>
          <p:nvPr/>
        </p:nvSpPr>
        <p:spPr>
          <a:xfrm>
            <a:off x="9015984" y="1435608"/>
            <a:ext cx="2414016" cy="201168"/>
          </a:xfrm>
          <a:prstGeom prst="rect">
            <a:avLst/>
          </a:prstGeom>
          <a:noFill/>
          <a:ln/>
        </p:spPr>
        <p:txBody>
          <a:bodyPr wrap="square" rtlCol="0" anchor="ctr"/>
          <a:lstStyle/>
          <a:p>
            <a:pPr marL="0" indent="0">
              <a:buNone/>
            </a:pPr>
            <a:r>
              <a:rPr lang="en-US" sz="850" b="1" kern="0" spc="100" dirty="0">
                <a:solidFill>
                  <a:srgbClr val="D97B4F"/>
                </a:solidFill>
                <a:latin typeface="Calibri" pitchFamily="34" charset="0"/>
                <a:ea typeface="Calibri" pitchFamily="34" charset="-122"/>
                <a:cs typeface="Calibri" pitchFamily="34" charset="-120"/>
              </a:rPr>
              <a:t>PLATFORM USE</a:t>
            </a:r>
            <a:endParaRPr lang="en-US" sz="850" dirty="0"/>
          </a:p>
        </p:txBody>
      </p:sp>
      <p:sp>
        <p:nvSpPr>
          <p:cNvPr id="19" name="Text 17"/>
          <p:cNvSpPr/>
          <p:nvPr/>
        </p:nvSpPr>
        <p:spPr>
          <a:xfrm>
            <a:off x="9015984"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Freelance marketplace + direct clients</a:t>
            </a:r>
            <a:endParaRPr lang="en-US" sz="1050" dirty="0"/>
          </a:p>
        </p:txBody>
      </p:sp>
      <p:sp>
        <p:nvSpPr>
          <p:cNvPr id="20" name="Shape 18"/>
          <p:cNvSpPr/>
          <p:nvPr/>
        </p:nvSpPr>
        <p:spPr>
          <a:xfrm>
            <a:off x="457200" y="2112077"/>
            <a:ext cx="11274552" cy="658368"/>
          </a:xfrm>
          <a:prstGeom prst="roundRect">
            <a:avLst>
              <a:gd name="adj" fmla="val 13889"/>
            </a:avLst>
          </a:prstGeom>
          <a:solidFill>
            <a:schemeClr val="accent1">
              <a:lumMod val="60000"/>
              <a:lumOff val="40000"/>
            </a:schemeClr>
          </a:solidFill>
          <a:ln/>
        </p:spPr>
      </p:sp>
      <p:sp>
        <p:nvSpPr>
          <p:cNvPr id="21" name="Text 19"/>
          <p:cNvSpPr/>
          <p:nvPr/>
        </p:nvSpPr>
        <p:spPr>
          <a:xfrm>
            <a:off x="777240" y="2121408"/>
            <a:ext cx="10607040" cy="658368"/>
          </a:xfrm>
          <a:prstGeom prst="rect">
            <a:avLst/>
          </a:prstGeom>
          <a:noFill/>
          <a:ln/>
        </p:spPr>
        <p:txBody>
          <a:bodyPr wrap="square"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I’ve written for this industry for six years — I shouldn’t have to prove that with three free samples every time.</a:t>
            </a:r>
            <a:endParaRPr lang="en-US" sz="1300" dirty="0"/>
          </a:p>
        </p:txBody>
      </p:sp>
      <p:sp>
        <p:nvSpPr>
          <p:cNvPr id="22" name="Shape 20"/>
          <p:cNvSpPr/>
          <p:nvPr/>
        </p:nvSpPr>
        <p:spPr>
          <a:xfrm>
            <a:off x="457200" y="2926080"/>
            <a:ext cx="5513832" cy="1481328"/>
          </a:xfrm>
          <a:prstGeom prst="roundRect">
            <a:avLst>
              <a:gd name="adj" fmla="val 6173"/>
            </a:avLst>
          </a:prstGeom>
          <a:solidFill>
            <a:srgbClr val="E1F5EC"/>
          </a:solidFill>
          <a:ln/>
        </p:spPr>
      </p:sp>
      <p:sp>
        <p:nvSpPr>
          <p:cNvPr id="23" name="Text 21"/>
          <p:cNvSpPr/>
          <p:nvPr/>
        </p:nvSpPr>
        <p:spPr>
          <a:xfrm>
            <a:off x="658368" y="3035808"/>
            <a:ext cx="3657600" cy="274320"/>
          </a:xfrm>
          <a:prstGeom prst="rect">
            <a:avLst/>
          </a:prstGeom>
          <a:noFill/>
          <a:ln/>
        </p:spPr>
        <p:txBody>
          <a:bodyPr wrap="square" rtlCol="0" anchor="ctr"/>
          <a:lstStyle/>
          <a:p>
            <a:pPr marL="0" indent="0">
              <a:buNone/>
            </a:pPr>
            <a:r>
              <a:rPr lang="en-US" sz="1100" b="1" kern="0" spc="100" dirty="0">
                <a:solidFill>
                  <a:srgbClr val="2FA88A"/>
                </a:solidFill>
                <a:latin typeface="Calibri" pitchFamily="34" charset="0"/>
                <a:ea typeface="Calibri" pitchFamily="34" charset="-122"/>
                <a:cs typeface="Calibri" pitchFamily="34" charset="-120"/>
              </a:rPr>
              <a:t>GOALS</a:t>
            </a:r>
            <a:endParaRPr lang="en-US" sz="1100" dirty="0"/>
          </a:p>
        </p:txBody>
      </p:sp>
      <p:sp>
        <p:nvSpPr>
          <p:cNvPr id="24" name="Text 22"/>
          <p:cNvSpPr/>
          <p:nvPr/>
        </p:nvSpPr>
        <p:spPr>
          <a:xfrm>
            <a:off x="65836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Fewer unpaid “sample” requests before a contract starts</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Feedback rounds tracked in one place, not email and chat</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Recognition for niche expertise, not just word count</a:t>
            </a:r>
            <a:endParaRPr lang="en-US" sz="1050" dirty="0"/>
          </a:p>
        </p:txBody>
      </p:sp>
      <p:sp>
        <p:nvSpPr>
          <p:cNvPr id="25" name="Shape 23"/>
          <p:cNvSpPr/>
          <p:nvPr/>
        </p:nvSpPr>
        <p:spPr>
          <a:xfrm>
            <a:off x="6217920" y="2926080"/>
            <a:ext cx="5513832" cy="1481328"/>
          </a:xfrm>
          <a:prstGeom prst="roundRect">
            <a:avLst>
              <a:gd name="adj" fmla="val 6173"/>
            </a:avLst>
          </a:prstGeom>
          <a:solidFill>
            <a:srgbClr val="FDECE0"/>
          </a:solidFill>
          <a:ln/>
        </p:spPr>
      </p:sp>
      <p:sp>
        <p:nvSpPr>
          <p:cNvPr id="26" name="Text 24"/>
          <p:cNvSpPr/>
          <p:nvPr/>
        </p:nvSpPr>
        <p:spPr>
          <a:xfrm>
            <a:off x="6419088" y="3035808"/>
            <a:ext cx="3657600" cy="274320"/>
          </a:xfrm>
          <a:prstGeom prst="rect">
            <a:avLst/>
          </a:prstGeom>
          <a:noFill/>
          <a:ln/>
        </p:spPr>
        <p:txBody>
          <a:bodyPr wrap="square" rtlCol="0" anchor="ctr"/>
          <a:lstStyle/>
          <a:p>
            <a:pPr marL="0" indent="0">
              <a:buNone/>
            </a:pPr>
            <a:r>
              <a:rPr lang="en-US" sz="1100" b="1" kern="0" spc="100" dirty="0">
                <a:solidFill>
                  <a:srgbClr val="D97B4F"/>
                </a:solidFill>
                <a:latin typeface="Calibri" pitchFamily="34" charset="0"/>
                <a:ea typeface="Calibri" pitchFamily="34" charset="-122"/>
                <a:cs typeface="Calibri" pitchFamily="34" charset="-120"/>
              </a:rPr>
              <a:t>FRUSTRATIONS</a:t>
            </a:r>
            <a:endParaRPr lang="en-US" sz="1100" dirty="0"/>
          </a:p>
        </p:txBody>
      </p:sp>
      <p:sp>
        <p:nvSpPr>
          <p:cNvPr id="27" name="Text 25"/>
          <p:cNvSpPr/>
          <p:nvPr/>
        </p:nvSpPr>
        <p:spPr>
          <a:xfrm>
            <a:off x="641908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Clients want 2–3 free samples before committing</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Feedback arrives in fragments; unclear which round is final</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Rate matched to word count, not research depth</a:t>
            </a:r>
            <a:endParaRPr lang="en-US" sz="1050" dirty="0"/>
          </a:p>
        </p:txBody>
      </p:sp>
      <p:sp>
        <p:nvSpPr>
          <p:cNvPr id="28" name="Shape 26"/>
          <p:cNvSpPr/>
          <p:nvPr/>
        </p:nvSpPr>
        <p:spPr>
          <a:xfrm>
            <a:off x="457200" y="4608576"/>
            <a:ext cx="3636264" cy="1417320"/>
          </a:xfrm>
          <a:prstGeom prst="roundRect">
            <a:avLst>
              <a:gd name="adj" fmla="val 6452"/>
            </a:avLst>
          </a:prstGeom>
          <a:solidFill>
            <a:srgbClr val="E7F2FB"/>
          </a:solidFill>
          <a:ln/>
        </p:spPr>
      </p:sp>
      <p:sp>
        <p:nvSpPr>
          <p:cNvPr id="29" name="Text 27"/>
          <p:cNvSpPr/>
          <p:nvPr/>
        </p:nvSpPr>
        <p:spPr>
          <a:xfrm>
            <a:off x="640080" y="4718304"/>
            <a:ext cx="3270504" cy="256032"/>
          </a:xfrm>
          <a:prstGeom prst="rect">
            <a:avLst/>
          </a:prstGeom>
          <a:noFill/>
          <a:ln/>
        </p:spPr>
        <p:txBody>
          <a:bodyPr wrap="square" rtlCol="0" anchor="ctr"/>
          <a:lstStyle/>
          <a:p>
            <a:pPr marL="0" indent="0">
              <a:buNone/>
            </a:pPr>
            <a:r>
              <a:rPr lang="en-US" sz="1050" b="1" kern="0" spc="100" dirty="0">
                <a:solidFill>
                  <a:srgbClr val="3E7CB1"/>
                </a:solidFill>
                <a:latin typeface="Calibri" pitchFamily="34" charset="0"/>
                <a:ea typeface="Calibri" pitchFamily="34" charset="-122"/>
                <a:cs typeface="Calibri" pitchFamily="34" charset="-120"/>
              </a:rPr>
              <a:t>ACTIONS</a:t>
            </a:r>
            <a:endParaRPr lang="en-US" sz="1050" dirty="0"/>
          </a:p>
        </p:txBody>
      </p:sp>
      <p:sp>
        <p:nvSpPr>
          <p:cNvPr id="30" name="Text 28"/>
          <p:cNvSpPr/>
          <p:nvPr/>
        </p:nvSpPr>
        <p:spPr>
          <a:xfrm>
            <a:off x="640080" y="5010912"/>
            <a:ext cx="3270504" cy="914400"/>
          </a:xfrm>
          <a:prstGeom prst="rect">
            <a:avLst/>
          </a:prstGeom>
          <a:noFill/>
          <a:ln/>
        </p:spPr>
        <p:txBody>
          <a:bodyPr wrap="square" rtlCol="0" anchor="t"/>
          <a:lstStyle/>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Offers one paid trial article instead of free samples</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Keeps a shared doc link for all client feedback in one thread</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Tracks niche projects separately to show specialization</a:t>
            </a:r>
            <a:endParaRPr lang="en-US" sz="950" dirty="0"/>
          </a:p>
        </p:txBody>
      </p:sp>
      <p:sp>
        <p:nvSpPr>
          <p:cNvPr id="31" name="Shape 29"/>
          <p:cNvSpPr/>
          <p:nvPr/>
        </p:nvSpPr>
        <p:spPr>
          <a:xfrm>
            <a:off x="4276344" y="4608576"/>
            <a:ext cx="3636264" cy="1417320"/>
          </a:xfrm>
          <a:prstGeom prst="roundRect">
            <a:avLst>
              <a:gd name="adj" fmla="val 6452"/>
            </a:avLst>
          </a:prstGeom>
          <a:solidFill>
            <a:srgbClr val="EFEBFA"/>
          </a:solidFill>
          <a:ln/>
        </p:spPr>
      </p:sp>
      <p:sp>
        <p:nvSpPr>
          <p:cNvPr id="32" name="Text 30"/>
          <p:cNvSpPr/>
          <p:nvPr/>
        </p:nvSpPr>
        <p:spPr>
          <a:xfrm>
            <a:off x="4459224" y="4718304"/>
            <a:ext cx="3270504" cy="256032"/>
          </a:xfrm>
          <a:prstGeom prst="rect">
            <a:avLst/>
          </a:prstGeom>
          <a:noFill/>
          <a:ln/>
        </p:spPr>
        <p:txBody>
          <a:bodyPr wrap="square" rtlCol="0" anchor="ctr"/>
          <a:lstStyle/>
          <a:p>
            <a:pPr marL="0" indent="0">
              <a:buNone/>
            </a:pPr>
            <a:r>
              <a:rPr lang="en-US" sz="1050" b="1" kern="0" spc="100" dirty="0">
                <a:solidFill>
                  <a:srgbClr val="6C5CBF"/>
                </a:solidFill>
                <a:latin typeface="Calibri" pitchFamily="34" charset="0"/>
                <a:ea typeface="Calibri" pitchFamily="34" charset="-122"/>
                <a:cs typeface="Calibri" pitchFamily="34" charset="-120"/>
              </a:rPr>
              <a:t>FEELINGS</a:t>
            </a:r>
            <a:endParaRPr lang="en-US" sz="1050" dirty="0"/>
          </a:p>
        </p:txBody>
      </p:sp>
      <p:sp>
        <p:nvSpPr>
          <p:cNvPr id="33" name="Text 31"/>
          <p:cNvSpPr/>
          <p:nvPr/>
        </p:nvSpPr>
        <p:spPr>
          <a:xfrm>
            <a:off x="4459224"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Proud showing niche expertise; drained repeating the same free-sample cycle with new clients.</a:t>
            </a:r>
            <a:endParaRPr lang="en-US" sz="950" dirty="0"/>
          </a:p>
        </p:txBody>
      </p:sp>
      <p:sp>
        <p:nvSpPr>
          <p:cNvPr id="34" name="Shape 32"/>
          <p:cNvSpPr/>
          <p:nvPr/>
        </p:nvSpPr>
        <p:spPr>
          <a:xfrm>
            <a:off x="8095488" y="4608576"/>
            <a:ext cx="3636264" cy="1417320"/>
          </a:xfrm>
          <a:prstGeom prst="roundRect">
            <a:avLst>
              <a:gd name="adj" fmla="val 6452"/>
            </a:avLst>
          </a:prstGeom>
          <a:solidFill>
            <a:srgbClr val="FDECE0"/>
          </a:solidFill>
          <a:ln/>
        </p:spPr>
      </p:sp>
      <p:sp>
        <p:nvSpPr>
          <p:cNvPr id="35" name="Text 33"/>
          <p:cNvSpPr/>
          <p:nvPr/>
        </p:nvSpPr>
        <p:spPr>
          <a:xfrm>
            <a:off x="8278368" y="4718304"/>
            <a:ext cx="3270504" cy="256032"/>
          </a:xfrm>
          <a:prstGeom prst="rect">
            <a:avLst/>
          </a:prstGeom>
          <a:noFill/>
          <a:ln/>
        </p:spPr>
        <p:txBody>
          <a:bodyPr wrap="square" rtlCol="0" anchor="ctr"/>
          <a:lstStyle/>
          <a:p>
            <a:pPr marL="0" indent="0">
              <a:buNone/>
            </a:pPr>
            <a:r>
              <a:rPr lang="en-US" sz="1050" b="1" kern="0" spc="100" dirty="0">
                <a:solidFill>
                  <a:srgbClr val="D97B4F"/>
                </a:solidFill>
                <a:latin typeface="Calibri" pitchFamily="34" charset="0"/>
                <a:ea typeface="Calibri" pitchFamily="34" charset="-122"/>
                <a:cs typeface="Calibri" pitchFamily="34" charset="-120"/>
              </a:rPr>
              <a:t>OPPORTUNITY</a:t>
            </a:r>
            <a:endParaRPr lang="en-US" sz="1050" dirty="0"/>
          </a:p>
        </p:txBody>
      </p:sp>
      <p:sp>
        <p:nvSpPr>
          <p:cNvPr id="36" name="Text 34"/>
          <p:cNvSpPr/>
          <p:nvPr/>
        </p:nvSpPr>
        <p:spPr>
          <a:xfrm>
            <a:off x="8278368"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A “verified expertise” badge tied to completed projects in a specific niche, replacing free samples.</a:t>
            </a:r>
            <a:endParaRPr lang="en-US" sz="950" dirty="0"/>
          </a:p>
        </p:txBody>
      </p:sp>
      <p:sp>
        <p:nvSpPr>
          <p:cNvPr id="38" name="Text 36"/>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868680"/>
          </a:xfrm>
          <a:prstGeom prst="ellipse">
            <a:avLst/>
          </a:prstGeom>
          <a:solidFill>
            <a:srgbClr val="A8E6CF"/>
          </a:solidFill>
          <a:ln/>
        </p:spPr>
      </p:sp>
      <p:sp>
        <p:nvSpPr>
          <p:cNvPr id="3" name="Text 1"/>
          <p:cNvSpPr/>
          <p:nvPr/>
        </p:nvSpPr>
        <p:spPr>
          <a:xfrm>
            <a:off x="457200" y="384048"/>
            <a:ext cx="868680" cy="868680"/>
          </a:xfrm>
          <a:prstGeom prst="rect">
            <a:avLst/>
          </a:prstGeom>
          <a:noFill/>
          <a:ln/>
        </p:spPr>
        <p:txBody>
          <a:bodyPr wrap="square"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RD</a:t>
            </a:r>
            <a:endParaRPr lang="en-US" sz="2000" dirty="0"/>
          </a:p>
        </p:txBody>
      </p:sp>
      <p:sp>
        <p:nvSpPr>
          <p:cNvPr id="4" name="Text 2"/>
          <p:cNvSpPr/>
          <p:nvPr/>
        </p:nvSpPr>
        <p:spPr>
          <a:xfrm>
            <a:off x="1508760" y="365760"/>
            <a:ext cx="6858000" cy="45720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Rohan Das</a:t>
            </a:r>
            <a:endParaRPr lang="en-US" sz="2400" dirty="0"/>
          </a:p>
        </p:txBody>
      </p:sp>
      <p:sp>
        <p:nvSpPr>
          <p:cNvPr id="5" name="Text 3"/>
          <p:cNvSpPr/>
          <p:nvPr/>
        </p:nvSpPr>
        <p:spPr>
          <a:xfrm>
            <a:off x="1508760" y="777240"/>
            <a:ext cx="7315200" cy="365760"/>
          </a:xfrm>
          <a:prstGeom prst="rect">
            <a:avLst/>
          </a:prstGeom>
          <a:noFill/>
          <a:ln/>
        </p:spPr>
        <p:txBody>
          <a:bodyPr wrap="square" rtlCol="0" anchor="ctr"/>
          <a:lstStyle/>
          <a:p>
            <a:pPr marL="0" indent="0">
              <a:buNone/>
            </a:pPr>
            <a:r>
              <a:rPr lang="en-US" sz="1300" b="1" dirty="0">
                <a:solidFill>
                  <a:srgbClr val="2FA88A"/>
                </a:solidFill>
                <a:latin typeface="Calibri" pitchFamily="34" charset="0"/>
                <a:ea typeface="Calibri" pitchFamily="34" charset="-122"/>
                <a:cs typeface="Calibri" pitchFamily="34" charset="-120"/>
              </a:rPr>
              <a:t>Freelance Video Editor • New-to-Platform Freelancer</a:t>
            </a:r>
            <a:endParaRPr lang="en-US" sz="1300" dirty="0"/>
          </a:p>
        </p:txBody>
      </p:sp>
      <p:sp>
        <p:nvSpPr>
          <p:cNvPr id="6" name="Shape 4"/>
          <p:cNvSpPr/>
          <p:nvPr/>
        </p:nvSpPr>
        <p:spPr>
          <a:xfrm>
            <a:off x="9966960" y="457200"/>
            <a:ext cx="1737360" cy="365760"/>
          </a:xfrm>
          <a:prstGeom prst="roundRect">
            <a:avLst>
              <a:gd name="adj" fmla="val 50000"/>
            </a:avLst>
          </a:prstGeom>
          <a:solidFill>
            <a:srgbClr val="E1F5EC"/>
          </a:solidFill>
          <a:ln/>
        </p:spPr>
      </p:sp>
      <p:sp>
        <p:nvSpPr>
          <p:cNvPr id="7" name="Text 5"/>
          <p:cNvSpPr/>
          <p:nvPr/>
        </p:nvSpPr>
        <p:spPr>
          <a:xfrm>
            <a:off x="9966960" y="457200"/>
            <a:ext cx="1737360" cy="365760"/>
          </a:xfrm>
          <a:prstGeom prst="rect">
            <a:avLst/>
          </a:prstGeom>
          <a:noFill/>
          <a:ln/>
        </p:spPr>
        <p:txBody>
          <a:bodyPr wrap="square" rtlCol="0" anchor="ctr"/>
          <a:lstStyle/>
          <a:p>
            <a:pPr marL="0" indent="0" algn="ctr">
              <a:buNone/>
            </a:pPr>
            <a:r>
              <a:rPr lang="en-US" sz="1100" b="1" dirty="0">
                <a:solidFill>
                  <a:srgbClr val="2FA88A"/>
                </a:solidFill>
                <a:latin typeface="Calibri" pitchFamily="34" charset="0"/>
                <a:ea typeface="Calibri" pitchFamily="34" charset="-122"/>
                <a:cs typeface="Calibri" pitchFamily="34" charset="-120"/>
              </a:rPr>
              <a:t>Persona 4 of 5</a:t>
            </a:r>
            <a:endParaRPr lang="en-US" sz="1100" dirty="0"/>
          </a:p>
        </p:txBody>
      </p:sp>
      <p:sp>
        <p:nvSpPr>
          <p:cNvPr id="8" name="Shape 6"/>
          <p:cNvSpPr/>
          <p:nvPr/>
        </p:nvSpPr>
        <p:spPr>
          <a:xfrm>
            <a:off x="457200" y="1371600"/>
            <a:ext cx="2688336" cy="621792"/>
          </a:xfrm>
          <a:prstGeom prst="roundRect">
            <a:avLst>
              <a:gd name="adj" fmla="val 13235"/>
            </a:avLst>
          </a:prstGeom>
          <a:solidFill>
            <a:srgbClr val="E1F5EC"/>
          </a:solidFill>
          <a:ln/>
        </p:spPr>
      </p:sp>
      <p:sp>
        <p:nvSpPr>
          <p:cNvPr id="9" name="Text 7"/>
          <p:cNvSpPr/>
          <p:nvPr/>
        </p:nvSpPr>
        <p:spPr>
          <a:xfrm>
            <a:off x="594360" y="1435608"/>
            <a:ext cx="2414016" cy="201168"/>
          </a:xfrm>
          <a:prstGeom prst="rect">
            <a:avLst/>
          </a:prstGeom>
          <a:noFill/>
          <a:ln/>
        </p:spPr>
        <p:txBody>
          <a:bodyPr wrap="square" rtlCol="0" anchor="ctr"/>
          <a:lstStyle/>
          <a:p>
            <a:pPr marL="0" indent="0">
              <a:buNone/>
            </a:pPr>
            <a:r>
              <a:rPr lang="en-US" sz="850" b="1" kern="0" spc="100" dirty="0">
                <a:solidFill>
                  <a:srgbClr val="2FA88A"/>
                </a:solidFill>
                <a:latin typeface="Calibri" pitchFamily="34" charset="0"/>
                <a:ea typeface="Calibri" pitchFamily="34" charset="-122"/>
                <a:cs typeface="Calibri" pitchFamily="34" charset="-120"/>
              </a:rPr>
              <a:t>AGE</a:t>
            </a:r>
            <a:endParaRPr lang="en-US" sz="850" dirty="0"/>
          </a:p>
        </p:txBody>
      </p:sp>
      <p:sp>
        <p:nvSpPr>
          <p:cNvPr id="10" name="Text 8"/>
          <p:cNvSpPr/>
          <p:nvPr/>
        </p:nvSpPr>
        <p:spPr>
          <a:xfrm>
            <a:off x="594360"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24</a:t>
            </a:r>
            <a:endParaRPr lang="en-US" sz="1050" dirty="0"/>
          </a:p>
        </p:txBody>
      </p:sp>
      <p:sp>
        <p:nvSpPr>
          <p:cNvPr id="11" name="Shape 9"/>
          <p:cNvSpPr/>
          <p:nvPr/>
        </p:nvSpPr>
        <p:spPr>
          <a:xfrm>
            <a:off x="3264408" y="1371600"/>
            <a:ext cx="2688336" cy="621792"/>
          </a:xfrm>
          <a:prstGeom prst="roundRect">
            <a:avLst>
              <a:gd name="adj" fmla="val 13235"/>
            </a:avLst>
          </a:prstGeom>
          <a:solidFill>
            <a:srgbClr val="E1F5EC"/>
          </a:solidFill>
          <a:ln/>
        </p:spPr>
      </p:sp>
      <p:sp>
        <p:nvSpPr>
          <p:cNvPr id="12" name="Text 10"/>
          <p:cNvSpPr/>
          <p:nvPr/>
        </p:nvSpPr>
        <p:spPr>
          <a:xfrm>
            <a:off x="3401568" y="1435608"/>
            <a:ext cx="2414016" cy="201168"/>
          </a:xfrm>
          <a:prstGeom prst="rect">
            <a:avLst/>
          </a:prstGeom>
          <a:noFill/>
          <a:ln/>
        </p:spPr>
        <p:txBody>
          <a:bodyPr wrap="square" rtlCol="0" anchor="ctr"/>
          <a:lstStyle/>
          <a:p>
            <a:pPr marL="0" indent="0">
              <a:buNone/>
            </a:pPr>
            <a:r>
              <a:rPr lang="en-US" sz="850" b="1" kern="0" spc="100" dirty="0">
                <a:solidFill>
                  <a:srgbClr val="2FA88A"/>
                </a:solidFill>
                <a:latin typeface="Calibri" pitchFamily="34" charset="0"/>
                <a:ea typeface="Calibri" pitchFamily="34" charset="-122"/>
                <a:cs typeface="Calibri" pitchFamily="34" charset="-120"/>
              </a:rPr>
              <a:t>LOCATION</a:t>
            </a:r>
            <a:endParaRPr lang="en-US" sz="850" dirty="0"/>
          </a:p>
        </p:txBody>
      </p:sp>
      <p:sp>
        <p:nvSpPr>
          <p:cNvPr id="13" name="Text 11"/>
          <p:cNvSpPr/>
          <p:nvPr/>
        </p:nvSpPr>
        <p:spPr>
          <a:xfrm>
            <a:off x="3401568"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Kolkata, India</a:t>
            </a:r>
            <a:endParaRPr lang="en-US" sz="1050" dirty="0"/>
          </a:p>
        </p:txBody>
      </p:sp>
      <p:sp>
        <p:nvSpPr>
          <p:cNvPr id="14" name="Shape 12"/>
          <p:cNvSpPr/>
          <p:nvPr/>
        </p:nvSpPr>
        <p:spPr>
          <a:xfrm>
            <a:off x="6071616" y="1371600"/>
            <a:ext cx="2688336" cy="621792"/>
          </a:xfrm>
          <a:prstGeom prst="roundRect">
            <a:avLst>
              <a:gd name="adj" fmla="val 13235"/>
            </a:avLst>
          </a:prstGeom>
          <a:solidFill>
            <a:srgbClr val="E1F5EC"/>
          </a:solidFill>
          <a:ln/>
        </p:spPr>
      </p:sp>
      <p:sp>
        <p:nvSpPr>
          <p:cNvPr id="15" name="Text 13"/>
          <p:cNvSpPr/>
          <p:nvPr/>
        </p:nvSpPr>
        <p:spPr>
          <a:xfrm>
            <a:off x="6208776" y="1435608"/>
            <a:ext cx="2414016" cy="201168"/>
          </a:xfrm>
          <a:prstGeom prst="rect">
            <a:avLst/>
          </a:prstGeom>
          <a:noFill/>
          <a:ln/>
        </p:spPr>
        <p:txBody>
          <a:bodyPr wrap="square" rtlCol="0" anchor="ctr"/>
          <a:lstStyle/>
          <a:p>
            <a:pPr marL="0" indent="0">
              <a:buNone/>
            </a:pPr>
            <a:r>
              <a:rPr lang="en-US" sz="850" b="1" kern="0" spc="100" dirty="0">
                <a:solidFill>
                  <a:srgbClr val="2FA88A"/>
                </a:solidFill>
                <a:latin typeface="Calibri" pitchFamily="34" charset="0"/>
                <a:ea typeface="Calibri" pitchFamily="34" charset="-122"/>
                <a:cs typeface="Calibri" pitchFamily="34" charset="-120"/>
              </a:rPr>
              <a:t>OCCUPATION</a:t>
            </a:r>
            <a:endParaRPr lang="en-US" sz="850" dirty="0"/>
          </a:p>
        </p:txBody>
      </p:sp>
      <p:sp>
        <p:nvSpPr>
          <p:cNvPr id="16" name="Text 14"/>
          <p:cNvSpPr/>
          <p:nvPr/>
        </p:nvSpPr>
        <p:spPr>
          <a:xfrm>
            <a:off x="6208776"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Freelance video editor</a:t>
            </a:r>
            <a:endParaRPr lang="en-US" sz="1050" dirty="0"/>
          </a:p>
        </p:txBody>
      </p:sp>
      <p:sp>
        <p:nvSpPr>
          <p:cNvPr id="17" name="Shape 15"/>
          <p:cNvSpPr/>
          <p:nvPr/>
        </p:nvSpPr>
        <p:spPr>
          <a:xfrm>
            <a:off x="8878824" y="1371600"/>
            <a:ext cx="2688336" cy="621792"/>
          </a:xfrm>
          <a:prstGeom prst="roundRect">
            <a:avLst>
              <a:gd name="adj" fmla="val 13235"/>
            </a:avLst>
          </a:prstGeom>
          <a:solidFill>
            <a:srgbClr val="E1F5EC"/>
          </a:solidFill>
          <a:ln/>
        </p:spPr>
      </p:sp>
      <p:sp>
        <p:nvSpPr>
          <p:cNvPr id="18" name="Text 16"/>
          <p:cNvSpPr/>
          <p:nvPr/>
        </p:nvSpPr>
        <p:spPr>
          <a:xfrm>
            <a:off x="9015984" y="1435608"/>
            <a:ext cx="2414016" cy="201168"/>
          </a:xfrm>
          <a:prstGeom prst="rect">
            <a:avLst/>
          </a:prstGeom>
          <a:noFill/>
          <a:ln/>
        </p:spPr>
        <p:txBody>
          <a:bodyPr wrap="square" rtlCol="0" anchor="ctr"/>
          <a:lstStyle/>
          <a:p>
            <a:pPr marL="0" indent="0">
              <a:buNone/>
            </a:pPr>
            <a:r>
              <a:rPr lang="en-US" sz="850" b="1" kern="0" spc="100" dirty="0">
                <a:solidFill>
                  <a:srgbClr val="2FA88A"/>
                </a:solidFill>
                <a:latin typeface="Calibri" pitchFamily="34" charset="0"/>
                <a:ea typeface="Calibri" pitchFamily="34" charset="-122"/>
                <a:cs typeface="Calibri" pitchFamily="34" charset="-120"/>
              </a:rPr>
              <a:t>PLATFORM USE</a:t>
            </a:r>
            <a:endParaRPr lang="en-US" sz="850" dirty="0"/>
          </a:p>
        </p:txBody>
      </p:sp>
      <p:sp>
        <p:nvSpPr>
          <p:cNvPr id="19" name="Text 17"/>
          <p:cNvSpPr/>
          <p:nvPr/>
        </p:nvSpPr>
        <p:spPr>
          <a:xfrm>
            <a:off x="9015984"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New Upwork profile, 2 months in</a:t>
            </a:r>
            <a:endParaRPr lang="en-US" sz="1050" dirty="0"/>
          </a:p>
        </p:txBody>
      </p:sp>
      <p:sp>
        <p:nvSpPr>
          <p:cNvPr id="20" name="Shape 18"/>
          <p:cNvSpPr/>
          <p:nvPr/>
        </p:nvSpPr>
        <p:spPr>
          <a:xfrm>
            <a:off x="457200" y="2121408"/>
            <a:ext cx="11274552" cy="658368"/>
          </a:xfrm>
          <a:prstGeom prst="roundRect">
            <a:avLst>
              <a:gd name="adj" fmla="val 13889"/>
            </a:avLst>
          </a:prstGeom>
          <a:solidFill>
            <a:schemeClr val="accent5">
              <a:lumMod val="60000"/>
              <a:lumOff val="40000"/>
            </a:schemeClr>
          </a:solidFill>
          <a:ln/>
        </p:spPr>
      </p:sp>
      <p:sp>
        <p:nvSpPr>
          <p:cNvPr id="21" name="Text 19"/>
          <p:cNvSpPr/>
          <p:nvPr/>
        </p:nvSpPr>
        <p:spPr>
          <a:xfrm>
            <a:off x="777240" y="2121408"/>
            <a:ext cx="10607040" cy="658368"/>
          </a:xfrm>
          <a:prstGeom prst="rect">
            <a:avLst/>
          </a:prstGeom>
          <a:noFill/>
          <a:ln/>
        </p:spPr>
        <p:txBody>
          <a:bodyPr wrap="square"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Everyone wants proof I’m good, but no one wants to be the first client who takes a chance.</a:t>
            </a:r>
            <a:endParaRPr lang="en-US" sz="1300" dirty="0"/>
          </a:p>
        </p:txBody>
      </p:sp>
      <p:sp>
        <p:nvSpPr>
          <p:cNvPr id="22" name="Shape 20"/>
          <p:cNvSpPr/>
          <p:nvPr/>
        </p:nvSpPr>
        <p:spPr>
          <a:xfrm>
            <a:off x="457200" y="2926080"/>
            <a:ext cx="5513832" cy="1481328"/>
          </a:xfrm>
          <a:prstGeom prst="roundRect">
            <a:avLst>
              <a:gd name="adj" fmla="val 6173"/>
            </a:avLst>
          </a:prstGeom>
          <a:solidFill>
            <a:srgbClr val="E1F5EC"/>
          </a:solidFill>
          <a:ln/>
        </p:spPr>
      </p:sp>
      <p:sp>
        <p:nvSpPr>
          <p:cNvPr id="23" name="Text 21"/>
          <p:cNvSpPr/>
          <p:nvPr/>
        </p:nvSpPr>
        <p:spPr>
          <a:xfrm>
            <a:off x="658368" y="3035808"/>
            <a:ext cx="3657600" cy="274320"/>
          </a:xfrm>
          <a:prstGeom prst="rect">
            <a:avLst/>
          </a:prstGeom>
          <a:noFill/>
          <a:ln/>
        </p:spPr>
        <p:txBody>
          <a:bodyPr wrap="square" rtlCol="0" anchor="ctr"/>
          <a:lstStyle/>
          <a:p>
            <a:pPr marL="0" indent="0">
              <a:buNone/>
            </a:pPr>
            <a:r>
              <a:rPr lang="en-US" sz="1100" b="1" kern="0" spc="100" dirty="0">
                <a:solidFill>
                  <a:srgbClr val="2FA88A"/>
                </a:solidFill>
                <a:latin typeface="Calibri" pitchFamily="34" charset="0"/>
                <a:ea typeface="Calibri" pitchFamily="34" charset="-122"/>
                <a:cs typeface="Calibri" pitchFamily="34" charset="-120"/>
              </a:rPr>
              <a:t>GOALS</a:t>
            </a:r>
            <a:endParaRPr lang="en-US" sz="1100" dirty="0"/>
          </a:p>
        </p:txBody>
      </p:sp>
      <p:sp>
        <p:nvSpPr>
          <p:cNvPr id="24" name="Text 22"/>
          <p:cNvSpPr/>
          <p:nvPr/>
        </p:nvSpPr>
        <p:spPr>
          <a:xfrm>
            <a:off x="65836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Visibility for a new profile despite zero reviews yet</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A way to show sample edits without giving away full projects</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Clear next steps after a client goes silent</a:t>
            </a:r>
            <a:endParaRPr lang="en-US" sz="1050" dirty="0"/>
          </a:p>
        </p:txBody>
      </p:sp>
      <p:sp>
        <p:nvSpPr>
          <p:cNvPr id="25" name="Shape 23"/>
          <p:cNvSpPr/>
          <p:nvPr/>
        </p:nvSpPr>
        <p:spPr>
          <a:xfrm>
            <a:off x="6217920" y="2926080"/>
            <a:ext cx="5513832" cy="1481328"/>
          </a:xfrm>
          <a:prstGeom prst="roundRect">
            <a:avLst>
              <a:gd name="adj" fmla="val 6173"/>
            </a:avLst>
          </a:prstGeom>
          <a:solidFill>
            <a:srgbClr val="FDECE0"/>
          </a:solidFill>
          <a:ln/>
        </p:spPr>
      </p:sp>
      <p:sp>
        <p:nvSpPr>
          <p:cNvPr id="26" name="Text 24"/>
          <p:cNvSpPr/>
          <p:nvPr/>
        </p:nvSpPr>
        <p:spPr>
          <a:xfrm>
            <a:off x="6419088" y="3035808"/>
            <a:ext cx="3657600" cy="274320"/>
          </a:xfrm>
          <a:prstGeom prst="rect">
            <a:avLst/>
          </a:prstGeom>
          <a:noFill/>
          <a:ln/>
        </p:spPr>
        <p:txBody>
          <a:bodyPr wrap="square" rtlCol="0" anchor="ctr"/>
          <a:lstStyle/>
          <a:p>
            <a:pPr marL="0" indent="0">
              <a:buNone/>
            </a:pPr>
            <a:r>
              <a:rPr lang="en-US" sz="1100" b="1" kern="0" spc="100" dirty="0">
                <a:solidFill>
                  <a:srgbClr val="D97B4F"/>
                </a:solidFill>
                <a:latin typeface="Calibri" pitchFamily="34" charset="0"/>
                <a:ea typeface="Calibri" pitchFamily="34" charset="-122"/>
                <a:cs typeface="Calibri" pitchFamily="34" charset="-120"/>
              </a:rPr>
              <a:t>FRUSTRATIONS</a:t>
            </a:r>
            <a:endParaRPr lang="en-US" sz="1100" dirty="0"/>
          </a:p>
        </p:txBody>
      </p:sp>
      <p:sp>
        <p:nvSpPr>
          <p:cNvPr id="27" name="Text 25"/>
          <p:cNvSpPr/>
          <p:nvPr/>
        </p:nvSpPr>
        <p:spPr>
          <a:xfrm>
            <a:off x="641908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Zero reviews means near-invisible in search results</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Clients ask for a full trial edit with no guarantee of hire</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No signal on whether a quiet client is deciding or gone</a:t>
            </a:r>
            <a:endParaRPr lang="en-US" sz="1050" dirty="0"/>
          </a:p>
        </p:txBody>
      </p:sp>
      <p:sp>
        <p:nvSpPr>
          <p:cNvPr id="28" name="Shape 26"/>
          <p:cNvSpPr/>
          <p:nvPr/>
        </p:nvSpPr>
        <p:spPr>
          <a:xfrm>
            <a:off x="457200" y="4608576"/>
            <a:ext cx="3636264" cy="1417320"/>
          </a:xfrm>
          <a:prstGeom prst="roundRect">
            <a:avLst>
              <a:gd name="adj" fmla="val 6452"/>
            </a:avLst>
          </a:prstGeom>
          <a:solidFill>
            <a:srgbClr val="E7F2FB"/>
          </a:solidFill>
          <a:ln/>
        </p:spPr>
      </p:sp>
      <p:sp>
        <p:nvSpPr>
          <p:cNvPr id="29" name="Text 27"/>
          <p:cNvSpPr/>
          <p:nvPr/>
        </p:nvSpPr>
        <p:spPr>
          <a:xfrm>
            <a:off x="640080" y="4718304"/>
            <a:ext cx="3270504" cy="256032"/>
          </a:xfrm>
          <a:prstGeom prst="rect">
            <a:avLst/>
          </a:prstGeom>
          <a:noFill/>
          <a:ln/>
        </p:spPr>
        <p:txBody>
          <a:bodyPr wrap="square" rtlCol="0" anchor="ctr"/>
          <a:lstStyle/>
          <a:p>
            <a:pPr marL="0" indent="0">
              <a:buNone/>
            </a:pPr>
            <a:r>
              <a:rPr lang="en-US" sz="1050" b="1" kern="0" spc="100" dirty="0">
                <a:solidFill>
                  <a:srgbClr val="3E7CB1"/>
                </a:solidFill>
                <a:latin typeface="Calibri" pitchFamily="34" charset="0"/>
                <a:ea typeface="Calibri" pitchFamily="34" charset="-122"/>
                <a:cs typeface="Calibri" pitchFamily="34" charset="-120"/>
              </a:rPr>
              <a:t>ACTIONS</a:t>
            </a:r>
            <a:endParaRPr lang="en-US" sz="1050" dirty="0"/>
          </a:p>
        </p:txBody>
      </p:sp>
      <p:sp>
        <p:nvSpPr>
          <p:cNvPr id="30" name="Text 28"/>
          <p:cNvSpPr/>
          <p:nvPr/>
        </p:nvSpPr>
        <p:spPr>
          <a:xfrm>
            <a:off x="640080" y="5010912"/>
            <a:ext cx="3270504" cy="914400"/>
          </a:xfrm>
          <a:prstGeom prst="rect">
            <a:avLst/>
          </a:prstGeom>
          <a:noFill/>
          <a:ln/>
        </p:spPr>
        <p:txBody>
          <a:bodyPr wrap="square" rtlCol="0" anchor="t"/>
          <a:lstStyle/>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Applies to 10+ small jobs a week to build initial reviews</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Offers a short unpaid teaser edit only for serious leads</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Checks his response-rate score obsessively</a:t>
            </a:r>
            <a:endParaRPr lang="en-US" sz="950" dirty="0"/>
          </a:p>
        </p:txBody>
      </p:sp>
      <p:sp>
        <p:nvSpPr>
          <p:cNvPr id="31" name="Shape 29"/>
          <p:cNvSpPr/>
          <p:nvPr/>
        </p:nvSpPr>
        <p:spPr>
          <a:xfrm>
            <a:off x="4276344" y="4608576"/>
            <a:ext cx="3636264" cy="1417320"/>
          </a:xfrm>
          <a:prstGeom prst="roundRect">
            <a:avLst>
              <a:gd name="adj" fmla="val 6452"/>
            </a:avLst>
          </a:prstGeom>
          <a:solidFill>
            <a:srgbClr val="EFEBFA"/>
          </a:solidFill>
          <a:ln/>
        </p:spPr>
      </p:sp>
      <p:sp>
        <p:nvSpPr>
          <p:cNvPr id="32" name="Text 30"/>
          <p:cNvSpPr/>
          <p:nvPr/>
        </p:nvSpPr>
        <p:spPr>
          <a:xfrm>
            <a:off x="4459224" y="4718304"/>
            <a:ext cx="3270504" cy="256032"/>
          </a:xfrm>
          <a:prstGeom prst="rect">
            <a:avLst/>
          </a:prstGeom>
          <a:noFill/>
          <a:ln/>
        </p:spPr>
        <p:txBody>
          <a:bodyPr wrap="square" rtlCol="0" anchor="ctr"/>
          <a:lstStyle/>
          <a:p>
            <a:pPr marL="0" indent="0">
              <a:buNone/>
            </a:pPr>
            <a:r>
              <a:rPr lang="en-US" sz="1050" b="1" kern="0" spc="100" dirty="0">
                <a:solidFill>
                  <a:srgbClr val="6C5CBF"/>
                </a:solidFill>
                <a:latin typeface="Calibri" pitchFamily="34" charset="0"/>
                <a:ea typeface="Calibri" pitchFamily="34" charset="-122"/>
                <a:cs typeface="Calibri" pitchFamily="34" charset="-120"/>
              </a:rPr>
              <a:t>FEELINGS</a:t>
            </a:r>
            <a:endParaRPr lang="en-US" sz="1050" dirty="0"/>
          </a:p>
        </p:txBody>
      </p:sp>
      <p:sp>
        <p:nvSpPr>
          <p:cNvPr id="33" name="Text 31"/>
          <p:cNvSpPr/>
          <p:nvPr/>
        </p:nvSpPr>
        <p:spPr>
          <a:xfrm>
            <a:off x="4459224"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Determined applying each morning; discouraged after a week of silence from promising leads.</a:t>
            </a:r>
            <a:endParaRPr lang="en-US" sz="950" dirty="0"/>
          </a:p>
        </p:txBody>
      </p:sp>
      <p:sp>
        <p:nvSpPr>
          <p:cNvPr id="34" name="Shape 32"/>
          <p:cNvSpPr/>
          <p:nvPr/>
        </p:nvSpPr>
        <p:spPr>
          <a:xfrm>
            <a:off x="8095488" y="4608576"/>
            <a:ext cx="3636264" cy="1417320"/>
          </a:xfrm>
          <a:prstGeom prst="roundRect">
            <a:avLst>
              <a:gd name="adj" fmla="val 6452"/>
            </a:avLst>
          </a:prstGeom>
          <a:solidFill>
            <a:srgbClr val="E1F5EC"/>
          </a:solidFill>
          <a:ln/>
        </p:spPr>
      </p:sp>
      <p:sp>
        <p:nvSpPr>
          <p:cNvPr id="35" name="Text 33"/>
          <p:cNvSpPr/>
          <p:nvPr/>
        </p:nvSpPr>
        <p:spPr>
          <a:xfrm>
            <a:off x="8278368" y="4718304"/>
            <a:ext cx="3270504" cy="256032"/>
          </a:xfrm>
          <a:prstGeom prst="rect">
            <a:avLst/>
          </a:prstGeom>
          <a:noFill/>
          <a:ln/>
        </p:spPr>
        <p:txBody>
          <a:bodyPr wrap="square" rtlCol="0" anchor="ctr"/>
          <a:lstStyle/>
          <a:p>
            <a:pPr marL="0" indent="0">
              <a:buNone/>
            </a:pPr>
            <a:r>
              <a:rPr lang="en-US" sz="1050" b="1" kern="0" spc="100" dirty="0">
                <a:solidFill>
                  <a:srgbClr val="2FA88A"/>
                </a:solidFill>
                <a:latin typeface="Calibri" pitchFamily="34" charset="0"/>
                <a:ea typeface="Calibri" pitchFamily="34" charset="-122"/>
                <a:cs typeface="Calibri" pitchFamily="34" charset="-120"/>
              </a:rPr>
              <a:t>OPPORTUNITY</a:t>
            </a:r>
            <a:endParaRPr lang="en-US" sz="1050" dirty="0"/>
          </a:p>
        </p:txBody>
      </p:sp>
      <p:sp>
        <p:nvSpPr>
          <p:cNvPr id="36" name="Text 34"/>
          <p:cNvSpPr/>
          <p:nvPr/>
        </p:nvSpPr>
        <p:spPr>
          <a:xfrm>
            <a:off x="8278368"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A “rising talent” search filter that surfaces new, promising profiles instead of burying them under review count.</a:t>
            </a:r>
            <a:endParaRPr lang="en-US" sz="950" dirty="0"/>
          </a:p>
        </p:txBody>
      </p:sp>
      <p:sp>
        <p:nvSpPr>
          <p:cNvPr id="38" name="Text 36"/>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868680" cy="868680"/>
          </a:xfrm>
          <a:prstGeom prst="ellipse">
            <a:avLst/>
          </a:prstGeom>
          <a:solidFill>
            <a:srgbClr val="F0D77B"/>
          </a:solidFill>
          <a:ln/>
        </p:spPr>
      </p:sp>
      <p:sp>
        <p:nvSpPr>
          <p:cNvPr id="3" name="Text 1"/>
          <p:cNvSpPr/>
          <p:nvPr/>
        </p:nvSpPr>
        <p:spPr>
          <a:xfrm>
            <a:off x="457200" y="384048"/>
            <a:ext cx="868680" cy="868680"/>
          </a:xfrm>
          <a:prstGeom prst="rect">
            <a:avLst/>
          </a:prstGeom>
          <a:noFill/>
          <a:ln/>
        </p:spPr>
        <p:txBody>
          <a:bodyPr wrap="square"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KN</a:t>
            </a:r>
            <a:endParaRPr lang="en-US" sz="2000" dirty="0"/>
          </a:p>
        </p:txBody>
      </p:sp>
      <p:sp>
        <p:nvSpPr>
          <p:cNvPr id="4" name="Text 2"/>
          <p:cNvSpPr/>
          <p:nvPr/>
        </p:nvSpPr>
        <p:spPr>
          <a:xfrm>
            <a:off x="1508760" y="365760"/>
            <a:ext cx="6858000" cy="45720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Kavita Nair</a:t>
            </a:r>
            <a:endParaRPr lang="en-US" sz="2400" dirty="0"/>
          </a:p>
        </p:txBody>
      </p:sp>
      <p:sp>
        <p:nvSpPr>
          <p:cNvPr id="5" name="Text 3"/>
          <p:cNvSpPr/>
          <p:nvPr/>
        </p:nvSpPr>
        <p:spPr>
          <a:xfrm>
            <a:off x="1508760" y="777240"/>
            <a:ext cx="7315200" cy="365760"/>
          </a:xfrm>
          <a:prstGeom prst="rect">
            <a:avLst/>
          </a:prstGeom>
          <a:noFill/>
          <a:ln/>
        </p:spPr>
        <p:txBody>
          <a:bodyPr wrap="square" rtlCol="0" anchor="ctr"/>
          <a:lstStyle/>
          <a:p>
            <a:pPr marL="0" indent="0">
              <a:buNone/>
            </a:pPr>
            <a:r>
              <a:rPr lang="en-US" sz="1300" b="1" dirty="0">
                <a:solidFill>
                  <a:srgbClr val="B98E1F"/>
                </a:solidFill>
                <a:latin typeface="Calibri" pitchFamily="34" charset="0"/>
                <a:ea typeface="Calibri" pitchFamily="34" charset="-122"/>
                <a:cs typeface="Calibri" pitchFamily="34" charset="-120"/>
              </a:rPr>
              <a:t>Freelance Virtual Assistant • Multi-Client Juggler</a:t>
            </a:r>
            <a:endParaRPr lang="en-US" sz="1300" dirty="0"/>
          </a:p>
        </p:txBody>
      </p:sp>
      <p:sp>
        <p:nvSpPr>
          <p:cNvPr id="6" name="Shape 4"/>
          <p:cNvSpPr/>
          <p:nvPr/>
        </p:nvSpPr>
        <p:spPr>
          <a:xfrm>
            <a:off x="9966960" y="457200"/>
            <a:ext cx="1737360" cy="365760"/>
          </a:xfrm>
          <a:prstGeom prst="roundRect">
            <a:avLst>
              <a:gd name="adj" fmla="val 50000"/>
            </a:avLst>
          </a:prstGeom>
          <a:solidFill>
            <a:srgbClr val="FBF3D6"/>
          </a:solidFill>
          <a:ln/>
        </p:spPr>
      </p:sp>
      <p:sp>
        <p:nvSpPr>
          <p:cNvPr id="7" name="Text 5"/>
          <p:cNvSpPr/>
          <p:nvPr/>
        </p:nvSpPr>
        <p:spPr>
          <a:xfrm>
            <a:off x="9966960" y="457200"/>
            <a:ext cx="1737360" cy="365760"/>
          </a:xfrm>
          <a:prstGeom prst="rect">
            <a:avLst/>
          </a:prstGeom>
          <a:noFill/>
          <a:ln/>
        </p:spPr>
        <p:txBody>
          <a:bodyPr wrap="square" rtlCol="0" anchor="ctr"/>
          <a:lstStyle/>
          <a:p>
            <a:pPr marL="0" indent="0" algn="ctr">
              <a:buNone/>
            </a:pPr>
            <a:r>
              <a:rPr lang="en-US" sz="1100" b="1" dirty="0">
                <a:solidFill>
                  <a:srgbClr val="B98E1F"/>
                </a:solidFill>
                <a:latin typeface="Calibri" pitchFamily="34" charset="0"/>
                <a:ea typeface="Calibri" pitchFamily="34" charset="-122"/>
                <a:cs typeface="Calibri" pitchFamily="34" charset="-120"/>
              </a:rPr>
              <a:t>Persona 5 of 5</a:t>
            </a:r>
            <a:endParaRPr lang="en-US" sz="1100" dirty="0"/>
          </a:p>
        </p:txBody>
      </p:sp>
      <p:sp>
        <p:nvSpPr>
          <p:cNvPr id="8" name="Shape 6"/>
          <p:cNvSpPr/>
          <p:nvPr/>
        </p:nvSpPr>
        <p:spPr>
          <a:xfrm>
            <a:off x="457200" y="1371600"/>
            <a:ext cx="2688336" cy="621792"/>
          </a:xfrm>
          <a:prstGeom prst="roundRect">
            <a:avLst>
              <a:gd name="adj" fmla="val 13235"/>
            </a:avLst>
          </a:prstGeom>
          <a:solidFill>
            <a:srgbClr val="FBF3D6"/>
          </a:solidFill>
          <a:ln/>
        </p:spPr>
      </p:sp>
      <p:sp>
        <p:nvSpPr>
          <p:cNvPr id="9" name="Text 7"/>
          <p:cNvSpPr/>
          <p:nvPr/>
        </p:nvSpPr>
        <p:spPr>
          <a:xfrm>
            <a:off x="594360" y="1435608"/>
            <a:ext cx="2414016" cy="201168"/>
          </a:xfrm>
          <a:prstGeom prst="rect">
            <a:avLst/>
          </a:prstGeom>
          <a:noFill/>
          <a:ln/>
        </p:spPr>
        <p:txBody>
          <a:bodyPr wrap="square" rtlCol="0" anchor="ctr"/>
          <a:lstStyle/>
          <a:p>
            <a:pPr marL="0" indent="0">
              <a:buNone/>
            </a:pPr>
            <a:r>
              <a:rPr lang="en-US" sz="850" b="1" kern="0" spc="100" dirty="0">
                <a:solidFill>
                  <a:srgbClr val="B98E1F"/>
                </a:solidFill>
                <a:latin typeface="Calibri" pitchFamily="34" charset="0"/>
                <a:ea typeface="Calibri" pitchFamily="34" charset="-122"/>
                <a:cs typeface="Calibri" pitchFamily="34" charset="-120"/>
              </a:rPr>
              <a:t>AGE</a:t>
            </a:r>
            <a:endParaRPr lang="en-US" sz="850" dirty="0"/>
          </a:p>
        </p:txBody>
      </p:sp>
      <p:sp>
        <p:nvSpPr>
          <p:cNvPr id="10" name="Text 8"/>
          <p:cNvSpPr/>
          <p:nvPr/>
        </p:nvSpPr>
        <p:spPr>
          <a:xfrm>
            <a:off x="594360"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35</a:t>
            </a:r>
            <a:endParaRPr lang="en-US" sz="1050" dirty="0"/>
          </a:p>
        </p:txBody>
      </p:sp>
      <p:sp>
        <p:nvSpPr>
          <p:cNvPr id="11" name="Shape 9"/>
          <p:cNvSpPr/>
          <p:nvPr/>
        </p:nvSpPr>
        <p:spPr>
          <a:xfrm>
            <a:off x="3264408" y="1371600"/>
            <a:ext cx="2688336" cy="621792"/>
          </a:xfrm>
          <a:prstGeom prst="roundRect">
            <a:avLst>
              <a:gd name="adj" fmla="val 13235"/>
            </a:avLst>
          </a:prstGeom>
          <a:solidFill>
            <a:srgbClr val="FBF3D6"/>
          </a:solidFill>
          <a:ln/>
        </p:spPr>
      </p:sp>
      <p:sp>
        <p:nvSpPr>
          <p:cNvPr id="12" name="Text 10"/>
          <p:cNvSpPr/>
          <p:nvPr/>
        </p:nvSpPr>
        <p:spPr>
          <a:xfrm>
            <a:off x="3401568" y="1435608"/>
            <a:ext cx="2414016" cy="201168"/>
          </a:xfrm>
          <a:prstGeom prst="rect">
            <a:avLst/>
          </a:prstGeom>
          <a:noFill/>
          <a:ln/>
        </p:spPr>
        <p:txBody>
          <a:bodyPr wrap="square" rtlCol="0" anchor="ctr"/>
          <a:lstStyle/>
          <a:p>
            <a:pPr marL="0" indent="0">
              <a:buNone/>
            </a:pPr>
            <a:r>
              <a:rPr lang="en-US" sz="850" b="1" kern="0" spc="100" dirty="0">
                <a:solidFill>
                  <a:srgbClr val="B98E1F"/>
                </a:solidFill>
                <a:latin typeface="Calibri" pitchFamily="34" charset="0"/>
                <a:ea typeface="Calibri" pitchFamily="34" charset="-122"/>
                <a:cs typeface="Calibri" pitchFamily="34" charset="-120"/>
              </a:rPr>
              <a:t>LOCATION</a:t>
            </a:r>
            <a:endParaRPr lang="en-US" sz="850" dirty="0"/>
          </a:p>
        </p:txBody>
      </p:sp>
      <p:sp>
        <p:nvSpPr>
          <p:cNvPr id="13" name="Text 11"/>
          <p:cNvSpPr/>
          <p:nvPr/>
        </p:nvSpPr>
        <p:spPr>
          <a:xfrm>
            <a:off x="3401568"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Kochi, India</a:t>
            </a:r>
            <a:endParaRPr lang="en-US" sz="1050" dirty="0"/>
          </a:p>
        </p:txBody>
      </p:sp>
      <p:sp>
        <p:nvSpPr>
          <p:cNvPr id="14" name="Shape 12"/>
          <p:cNvSpPr/>
          <p:nvPr/>
        </p:nvSpPr>
        <p:spPr>
          <a:xfrm>
            <a:off x="6071616" y="1371600"/>
            <a:ext cx="2688336" cy="621792"/>
          </a:xfrm>
          <a:prstGeom prst="roundRect">
            <a:avLst>
              <a:gd name="adj" fmla="val 13235"/>
            </a:avLst>
          </a:prstGeom>
          <a:solidFill>
            <a:srgbClr val="FBF3D6"/>
          </a:solidFill>
          <a:ln/>
        </p:spPr>
      </p:sp>
      <p:sp>
        <p:nvSpPr>
          <p:cNvPr id="15" name="Text 13"/>
          <p:cNvSpPr/>
          <p:nvPr/>
        </p:nvSpPr>
        <p:spPr>
          <a:xfrm>
            <a:off x="6208776" y="1435608"/>
            <a:ext cx="2414016" cy="201168"/>
          </a:xfrm>
          <a:prstGeom prst="rect">
            <a:avLst/>
          </a:prstGeom>
          <a:noFill/>
          <a:ln/>
        </p:spPr>
        <p:txBody>
          <a:bodyPr wrap="square" rtlCol="0" anchor="ctr"/>
          <a:lstStyle/>
          <a:p>
            <a:pPr marL="0" indent="0">
              <a:buNone/>
            </a:pPr>
            <a:r>
              <a:rPr lang="en-US" sz="850" b="1" kern="0" spc="100" dirty="0">
                <a:solidFill>
                  <a:srgbClr val="B98E1F"/>
                </a:solidFill>
                <a:latin typeface="Calibri" pitchFamily="34" charset="0"/>
                <a:ea typeface="Calibri" pitchFamily="34" charset="-122"/>
                <a:cs typeface="Calibri" pitchFamily="34" charset="-120"/>
              </a:rPr>
              <a:t>OCCUPATION</a:t>
            </a:r>
            <a:endParaRPr lang="en-US" sz="850" dirty="0"/>
          </a:p>
        </p:txBody>
      </p:sp>
      <p:sp>
        <p:nvSpPr>
          <p:cNvPr id="16" name="Text 14"/>
          <p:cNvSpPr/>
          <p:nvPr/>
        </p:nvSpPr>
        <p:spPr>
          <a:xfrm>
            <a:off x="6208776"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Virtual assistant for 4 small businesses</a:t>
            </a:r>
            <a:endParaRPr lang="en-US" sz="1050" dirty="0"/>
          </a:p>
        </p:txBody>
      </p:sp>
      <p:sp>
        <p:nvSpPr>
          <p:cNvPr id="17" name="Shape 15"/>
          <p:cNvSpPr/>
          <p:nvPr/>
        </p:nvSpPr>
        <p:spPr>
          <a:xfrm>
            <a:off x="8878824" y="1371600"/>
            <a:ext cx="2688336" cy="621792"/>
          </a:xfrm>
          <a:prstGeom prst="roundRect">
            <a:avLst>
              <a:gd name="adj" fmla="val 13235"/>
            </a:avLst>
          </a:prstGeom>
          <a:solidFill>
            <a:srgbClr val="FBF3D6"/>
          </a:solidFill>
          <a:ln/>
        </p:spPr>
      </p:sp>
      <p:sp>
        <p:nvSpPr>
          <p:cNvPr id="18" name="Text 16"/>
          <p:cNvSpPr/>
          <p:nvPr/>
        </p:nvSpPr>
        <p:spPr>
          <a:xfrm>
            <a:off x="9015984" y="1435608"/>
            <a:ext cx="2414016" cy="201168"/>
          </a:xfrm>
          <a:prstGeom prst="rect">
            <a:avLst/>
          </a:prstGeom>
          <a:noFill/>
          <a:ln/>
        </p:spPr>
        <p:txBody>
          <a:bodyPr wrap="square" rtlCol="0" anchor="ctr"/>
          <a:lstStyle/>
          <a:p>
            <a:pPr marL="0" indent="0">
              <a:buNone/>
            </a:pPr>
            <a:r>
              <a:rPr lang="en-US" sz="850" b="1" kern="0" spc="100" dirty="0">
                <a:solidFill>
                  <a:srgbClr val="B98E1F"/>
                </a:solidFill>
                <a:latin typeface="Calibri" pitchFamily="34" charset="0"/>
                <a:ea typeface="Calibri" pitchFamily="34" charset="-122"/>
                <a:cs typeface="Calibri" pitchFamily="34" charset="-120"/>
              </a:rPr>
              <a:t>PLATFORM USE</a:t>
            </a:r>
            <a:endParaRPr lang="en-US" sz="850" dirty="0"/>
          </a:p>
        </p:txBody>
      </p:sp>
      <p:sp>
        <p:nvSpPr>
          <p:cNvPr id="19" name="Text 17"/>
          <p:cNvSpPr/>
          <p:nvPr/>
        </p:nvSpPr>
        <p:spPr>
          <a:xfrm>
            <a:off x="9015984" y="1627632"/>
            <a:ext cx="2414016" cy="329184"/>
          </a:xfrm>
          <a:prstGeom prst="rect">
            <a:avLst/>
          </a:prstGeom>
          <a:noFill/>
          <a:ln/>
        </p:spPr>
        <p:txBody>
          <a:bodyPr wrap="square" rtlCol="0" anchor="t">
            <a:spAutoFit/>
          </a:bodyPr>
          <a:lstStyle/>
          <a:p>
            <a:pPr marL="0" indent="0">
              <a:buNone/>
            </a:pPr>
            <a:r>
              <a:rPr lang="en-US" sz="1050" b="1" dirty="0">
                <a:solidFill>
                  <a:srgbClr val="2E2B45"/>
                </a:solidFill>
                <a:latin typeface="Calibri" pitchFamily="34" charset="0"/>
                <a:ea typeface="Calibri" pitchFamily="34" charset="-122"/>
                <a:cs typeface="Calibri" pitchFamily="34" charset="-120"/>
              </a:rPr>
              <a:t>Marketplace + WhatsApp + email</a:t>
            </a:r>
            <a:endParaRPr lang="en-US" sz="1050" dirty="0"/>
          </a:p>
        </p:txBody>
      </p:sp>
      <p:sp>
        <p:nvSpPr>
          <p:cNvPr id="20" name="Shape 18"/>
          <p:cNvSpPr/>
          <p:nvPr/>
        </p:nvSpPr>
        <p:spPr>
          <a:xfrm>
            <a:off x="457200" y="2121408"/>
            <a:ext cx="11274552" cy="658368"/>
          </a:xfrm>
          <a:prstGeom prst="roundRect">
            <a:avLst>
              <a:gd name="adj" fmla="val 13889"/>
            </a:avLst>
          </a:prstGeom>
          <a:solidFill>
            <a:schemeClr val="accent5">
              <a:lumMod val="60000"/>
              <a:lumOff val="40000"/>
            </a:schemeClr>
          </a:solidFill>
          <a:ln/>
        </p:spPr>
      </p:sp>
      <p:sp>
        <p:nvSpPr>
          <p:cNvPr id="21" name="Text 19"/>
          <p:cNvSpPr/>
          <p:nvPr/>
        </p:nvSpPr>
        <p:spPr>
          <a:xfrm>
            <a:off x="777240" y="2121408"/>
            <a:ext cx="10607040" cy="658368"/>
          </a:xfrm>
          <a:prstGeom prst="rect">
            <a:avLst/>
          </a:prstGeom>
          <a:noFill/>
          <a:ln/>
        </p:spPr>
        <p:txBody>
          <a:bodyPr wrap="square"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I’m not managing one job, I’m managing four — I need my tools to catch what I can’t hold in my head.</a:t>
            </a:r>
            <a:endParaRPr lang="en-US" sz="1300" dirty="0"/>
          </a:p>
        </p:txBody>
      </p:sp>
      <p:sp>
        <p:nvSpPr>
          <p:cNvPr id="22" name="Shape 20"/>
          <p:cNvSpPr/>
          <p:nvPr/>
        </p:nvSpPr>
        <p:spPr>
          <a:xfrm>
            <a:off x="457200" y="2926080"/>
            <a:ext cx="5513832" cy="1481328"/>
          </a:xfrm>
          <a:prstGeom prst="roundRect">
            <a:avLst>
              <a:gd name="adj" fmla="val 6173"/>
            </a:avLst>
          </a:prstGeom>
          <a:solidFill>
            <a:srgbClr val="E1F5EC"/>
          </a:solidFill>
          <a:ln/>
        </p:spPr>
      </p:sp>
      <p:sp>
        <p:nvSpPr>
          <p:cNvPr id="23" name="Text 21"/>
          <p:cNvSpPr/>
          <p:nvPr/>
        </p:nvSpPr>
        <p:spPr>
          <a:xfrm>
            <a:off x="658368" y="3035808"/>
            <a:ext cx="3657600" cy="274320"/>
          </a:xfrm>
          <a:prstGeom prst="rect">
            <a:avLst/>
          </a:prstGeom>
          <a:noFill/>
          <a:ln/>
        </p:spPr>
        <p:txBody>
          <a:bodyPr wrap="square" rtlCol="0" anchor="ctr"/>
          <a:lstStyle/>
          <a:p>
            <a:pPr marL="0" indent="0">
              <a:buNone/>
            </a:pPr>
            <a:r>
              <a:rPr lang="en-US" sz="1100" b="1" kern="0" spc="100" dirty="0">
                <a:solidFill>
                  <a:srgbClr val="2FA88A"/>
                </a:solidFill>
                <a:latin typeface="Calibri" pitchFamily="34" charset="0"/>
                <a:ea typeface="Calibri" pitchFamily="34" charset="-122"/>
                <a:cs typeface="Calibri" pitchFamily="34" charset="-120"/>
              </a:rPr>
              <a:t>GOALS</a:t>
            </a:r>
            <a:endParaRPr lang="en-US" sz="1100" dirty="0"/>
          </a:p>
        </p:txBody>
      </p:sp>
      <p:sp>
        <p:nvSpPr>
          <p:cNvPr id="24" name="Text 22"/>
          <p:cNvSpPr/>
          <p:nvPr/>
        </p:nvSpPr>
        <p:spPr>
          <a:xfrm>
            <a:off x="65836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One unified inbox instead of five scattered tools</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Clear recurring-task tracking across multiple clients</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Predictable, on-time recurring payments</a:t>
            </a:r>
            <a:endParaRPr lang="en-US" sz="1050" dirty="0"/>
          </a:p>
        </p:txBody>
      </p:sp>
      <p:sp>
        <p:nvSpPr>
          <p:cNvPr id="25" name="Shape 23"/>
          <p:cNvSpPr/>
          <p:nvPr/>
        </p:nvSpPr>
        <p:spPr>
          <a:xfrm>
            <a:off x="6217920" y="2926080"/>
            <a:ext cx="5513832" cy="1481328"/>
          </a:xfrm>
          <a:prstGeom prst="roundRect">
            <a:avLst>
              <a:gd name="adj" fmla="val 6173"/>
            </a:avLst>
          </a:prstGeom>
          <a:solidFill>
            <a:srgbClr val="FDECE0"/>
          </a:solidFill>
          <a:ln/>
        </p:spPr>
      </p:sp>
      <p:sp>
        <p:nvSpPr>
          <p:cNvPr id="26" name="Text 24"/>
          <p:cNvSpPr/>
          <p:nvPr/>
        </p:nvSpPr>
        <p:spPr>
          <a:xfrm>
            <a:off x="6419088" y="3035808"/>
            <a:ext cx="3657600" cy="274320"/>
          </a:xfrm>
          <a:prstGeom prst="rect">
            <a:avLst/>
          </a:prstGeom>
          <a:noFill/>
          <a:ln/>
        </p:spPr>
        <p:txBody>
          <a:bodyPr wrap="square" rtlCol="0" anchor="ctr"/>
          <a:lstStyle/>
          <a:p>
            <a:pPr marL="0" indent="0">
              <a:buNone/>
            </a:pPr>
            <a:r>
              <a:rPr lang="en-US" sz="1100" b="1" kern="0" spc="100" dirty="0">
                <a:solidFill>
                  <a:srgbClr val="D97B4F"/>
                </a:solidFill>
                <a:latin typeface="Calibri" pitchFamily="34" charset="0"/>
                <a:ea typeface="Calibri" pitchFamily="34" charset="-122"/>
                <a:cs typeface="Calibri" pitchFamily="34" charset="-120"/>
              </a:rPr>
              <a:t>FRUSTRATIONS</a:t>
            </a:r>
            <a:endParaRPr lang="en-US" sz="1100" dirty="0"/>
          </a:p>
        </p:txBody>
      </p:sp>
      <p:sp>
        <p:nvSpPr>
          <p:cNvPr id="27" name="Text 25"/>
          <p:cNvSpPr/>
          <p:nvPr/>
        </p:nvSpPr>
        <p:spPr>
          <a:xfrm>
            <a:off x="6419088" y="3337560"/>
            <a:ext cx="5102352" cy="978408"/>
          </a:xfrm>
          <a:prstGeom prst="rect">
            <a:avLst/>
          </a:prstGeom>
          <a:noFill/>
          <a:ln/>
        </p:spPr>
        <p:txBody>
          <a:bodyPr wrap="square" rtlCol="0" anchor="t"/>
          <a:lstStyle/>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Each client prefers a different communication tool</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Recurring tasks get lost between platform and personal notes</a:t>
            </a:r>
            <a:endParaRPr lang="en-US" sz="1050" dirty="0"/>
          </a:p>
          <a:p>
            <a:pPr marL="152400" indent="-152400">
              <a:lnSpc>
                <a:spcPct val="108000"/>
              </a:lnSpc>
              <a:spcAft>
                <a:spcPts val="600"/>
              </a:spcAft>
              <a:buSzPct val="100000"/>
              <a:buChar char="•"/>
            </a:pPr>
            <a:r>
              <a:rPr lang="en-US" sz="1050" dirty="0">
                <a:solidFill>
                  <a:srgbClr val="2E2B45"/>
                </a:solidFill>
                <a:latin typeface="Calibri" pitchFamily="34" charset="0"/>
                <a:ea typeface="Calibri" pitchFamily="34" charset="-122"/>
                <a:cs typeface="Calibri" pitchFamily="34" charset="-120"/>
              </a:rPr>
              <a:t>Payment dates shift without warning</a:t>
            </a:r>
            <a:endParaRPr lang="en-US" sz="1050" dirty="0"/>
          </a:p>
        </p:txBody>
      </p:sp>
      <p:sp>
        <p:nvSpPr>
          <p:cNvPr id="28" name="Shape 26"/>
          <p:cNvSpPr/>
          <p:nvPr/>
        </p:nvSpPr>
        <p:spPr>
          <a:xfrm>
            <a:off x="457200" y="4608576"/>
            <a:ext cx="3636264" cy="1417320"/>
          </a:xfrm>
          <a:prstGeom prst="roundRect">
            <a:avLst>
              <a:gd name="adj" fmla="val 6452"/>
            </a:avLst>
          </a:prstGeom>
          <a:solidFill>
            <a:srgbClr val="E7F2FB"/>
          </a:solidFill>
          <a:ln/>
        </p:spPr>
      </p:sp>
      <p:sp>
        <p:nvSpPr>
          <p:cNvPr id="29" name="Text 27"/>
          <p:cNvSpPr/>
          <p:nvPr/>
        </p:nvSpPr>
        <p:spPr>
          <a:xfrm>
            <a:off x="640080" y="4718304"/>
            <a:ext cx="3270504" cy="256032"/>
          </a:xfrm>
          <a:prstGeom prst="rect">
            <a:avLst/>
          </a:prstGeom>
          <a:noFill/>
          <a:ln/>
        </p:spPr>
        <p:txBody>
          <a:bodyPr wrap="square" rtlCol="0" anchor="ctr"/>
          <a:lstStyle/>
          <a:p>
            <a:pPr marL="0" indent="0">
              <a:buNone/>
            </a:pPr>
            <a:r>
              <a:rPr lang="en-US" sz="1050" b="1" kern="0" spc="100" dirty="0">
                <a:solidFill>
                  <a:srgbClr val="3E7CB1"/>
                </a:solidFill>
                <a:latin typeface="Calibri" pitchFamily="34" charset="0"/>
                <a:ea typeface="Calibri" pitchFamily="34" charset="-122"/>
                <a:cs typeface="Calibri" pitchFamily="34" charset="-120"/>
              </a:rPr>
              <a:t>ACTIONS</a:t>
            </a:r>
            <a:endParaRPr lang="en-US" sz="1050" dirty="0"/>
          </a:p>
        </p:txBody>
      </p:sp>
      <p:sp>
        <p:nvSpPr>
          <p:cNvPr id="30" name="Text 28"/>
          <p:cNvSpPr/>
          <p:nvPr/>
        </p:nvSpPr>
        <p:spPr>
          <a:xfrm>
            <a:off x="640080" y="5010912"/>
            <a:ext cx="3270504" cy="914400"/>
          </a:xfrm>
          <a:prstGeom prst="rect">
            <a:avLst/>
          </a:prstGeom>
          <a:noFill/>
          <a:ln/>
        </p:spPr>
        <p:txBody>
          <a:bodyPr wrap="square" rtlCol="0" anchor="t"/>
          <a:lstStyle/>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Keeps a master task tracker outside any single platform</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Checks four separate chat apps every morning</a:t>
            </a:r>
            <a:endParaRPr lang="en-US" sz="950" dirty="0"/>
          </a:p>
          <a:p>
            <a:pPr marL="152400" indent="-152400">
              <a:lnSpc>
                <a:spcPct val="108000"/>
              </a:lnSpc>
              <a:spcAft>
                <a:spcPts val="600"/>
              </a:spcAft>
              <a:buSzPct val="100000"/>
              <a:buChar char="•"/>
            </a:pPr>
            <a:r>
              <a:rPr lang="en-US" sz="950" dirty="0">
                <a:solidFill>
                  <a:srgbClr val="2E2B45"/>
                </a:solidFill>
                <a:latin typeface="Calibri" pitchFamily="34" charset="0"/>
                <a:ea typeface="Calibri" pitchFamily="34" charset="-122"/>
                <a:cs typeface="Calibri" pitchFamily="34" charset="-120"/>
              </a:rPr>
              <a:t>Sends payment reminders manually before each due date</a:t>
            </a:r>
            <a:endParaRPr lang="en-US" sz="950" dirty="0"/>
          </a:p>
        </p:txBody>
      </p:sp>
      <p:sp>
        <p:nvSpPr>
          <p:cNvPr id="31" name="Shape 29"/>
          <p:cNvSpPr/>
          <p:nvPr/>
        </p:nvSpPr>
        <p:spPr>
          <a:xfrm>
            <a:off x="4276344" y="4608576"/>
            <a:ext cx="3636264" cy="1417320"/>
          </a:xfrm>
          <a:prstGeom prst="roundRect">
            <a:avLst>
              <a:gd name="adj" fmla="val 6452"/>
            </a:avLst>
          </a:prstGeom>
          <a:solidFill>
            <a:srgbClr val="EFEBFA"/>
          </a:solidFill>
          <a:ln/>
        </p:spPr>
      </p:sp>
      <p:sp>
        <p:nvSpPr>
          <p:cNvPr id="32" name="Text 30"/>
          <p:cNvSpPr/>
          <p:nvPr/>
        </p:nvSpPr>
        <p:spPr>
          <a:xfrm>
            <a:off x="4459224" y="4718304"/>
            <a:ext cx="3270504" cy="256032"/>
          </a:xfrm>
          <a:prstGeom prst="rect">
            <a:avLst/>
          </a:prstGeom>
          <a:noFill/>
          <a:ln/>
        </p:spPr>
        <p:txBody>
          <a:bodyPr wrap="square" rtlCol="0" anchor="ctr"/>
          <a:lstStyle/>
          <a:p>
            <a:pPr marL="0" indent="0">
              <a:buNone/>
            </a:pPr>
            <a:r>
              <a:rPr lang="en-US" sz="1050" b="1" kern="0" spc="100" dirty="0">
                <a:solidFill>
                  <a:srgbClr val="6C5CBF"/>
                </a:solidFill>
                <a:latin typeface="Calibri" pitchFamily="34" charset="0"/>
                <a:ea typeface="Calibri" pitchFamily="34" charset="-122"/>
                <a:cs typeface="Calibri" pitchFamily="34" charset="-120"/>
              </a:rPr>
              <a:t>FEELINGS</a:t>
            </a:r>
            <a:endParaRPr lang="en-US" sz="1050" dirty="0"/>
          </a:p>
        </p:txBody>
      </p:sp>
      <p:sp>
        <p:nvSpPr>
          <p:cNvPr id="33" name="Text 31"/>
          <p:cNvSpPr/>
          <p:nvPr/>
        </p:nvSpPr>
        <p:spPr>
          <a:xfrm>
            <a:off x="4459224"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In control on a well-organized day; overwhelmed when two clients need something urgent at once.</a:t>
            </a:r>
            <a:endParaRPr lang="en-US" sz="950" dirty="0"/>
          </a:p>
        </p:txBody>
      </p:sp>
      <p:sp>
        <p:nvSpPr>
          <p:cNvPr id="34" name="Shape 32"/>
          <p:cNvSpPr/>
          <p:nvPr/>
        </p:nvSpPr>
        <p:spPr>
          <a:xfrm>
            <a:off x="8095488" y="4608576"/>
            <a:ext cx="3636264" cy="1417320"/>
          </a:xfrm>
          <a:prstGeom prst="roundRect">
            <a:avLst>
              <a:gd name="adj" fmla="val 6452"/>
            </a:avLst>
          </a:prstGeom>
          <a:solidFill>
            <a:srgbClr val="FBF3D6"/>
          </a:solidFill>
          <a:ln/>
        </p:spPr>
      </p:sp>
      <p:sp>
        <p:nvSpPr>
          <p:cNvPr id="35" name="Text 33"/>
          <p:cNvSpPr/>
          <p:nvPr/>
        </p:nvSpPr>
        <p:spPr>
          <a:xfrm>
            <a:off x="8278368" y="4718304"/>
            <a:ext cx="3270504" cy="256032"/>
          </a:xfrm>
          <a:prstGeom prst="rect">
            <a:avLst/>
          </a:prstGeom>
          <a:noFill/>
          <a:ln/>
        </p:spPr>
        <p:txBody>
          <a:bodyPr wrap="square" rtlCol="0" anchor="ctr"/>
          <a:lstStyle/>
          <a:p>
            <a:pPr marL="0" indent="0">
              <a:buNone/>
            </a:pPr>
            <a:r>
              <a:rPr lang="en-US" sz="1050" b="1" kern="0" spc="100" dirty="0">
                <a:solidFill>
                  <a:srgbClr val="B98E1F"/>
                </a:solidFill>
                <a:latin typeface="Calibri" pitchFamily="34" charset="0"/>
                <a:ea typeface="Calibri" pitchFamily="34" charset="-122"/>
                <a:cs typeface="Calibri" pitchFamily="34" charset="-120"/>
              </a:rPr>
              <a:t>OPPORTUNITY</a:t>
            </a:r>
            <a:endParaRPr lang="en-US" sz="1050" dirty="0"/>
          </a:p>
        </p:txBody>
      </p:sp>
      <p:sp>
        <p:nvSpPr>
          <p:cNvPr id="36" name="Text 34"/>
          <p:cNvSpPr/>
          <p:nvPr/>
        </p:nvSpPr>
        <p:spPr>
          <a:xfrm>
            <a:off x="8278368" y="5010912"/>
            <a:ext cx="3270504" cy="914400"/>
          </a:xfrm>
          <a:prstGeom prst="rect">
            <a:avLst/>
          </a:prstGeom>
          <a:noFill/>
          <a:ln/>
        </p:spPr>
        <p:txBody>
          <a:bodyPr wrap="square" rtlCol="0" anchor="t"/>
          <a:lstStyle/>
          <a:p>
            <a:pPr marL="0" indent="0">
              <a:lnSpc>
                <a:spcPct val="115000"/>
              </a:lnSpc>
              <a:buNone/>
            </a:pPr>
            <a:r>
              <a:rPr lang="en-US" sz="950" dirty="0">
                <a:solidFill>
                  <a:srgbClr val="2E2B45"/>
                </a:solidFill>
                <a:latin typeface="Calibri" pitchFamily="34" charset="0"/>
                <a:ea typeface="Calibri" pitchFamily="34" charset="-122"/>
                <a:cs typeface="Calibri" pitchFamily="34" charset="-120"/>
              </a:rPr>
              <a:t>A single unified dashboard combining messages, recurring tasks, and payment schedules across all active clients.</a:t>
            </a:r>
            <a:endParaRPr lang="en-US" sz="950" dirty="0"/>
          </a:p>
        </p:txBody>
      </p:sp>
      <p:sp>
        <p:nvSpPr>
          <p:cNvPr id="38" name="Text 36"/>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1F5EC"/>
        </a:solidFill>
        <a:effectLst/>
      </p:bgPr>
    </p:bg>
    <p:spTree>
      <p:nvGrpSpPr>
        <p:cNvPr id="1" name=""/>
        <p:cNvGrpSpPr/>
        <p:nvPr/>
      </p:nvGrpSpPr>
      <p:grpSpPr>
        <a:xfrm>
          <a:off x="0" y="0"/>
          <a:ext cx="0" cy="0"/>
          <a:chOff x="0" y="0"/>
          <a:chExt cx="0" cy="0"/>
        </a:xfrm>
      </p:grpSpPr>
      <p:sp>
        <p:nvSpPr>
          <p:cNvPr id="2" name="Shape 0"/>
          <p:cNvSpPr/>
          <p:nvPr/>
        </p:nvSpPr>
        <p:spPr>
          <a:xfrm>
            <a:off x="9052560" y="-1463040"/>
            <a:ext cx="4754880" cy="4754880"/>
          </a:xfrm>
          <a:prstGeom prst="ellipse">
            <a:avLst/>
          </a:prstGeom>
          <a:solidFill>
            <a:srgbClr val="A8E6CF">
              <a:alpha val="55000"/>
            </a:srgbClr>
          </a:solidFill>
          <a:ln/>
        </p:spPr>
      </p:sp>
      <p:sp>
        <p:nvSpPr>
          <p:cNvPr id="3" name="Shape 1"/>
          <p:cNvSpPr/>
          <p:nvPr/>
        </p:nvSpPr>
        <p:spPr>
          <a:xfrm>
            <a:off x="-1645920" y="4480560"/>
            <a:ext cx="4206240" cy="4206240"/>
          </a:xfrm>
          <a:prstGeom prst="ellipse">
            <a:avLst/>
          </a:prstGeom>
          <a:solidFill>
            <a:srgbClr val="2FA88A">
              <a:alpha val="30000"/>
            </a:srgbClr>
          </a:solidFill>
          <a:ln/>
        </p:spPr>
      </p:sp>
      <p:sp>
        <p:nvSpPr>
          <p:cNvPr id="4" name="Shape 2"/>
          <p:cNvSpPr/>
          <p:nvPr/>
        </p:nvSpPr>
        <p:spPr>
          <a:xfrm>
            <a:off x="844867" y="2377440"/>
            <a:ext cx="2860358" cy="512445"/>
          </a:xfrm>
          <a:prstGeom prst="roundRect">
            <a:avLst>
              <a:gd name="adj" fmla="val 50000"/>
            </a:avLst>
          </a:prstGeom>
          <a:solidFill>
            <a:srgbClr val="FFFFFF"/>
          </a:solidFill>
          <a:ln/>
        </p:spPr>
        <p:txBody>
          <a:bodyPr/>
          <a:lstStyle/>
          <a:p>
            <a:endParaRPr lang="en-IN" dirty="0"/>
          </a:p>
        </p:txBody>
      </p:sp>
      <p:sp>
        <p:nvSpPr>
          <p:cNvPr id="5" name="Text 3"/>
          <p:cNvSpPr/>
          <p:nvPr/>
        </p:nvSpPr>
        <p:spPr>
          <a:xfrm>
            <a:off x="1005840" y="2468880"/>
            <a:ext cx="2377440" cy="411480"/>
          </a:xfrm>
          <a:prstGeom prst="rect">
            <a:avLst/>
          </a:prstGeom>
          <a:noFill/>
          <a:ln/>
        </p:spPr>
        <p:txBody>
          <a:bodyPr wrap="square" rtlCol="0" anchor="ctr"/>
          <a:lstStyle/>
          <a:p>
            <a:pPr marL="0" indent="0" algn="ctr">
              <a:buNone/>
            </a:pPr>
            <a:r>
              <a:rPr lang="en-US" sz="1400" b="1" dirty="0">
                <a:solidFill>
                  <a:srgbClr val="2FA88A"/>
                </a:solidFill>
                <a:latin typeface="Calibri" pitchFamily="34" charset="0"/>
                <a:ea typeface="Calibri" pitchFamily="34" charset="-122"/>
                <a:cs typeface="Calibri" pitchFamily="34" charset="-120"/>
              </a:rPr>
              <a:t>MAPPING THE EXPERIENCE</a:t>
            </a:r>
            <a:endParaRPr lang="en-US" sz="1400" dirty="0"/>
          </a:p>
        </p:txBody>
      </p:sp>
      <p:sp>
        <p:nvSpPr>
          <p:cNvPr id="6" name="Text 4"/>
          <p:cNvSpPr/>
          <p:nvPr/>
        </p:nvSpPr>
        <p:spPr>
          <a:xfrm>
            <a:off x="960120" y="2981325"/>
            <a:ext cx="9144000" cy="1005840"/>
          </a:xfrm>
          <a:prstGeom prst="rect">
            <a:avLst/>
          </a:prstGeom>
          <a:noFill/>
          <a:ln/>
        </p:spPr>
        <p:txBody>
          <a:bodyPr wrap="square" rtlCol="0" anchor="ctr"/>
          <a:lstStyle/>
          <a:p>
            <a:pPr marL="0" indent="0">
              <a:buNone/>
            </a:pPr>
            <a:r>
              <a:rPr lang="en-US" sz="6000" b="1" dirty="0">
                <a:solidFill>
                  <a:srgbClr val="2E2B45"/>
                </a:solidFill>
                <a:latin typeface="Algerian" panose="04020705040A02060702" pitchFamily="82" charset="0"/>
                <a:ea typeface="Poppins" pitchFamily="34" charset="-122"/>
                <a:cs typeface="Poppins" pitchFamily="34" charset="-120"/>
              </a:rPr>
              <a:t>User Journeys</a:t>
            </a:r>
            <a:endParaRPr lang="en-US" sz="6000" dirty="0">
              <a:latin typeface="Algerian" panose="04020705040A02060702" pitchFamily="82" charset="0"/>
            </a:endParaRPr>
          </a:p>
        </p:txBody>
      </p:sp>
      <p:sp>
        <p:nvSpPr>
          <p:cNvPr id="7" name="Text 5"/>
          <p:cNvSpPr/>
          <p:nvPr/>
        </p:nvSpPr>
        <p:spPr>
          <a:xfrm>
            <a:off x="1005840" y="3886200"/>
            <a:ext cx="8686800" cy="457200"/>
          </a:xfrm>
          <a:prstGeom prst="rect">
            <a:avLst/>
          </a:prstGeom>
          <a:noFill/>
          <a:ln/>
        </p:spPr>
        <p:txBody>
          <a:bodyPr wrap="square" rtlCol="0" anchor="ctr"/>
          <a:lstStyle/>
          <a:p>
            <a:pPr marL="0" indent="0">
              <a:buNone/>
            </a:pPr>
            <a:endParaRPr lang="en-US" sz="1500" dirty="0"/>
          </a:p>
        </p:txBody>
      </p:sp>
      <p:sp>
        <p:nvSpPr>
          <p:cNvPr id="9" name="Text 7"/>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rtlCol="0" anchor="ctr"/>
          <a:lstStyle/>
          <a:p>
            <a:pPr marL="0" indent="0">
              <a:buNone/>
            </a:pPr>
            <a:r>
              <a:rPr lang="en-US" sz="1200" b="1" kern="0" spc="200" dirty="0">
                <a:solidFill>
                  <a:srgbClr val="6C5CBF"/>
                </a:solidFill>
                <a:latin typeface="Calibri" pitchFamily="34" charset="0"/>
                <a:ea typeface="Calibri" pitchFamily="34" charset="-122"/>
                <a:cs typeface="Calibri" pitchFamily="34" charset="-120"/>
              </a:rPr>
              <a:t>USER JOURNEY MAP</a:t>
            </a:r>
            <a:endParaRPr lang="en-US" sz="1200" dirty="0"/>
          </a:p>
        </p:txBody>
      </p:sp>
      <p:sp>
        <p:nvSpPr>
          <p:cNvPr id="3" name="Text 1"/>
          <p:cNvSpPr/>
          <p:nvPr/>
        </p:nvSpPr>
        <p:spPr>
          <a:xfrm>
            <a:off x="457200" y="548640"/>
            <a:ext cx="8686800" cy="50292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Landing a New Design Client</a:t>
            </a:r>
            <a:endParaRPr lang="en-US" sz="2400" dirty="0"/>
          </a:p>
        </p:txBody>
      </p:sp>
      <p:sp>
        <p:nvSpPr>
          <p:cNvPr id="4" name="Shape 2"/>
          <p:cNvSpPr/>
          <p:nvPr/>
        </p:nvSpPr>
        <p:spPr>
          <a:xfrm>
            <a:off x="9966960" y="292608"/>
            <a:ext cx="566928" cy="566928"/>
          </a:xfrm>
          <a:prstGeom prst="ellipse">
            <a:avLst/>
          </a:prstGeom>
          <a:solidFill>
            <a:srgbClr val="C9BFEA"/>
          </a:solidFill>
          <a:ln/>
        </p:spPr>
      </p:sp>
      <p:sp>
        <p:nvSpPr>
          <p:cNvPr id="5" name="Text 3"/>
          <p:cNvSpPr/>
          <p:nvPr/>
        </p:nvSpPr>
        <p:spPr>
          <a:xfrm>
            <a:off x="9966960" y="292608"/>
            <a:ext cx="566928"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PM</a:t>
            </a:r>
            <a:endParaRPr lang="en-US" sz="1300" dirty="0"/>
          </a:p>
        </p:txBody>
      </p:sp>
      <p:sp>
        <p:nvSpPr>
          <p:cNvPr id="6" name="Text 4"/>
          <p:cNvSpPr/>
          <p:nvPr/>
        </p:nvSpPr>
        <p:spPr>
          <a:xfrm>
            <a:off x="10607040" y="310896"/>
            <a:ext cx="2743200" cy="274320"/>
          </a:xfrm>
          <a:prstGeom prst="rect">
            <a:avLst/>
          </a:prstGeom>
          <a:noFill/>
          <a:ln/>
        </p:spPr>
        <p:txBody>
          <a:bodyPr wrap="square" rtlCol="0" anchor="ctr"/>
          <a:lstStyle/>
          <a:p>
            <a:pPr marL="0" indent="0">
              <a:buNone/>
            </a:pPr>
            <a:r>
              <a:rPr lang="en-US" sz="1100" b="1" dirty="0">
                <a:solidFill>
                  <a:srgbClr val="2E2B45"/>
                </a:solidFill>
                <a:latin typeface="Calibri" pitchFamily="34" charset="0"/>
                <a:ea typeface="Calibri" pitchFamily="34" charset="-122"/>
                <a:cs typeface="Calibri" pitchFamily="34" charset="-120"/>
              </a:rPr>
              <a:t>Priya Menon</a:t>
            </a:r>
            <a:endParaRPr lang="en-US" sz="1100" dirty="0"/>
          </a:p>
        </p:txBody>
      </p:sp>
      <p:sp>
        <p:nvSpPr>
          <p:cNvPr id="7" name="Text 5"/>
          <p:cNvSpPr/>
          <p:nvPr/>
        </p:nvSpPr>
        <p:spPr>
          <a:xfrm>
            <a:off x="10607040" y="548640"/>
            <a:ext cx="2743200" cy="274320"/>
          </a:xfrm>
          <a:prstGeom prst="rect">
            <a:avLst/>
          </a:prstGeom>
          <a:noFill/>
          <a:ln/>
        </p:spPr>
        <p:txBody>
          <a:bodyPr wrap="square" rtlCol="0" anchor="ctr"/>
          <a:lstStyle/>
          <a:p>
            <a:pPr marL="0" indent="0">
              <a:buNone/>
            </a:pPr>
            <a:r>
              <a:rPr lang="en-US" sz="850" dirty="0">
                <a:solidFill>
                  <a:srgbClr val="5B5570"/>
                </a:solidFill>
                <a:latin typeface="Calibri" pitchFamily="34" charset="0"/>
                <a:ea typeface="Calibri" pitchFamily="34" charset="-122"/>
                <a:cs typeface="Calibri" pitchFamily="34" charset="-120"/>
              </a:rPr>
              <a:t>Freelance Graphic Designer</a:t>
            </a:r>
            <a:endParaRPr lang="en-US" sz="850" dirty="0"/>
          </a:p>
        </p:txBody>
      </p:sp>
      <p:sp>
        <p:nvSpPr>
          <p:cNvPr id="8" name="Shape 6"/>
          <p:cNvSpPr/>
          <p:nvPr/>
        </p:nvSpPr>
        <p:spPr>
          <a:xfrm>
            <a:off x="457200" y="1234440"/>
            <a:ext cx="2181758" cy="502920"/>
          </a:xfrm>
          <a:prstGeom prst="roundRect">
            <a:avLst>
              <a:gd name="adj" fmla="val 10909"/>
            </a:avLst>
          </a:prstGeom>
          <a:solidFill>
            <a:srgbClr val="6C5CBF"/>
          </a:solidFill>
          <a:ln/>
        </p:spPr>
      </p:sp>
      <p:sp>
        <p:nvSpPr>
          <p:cNvPr id="9" name="Text 7"/>
          <p:cNvSpPr/>
          <p:nvPr/>
        </p:nvSpPr>
        <p:spPr>
          <a:xfrm>
            <a:off x="53035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Finds a Job Post</a:t>
            </a:r>
            <a:endParaRPr lang="en-US" sz="1000" dirty="0"/>
          </a:p>
        </p:txBody>
      </p:sp>
      <p:sp>
        <p:nvSpPr>
          <p:cNvPr id="10" name="Shape 8"/>
          <p:cNvSpPr/>
          <p:nvPr/>
        </p:nvSpPr>
        <p:spPr>
          <a:xfrm>
            <a:off x="2712110" y="1234440"/>
            <a:ext cx="2181758" cy="502920"/>
          </a:xfrm>
          <a:prstGeom prst="roundRect">
            <a:avLst>
              <a:gd name="adj" fmla="val 10909"/>
            </a:avLst>
          </a:prstGeom>
          <a:solidFill>
            <a:srgbClr val="6C5CBF"/>
          </a:solidFill>
          <a:ln/>
        </p:spPr>
      </p:sp>
      <p:sp>
        <p:nvSpPr>
          <p:cNvPr id="11" name="Text 9"/>
          <p:cNvSpPr/>
          <p:nvPr/>
        </p:nvSpPr>
        <p:spPr>
          <a:xfrm>
            <a:off x="278526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Submits Tailored Proposal</a:t>
            </a:r>
            <a:endParaRPr lang="en-US" sz="1000" dirty="0"/>
          </a:p>
        </p:txBody>
      </p:sp>
      <p:sp>
        <p:nvSpPr>
          <p:cNvPr id="12" name="Shape 10"/>
          <p:cNvSpPr/>
          <p:nvPr/>
        </p:nvSpPr>
        <p:spPr>
          <a:xfrm>
            <a:off x="4967021" y="1234440"/>
            <a:ext cx="2181758" cy="502920"/>
          </a:xfrm>
          <a:prstGeom prst="roundRect">
            <a:avLst>
              <a:gd name="adj" fmla="val 10909"/>
            </a:avLst>
          </a:prstGeom>
          <a:solidFill>
            <a:srgbClr val="6C5CBF"/>
          </a:solidFill>
          <a:ln/>
        </p:spPr>
      </p:sp>
      <p:sp>
        <p:nvSpPr>
          <p:cNvPr id="13" name="Text 11"/>
          <p:cNvSpPr/>
          <p:nvPr/>
        </p:nvSpPr>
        <p:spPr>
          <a:xfrm>
            <a:off x="504017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Client Requests a Revision</a:t>
            </a:r>
            <a:endParaRPr lang="en-US" sz="1000" dirty="0"/>
          </a:p>
        </p:txBody>
      </p:sp>
      <p:sp>
        <p:nvSpPr>
          <p:cNvPr id="14" name="Shape 12"/>
          <p:cNvSpPr/>
          <p:nvPr/>
        </p:nvSpPr>
        <p:spPr>
          <a:xfrm>
            <a:off x="7221931" y="1234440"/>
            <a:ext cx="2181758" cy="502920"/>
          </a:xfrm>
          <a:prstGeom prst="roundRect">
            <a:avLst>
              <a:gd name="adj" fmla="val 10909"/>
            </a:avLst>
          </a:prstGeom>
          <a:solidFill>
            <a:srgbClr val="6C5CBF"/>
          </a:solidFill>
          <a:ln/>
        </p:spPr>
      </p:sp>
      <p:sp>
        <p:nvSpPr>
          <p:cNvPr id="15" name="Text 13"/>
          <p:cNvSpPr/>
          <p:nvPr/>
        </p:nvSpPr>
        <p:spPr>
          <a:xfrm>
            <a:off x="729508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Negotiates Final Scope</a:t>
            </a:r>
            <a:endParaRPr lang="en-US" sz="1000" dirty="0"/>
          </a:p>
        </p:txBody>
      </p:sp>
      <p:sp>
        <p:nvSpPr>
          <p:cNvPr id="16" name="Shape 14"/>
          <p:cNvSpPr/>
          <p:nvPr/>
        </p:nvSpPr>
        <p:spPr>
          <a:xfrm>
            <a:off x="9476842" y="1234440"/>
            <a:ext cx="2181758" cy="502920"/>
          </a:xfrm>
          <a:prstGeom prst="roundRect">
            <a:avLst>
              <a:gd name="adj" fmla="val 10909"/>
            </a:avLst>
          </a:prstGeom>
          <a:solidFill>
            <a:srgbClr val="6C5CBF"/>
          </a:solidFill>
          <a:ln/>
        </p:spPr>
      </p:sp>
      <p:sp>
        <p:nvSpPr>
          <p:cNvPr id="17" name="Text 15"/>
          <p:cNvSpPr/>
          <p:nvPr/>
        </p:nvSpPr>
        <p:spPr>
          <a:xfrm>
            <a:off x="9549994"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Delivers &amp; Gets Paid</a:t>
            </a:r>
            <a:endParaRPr lang="en-US" sz="1000" dirty="0"/>
          </a:p>
        </p:txBody>
      </p:sp>
      <p:sp>
        <p:nvSpPr>
          <p:cNvPr id="18" name="Shape 16"/>
          <p:cNvSpPr/>
          <p:nvPr/>
        </p:nvSpPr>
        <p:spPr>
          <a:xfrm>
            <a:off x="457200" y="1810512"/>
            <a:ext cx="2181758" cy="1965960"/>
          </a:xfrm>
          <a:prstGeom prst="roundRect">
            <a:avLst>
              <a:gd name="adj" fmla="val 2791"/>
            </a:avLst>
          </a:prstGeom>
          <a:solidFill>
            <a:srgbClr val="FFFFFF"/>
          </a:solidFill>
          <a:ln w="12700">
            <a:solidFill>
              <a:srgbClr val="E7E3F3"/>
            </a:solidFill>
            <a:prstDash val="solid"/>
          </a:ln>
        </p:spPr>
      </p:sp>
      <p:sp>
        <p:nvSpPr>
          <p:cNvPr id="19" name="Text 17"/>
          <p:cNvSpPr/>
          <p:nvPr/>
        </p:nvSpPr>
        <p:spPr>
          <a:xfrm>
            <a:off x="56692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Filters jobs by design niche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Skims 20 posts for realistic budgets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Shortlists three worth a tailored pitch</a:t>
            </a:r>
            <a:endParaRPr lang="en-US" sz="1200" dirty="0"/>
          </a:p>
        </p:txBody>
      </p:sp>
      <p:sp>
        <p:nvSpPr>
          <p:cNvPr id="20" name="Shape 18"/>
          <p:cNvSpPr/>
          <p:nvPr/>
        </p:nvSpPr>
        <p:spPr>
          <a:xfrm>
            <a:off x="2730399" y="1751076"/>
            <a:ext cx="2181758" cy="1965960"/>
          </a:xfrm>
          <a:prstGeom prst="roundRect">
            <a:avLst>
              <a:gd name="adj" fmla="val 2791"/>
            </a:avLst>
          </a:prstGeom>
          <a:solidFill>
            <a:srgbClr val="FFFFFF"/>
          </a:solidFill>
          <a:ln w="12700">
            <a:solidFill>
              <a:srgbClr val="E7E3F3"/>
            </a:solidFill>
            <a:prstDash val="solid"/>
          </a:ln>
        </p:spPr>
      </p:sp>
      <p:sp>
        <p:nvSpPr>
          <p:cNvPr id="21" name="Text 19"/>
          <p:cNvSpPr/>
          <p:nvPr/>
        </p:nvSpPr>
        <p:spPr>
          <a:xfrm>
            <a:off x="282183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Writes a custom pitch referencing the brand</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Attaches a matching mockup sample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Sets her rate without discounting</a:t>
            </a:r>
            <a:endParaRPr lang="en-US" sz="1200" dirty="0"/>
          </a:p>
        </p:txBody>
      </p:sp>
      <p:sp>
        <p:nvSpPr>
          <p:cNvPr id="22" name="Shape 20"/>
          <p:cNvSpPr/>
          <p:nvPr/>
        </p:nvSpPr>
        <p:spPr>
          <a:xfrm>
            <a:off x="4967021" y="1810512"/>
            <a:ext cx="2181758" cy="1965960"/>
          </a:xfrm>
          <a:prstGeom prst="roundRect">
            <a:avLst>
              <a:gd name="adj" fmla="val 2791"/>
            </a:avLst>
          </a:prstGeom>
          <a:solidFill>
            <a:srgbClr val="FFFFFF"/>
          </a:solidFill>
          <a:ln w="12700">
            <a:solidFill>
              <a:srgbClr val="E7E3F3"/>
            </a:solidFill>
            <a:prstDash val="solid"/>
          </a:ln>
        </p:spPr>
      </p:sp>
      <p:sp>
        <p:nvSpPr>
          <p:cNvPr id="23" name="Text 21"/>
          <p:cNvSpPr/>
          <p:nvPr/>
        </p:nvSpPr>
        <p:spPr>
          <a:xfrm>
            <a:off x="507674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Gets vague feedback (“make it pop”)</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Asks clarifying questions over chat</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Reworks the concept the same day</a:t>
            </a:r>
            <a:endParaRPr lang="en-US" sz="1200" dirty="0"/>
          </a:p>
        </p:txBody>
      </p:sp>
      <p:sp>
        <p:nvSpPr>
          <p:cNvPr id="24" name="Shape 22"/>
          <p:cNvSpPr/>
          <p:nvPr/>
        </p:nvSpPr>
        <p:spPr>
          <a:xfrm>
            <a:off x="7221931" y="1810512"/>
            <a:ext cx="2181758" cy="1965960"/>
          </a:xfrm>
          <a:prstGeom prst="roundRect">
            <a:avLst>
              <a:gd name="adj" fmla="val 2791"/>
            </a:avLst>
          </a:prstGeom>
          <a:solidFill>
            <a:srgbClr val="FFFFFF"/>
          </a:solidFill>
          <a:ln w="12700">
            <a:solidFill>
              <a:srgbClr val="E7E3F3"/>
            </a:solidFill>
            <a:prstDash val="solid"/>
          </a:ln>
        </p:spPr>
      </p:sp>
      <p:sp>
        <p:nvSpPr>
          <p:cNvPr id="25" name="Text 23"/>
          <p:cNvSpPr/>
          <p:nvPr/>
        </p:nvSpPr>
        <p:spPr>
          <a:xfrm>
            <a:off x="733165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Client asks for two extra logo variations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Explains added scope needs added pay</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Agrees on a small scope addendum</a:t>
            </a:r>
            <a:endParaRPr lang="en-US" sz="1200" dirty="0"/>
          </a:p>
        </p:txBody>
      </p:sp>
      <p:sp>
        <p:nvSpPr>
          <p:cNvPr id="26" name="Shape 24"/>
          <p:cNvSpPr/>
          <p:nvPr/>
        </p:nvSpPr>
        <p:spPr>
          <a:xfrm>
            <a:off x="9476842" y="1810512"/>
            <a:ext cx="2181758" cy="1965960"/>
          </a:xfrm>
          <a:prstGeom prst="roundRect">
            <a:avLst>
              <a:gd name="adj" fmla="val 2791"/>
            </a:avLst>
          </a:prstGeom>
          <a:solidFill>
            <a:srgbClr val="FFFFFF"/>
          </a:solidFill>
          <a:ln w="12700">
            <a:solidFill>
              <a:srgbClr val="E7E3F3"/>
            </a:solidFill>
            <a:prstDash val="solid"/>
          </a:ln>
        </p:spPr>
      </p:sp>
      <p:sp>
        <p:nvSpPr>
          <p:cNvPr id="27" name="Text 25"/>
          <p:cNvSpPr/>
          <p:nvPr/>
        </p:nvSpPr>
        <p:spPr>
          <a:xfrm>
            <a:off x="9586570"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Sends final files in agreed formats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Requests milestone release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Waits two days for payment to clear</a:t>
            </a:r>
            <a:endParaRPr lang="en-US" sz="1200" dirty="0"/>
          </a:p>
        </p:txBody>
      </p:sp>
      <p:sp>
        <p:nvSpPr>
          <p:cNvPr id="28" name="Shape 26"/>
          <p:cNvSpPr/>
          <p:nvPr/>
        </p:nvSpPr>
        <p:spPr>
          <a:xfrm>
            <a:off x="457200" y="3849624"/>
            <a:ext cx="2181758" cy="457200"/>
          </a:xfrm>
          <a:prstGeom prst="roundRect">
            <a:avLst>
              <a:gd name="adj" fmla="val 12000"/>
            </a:avLst>
          </a:prstGeom>
          <a:solidFill>
            <a:srgbClr val="EFEBFA"/>
          </a:solidFill>
          <a:ln/>
        </p:spPr>
      </p:sp>
      <p:sp>
        <p:nvSpPr>
          <p:cNvPr id="29" name="Text 27"/>
          <p:cNvSpPr/>
          <p:nvPr/>
        </p:nvSpPr>
        <p:spPr>
          <a:xfrm>
            <a:off x="530352" y="3849624"/>
            <a:ext cx="2035454" cy="457200"/>
          </a:xfrm>
          <a:prstGeom prst="rect">
            <a:avLst/>
          </a:prstGeom>
          <a:noFill/>
          <a:ln/>
        </p:spPr>
        <p:txBody>
          <a:bodyPr wrap="square" rtlCol="0" anchor="ctr"/>
          <a:lstStyle/>
          <a:p>
            <a:pPr marL="0" indent="0" algn="ctr">
              <a:buNone/>
            </a:pPr>
            <a:r>
              <a:rPr lang="en-US" sz="1050" b="1" dirty="0">
                <a:solidFill>
                  <a:srgbClr val="6C5CBF"/>
                </a:solidFill>
                <a:latin typeface="Calibri" pitchFamily="34" charset="0"/>
                <a:ea typeface="Calibri" pitchFamily="34" charset="-122"/>
                <a:cs typeface="Calibri" pitchFamily="34" charset="-120"/>
              </a:rPr>
              <a:t>Hopeful</a:t>
            </a:r>
            <a:endParaRPr lang="en-US" sz="1050" dirty="0"/>
          </a:p>
        </p:txBody>
      </p:sp>
      <p:sp>
        <p:nvSpPr>
          <p:cNvPr id="30" name="Shape 28"/>
          <p:cNvSpPr/>
          <p:nvPr/>
        </p:nvSpPr>
        <p:spPr>
          <a:xfrm>
            <a:off x="2712110" y="3849624"/>
            <a:ext cx="2181758" cy="457200"/>
          </a:xfrm>
          <a:prstGeom prst="roundRect">
            <a:avLst>
              <a:gd name="adj" fmla="val 12000"/>
            </a:avLst>
          </a:prstGeom>
          <a:solidFill>
            <a:srgbClr val="EFEBFA"/>
          </a:solidFill>
          <a:ln/>
        </p:spPr>
      </p:sp>
      <p:sp>
        <p:nvSpPr>
          <p:cNvPr id="31" name="Text 29"/>
          <p:cNvSpPr/>
          <p:nvPr/>
        </p:nvSpPr>
        <p:spPr>
          <a:xfrm>
            <a:off x="2785262" y="3849624"/>
            <a:ext cx="2035454" cy="457200"/>
          </a:xfrm>
          <a:prstGeom prst="rect">
            <a:avLst/>
          </a:prstGeom>
          <a:noFill/>
          <a:ln/>
        </p:spPr>
        <p:txBody>
          <a:bodyPr wrap="square" rtlCol="0" anchor="ctr"/>
          <a:lstStyle/>
          <a:p>
            <a:pPr marL="0" indent="0" algn="ctr">
              <a:buNone/>
            </a:pPr>
            <a:r>
              <a:rPr lang="en-US" sz="1050" b="1" dirty="0">
                <a:solidFill>
                  <a:srgbClr val="6C5CBF"/>
                </a:solidFill>
                <a:latin typeface="Calibri" pitchFamily="34" charset="0"/>
                <a:ea typeface="Calibri" pitchFamily="34" charset="-122"/>
                <a:cs typeface="Calibri" pitchFamily="34" charset="-120"/>
              </a:rPr>
              <a:t>Confident</a:t>
            </a:r>
            <a:endParaRPr lang="en-US" sz="1050" dirty="0"/>
          </a:p>
        </p:txBody>
      </p:sp>
      <p:sp>
        <p:nvSpPr>
          <p:cNvPr id="32" name="Shape 30"/>
          <p:cNvSpPr/>
          <p:nvPr/>
        </p:nvSpPr>
        <p:spPr>
          <a:xfrm>
            <a:off x="4967021" y="3849624"/>
            <a:ext cx="2181758" cy="457200"/>
          </a:xfrm>
          <a:prstGeom prst="roundRect">
            <a:avLst>
              <a:gd name="adj" fmla="val 12000"/>
            </a:avLst>
          </a:prstGeom>
          <a:solidFill>
            <a:srgbClr val="EFEBFA"/>
          </a:solidFill>
          <a:ln/>
        </p:spPr>
      </p:sp>
      <p:sp>
        <p:nvSpPr>
          <p:cNvPr id="33" name="Text 31"/>
          <p:cNvSpPr/>
          <p:nvPr/>
        </p:nvSpPr>
        <p:spPr>
          <a:xfrm>
            <a:off x="5040173" y="3849624"/>
            <a:ext cx="2035454" cy="457200"/>
          </a:xfrm>
          <a:prstGeom prst="rect">
            <a:avLst/>
          </a:prstGeom>
          <a:noFill/>
          <a:ln/>
        </p:spPr>
        <p:txBody>
          <a:bodyPr wrap="square" rtlCol="0" anchor="ctr"/>
          <a:lstStyle/>
          <a:p>
            <a:pPr marL="0" indent="0" algn="ctr">
              <a:buNone/>
            </a:pPr>
            <a:r>
              <a:rPr lang="en-US" sz="1050" b="1" dirty="0">
                <a:solidFill>
                  <a:srgbClr val="6C5CBF"/>
                </a:solidFill>
                <a:latin typeface="Calibri" pitchFamily="34" charset="0"/>
                <a:ea typeface="Calibri" pitchFamily="34" charset="-122"/>
                <a:cs typeface="Calibri" pitchFamily="34" charset="-120"/>
              </a:rPr>
              <a:t>Uncertain</a:t>
            </a:r>
            <a:endParaRPr lang="en-US" sz="1050" dirty="0"/>
          </a:p>
        </p:txBody>
      </p:sp>
      <p:sp>
        <p:nvSpPr>
          <p:cNvPr id="34" name="Shape 32"/>
          <p:cNvSpPr/>
          <p:nvPr/>
        </p:nvSpPr>
        <p:spPr>
          <a:xfrm>
            <a:off x="7221931" y="3849624"/>
            <a:ext cx="2181758" cy="457200"/>
          </a:xfrm>
          <a:prstGeom prst="roundRect">
            <a:avLst>
              <a:gd name="adj" fmla="val 12000"/>
            </a:avLst>
          </a:prstGeom>
          <a:solidFill>
            <a:srgbClr val="EFEBFA"/>
          </a:solidFill>
          <a:ln/>
        </p:spPr>
      </p:sp>
      <p:sp>
        <p:nvSpPr>
          <p:cNvPr id="35" name="Text 33"/>
          <p:cNvSpPr/>
          <p:nvPr/>
        </p:nvSpPr>
        <p:spPr>
          <a:xfrm>
            <a:off x="7295083" y="3849624"/>
            <a:ext cx="2035454" cy="457200"/>
          </a:xfrm>
          <a:prstGeom prst="rect">
            <a:avLst/>
          </a:prstGeom>
          <a:noFill/>
          <a:ln/>
        </p:spPr>
        <p:txBody>
          <a:bodyPr wrap="square" rtlCol="0" anchor="ctr"/>
          <a:lstStyle/>
          <a:p>
            <a:pPr marL="0" indent="0" algn="ctr">
              <a:buNone/>
            </a:pPr>
            <a:r>
              <a:rPr lang="en-US" sz="1050" b="1" dirty="0">
                <a:solidFill>
                  <a:srgbClr val="6C5CBF"/>
                </a:solidFill>
                <a:latin typeface="Calibri" pitchFamily="34" charset="0"/>
                <a:ea typeface="Calibri" pitchFamily="34" charset="-122"/>
                <a:cs typeface="Calibri" pitchFamily="34" charset="-120"/>
              </a:rPr>
              <a:t>Firm</a:t>
            </a:r>
            <a:endParaRPr lang="en-US" sz="1050" dirty="0"/>
          </a:p>
        </p:txBody>
      </p:sp>
      <p:sp>
        <p:nvSpPr>
          <p:cNvPr id="36" name="Shape 34"/>
          <p:cNvSpPr/>
          <p:nvPr/>
        </p:nvSpPr>
        <p:spPr>
          <a:xfrm>
            <a:off x="9476842" y="3849624"/>
            <a:ext cx="2181758" cy="457200"/>
          </a:xfrm>
          <a:prstGeom prst="roundRect">
            <a:avLst>
              <a:gd name="adj" fmla="val 12000"/>
            </a:avLst>
          </a:prstGeom>
          <a:solidFill>
            <a:srgbClr val="EFEBFA"/>
          </a:solidFill>
          <a:ln/>
        </p:spPr>
      </p:sp>
      <p:sp>
        <p:nvSpPr>
          <p:cNvPr id="37" name="Text 35"/>
          <p:cNvSpPr/>
          <p:nvPr/>
        </p:nvSpPr>
        <p:spPr>
          <a:xfrm>
            <a:off x="9549994" y="3849624"/>
            <a:ext cx="2035454" cy="457200"/>
          </a:xfrm>
          <a:prstGeom prst="rect">
            <a:avLst/>
          </a:prstGeom>
          <a:noFill/>
          <a:ln/>
        </p:spPr>
        <p:txBody>
          <a:bodyPr wrap="square" rtlCol="0" anchor="ctr"/>
          <a:lstStyle/>
          <a:p>
            <a:pPr marL="0" indent="0" algn="ctr">
              <a:buNone/>
            </a:pPr>
            <a:r>
              <a:rPr lang="en-US" sz="1050" b="1" dirty="0">
                <a:solidFill>
                  <a:srgbClr val="6C5CBF"/>
                </a:solidFill>
                <a:latin typeface="Calibri" pitchFamily="34" charset="0"/>
                <a:ea typeface="Calibri" pitchFamily="34" charset="-122"/>
                <a:cs typeface="Calibri" pitchFamily="34" charset="-120"/>
              </a:rPr>
              <a:t>Relieved</a:t>
            </a:r>
            <a:endParaRPr lang="en-US" sz="1050" dirty="0"/>
          </a:p>
        </p:txBody>
      </p:sp>
      <p:sp>
        <p:nvSpPr>
          <p:cNvPr id="38" name="Shape 36"/>
          <p:cNvSpPr/>
          <p:nvPr/>
        </p:nvSpPr>
        <p:spPr>
          <a:xfrm>
            <a:off x="457200" y="4398638"/>
            <a:ext cx="2181758" cy="1600200"/>
          </a:xfrm>
          <a:prstGeom prst="roundRect">
            <a:avLst>
              <a:gd name="adj" fmla="val 3429"/>
            </a:avLst>
          </a:prstGeom>
          <a:solidFill>
            <a:srgbClr val="EFEBFA"/>
          </a:solidFill>
          <a:ln/>
        </p:spPr>
      </p:sp>
      <p:sp>
        <p:nvSpPr>
          <p:cNvPr id="39" name="Text 37"/>
          <p:cNvSpPr/>
          <p:nvPr/>
        </p:nvSpPr>
        <p:spPr>
          <a:xfrm>
            <a:off x="56692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Smarter filters that hide jobs below her minimum rate automatically.</a:t>
            </a:r>
            <a:endParaRPr lang="en-US" sz="1400" dirty="0"/>
          </a:p>
        </p:txBody>
      </p:sp>
      <p:sp>
        <p:nvSpPr>
          <p:cNvPr id="40" name="Shape 38"/>
          <p:cNvSpPr/>
          <p:nvPr/>
        </p:nvSpPr>
        <p:spPr>
          <a:xfrm>
            <a:off x="2712110" y="4379976"/>
            <a:ext cx="2181758" cy="1600200"/>
          </a:xfrm>
          <a:prstGeom prst="roundRect">
            <a:avLst>
              <a:gd name="adj" fmla="val 3429"/>
            </a:avLst>
          </a:prstGeom>
          <a:solidFill>
            <a:srgbClr val="EFEBFA"/>
          </a:solidFill>
          <a:ln/>
        </p:spPr>
      </p:sp>
      <p:sp>
        <p:nvSpPr>
          <p:cNvPr id="41" name="Text 39"/>
          <p:cNvSpPr/>
          <p:nvPr/>
        </p:nvSpPr>
        <p:spPr>
          <a:xfrm>
            <a:off x="282183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proposal template that auto-pulls relevant portfolio pieces for the job category.</a:t>
            </a:r>
            <a:endParaRPr lang="en-US" sz="1400" dirty="0"/>
          </a:p>
        </p:txBody>
      </p:sp>
      <p:sp>
        <p:nvSpPr>
          <p:cNvPr id="42" name="Shape 40"/>
          <p:cNvSpPr/>
          <p:nvPr/>
        </p:nvSpPr>
        <p:spPr>
          <a:xfrm>
            <a:off x="4967021" y="4379976"/>
            <a:ext cx="2181758" cy="1600200"/>
          </a:xfrm>
          <a:prstGeom prst="roundRect">
            <a:avLst>
              <a:gd name="adj" fmla="val 3429"/>
            </a:avLst>
          </a:prstGeom>
          <a:solidFill>
            <a:srgbClr val="EFEBFA"/>
          </a:solidFill>
          <a:ln/>
        </p:spPr>
      </p:sp>
      <p:sp>
        <p:nvSpPr>
          <p:cNvPr id="43" name="Text 41"/>
          <p:cNvSpPr/>
          <p:nvPr/>
        </p:nvSpPr>
        <p:spPr>
          <a:xfrm>
            <a:off x="507674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structured feedback form clients fill out instead of open-ended chat notes</a:t>
            </a:r>
            <a:r>
              <a:rPr lang="en-US" sz="850" i="1" dirty="0">
                <a:solidFill>
                  <a:srgbClr val="2E2B45"/>
                </a:solidFill>
                <a:latin typeface="Calibri" pitchFamily="34" charset="0"/>
                <a:ea typeface="Calibri" pitchFamily="34" charset="-122"/>
                <a:cs typeface="Calibri" pitchFamily="34" charset="-120"/>
              </a:rPr>
              <a:t>.</a:t>
            </a:r>
            <a:endParaRPr lang="en-US" sz="850" dirty="0"/>
          </a:p>
        </p:txBody>
      </p:sp>
      <p:sp>
        <p:nvSpPr>
          <p:cNvPr id="44" name="Shape 42"/>
          <p:cNvSpPr/>
          <p:nvPr/>
        </p:nvSpPr>
        <p:spPr>
          <a:xfrm>
            <a:off x="7221931" y="4379976"/>
            <a:ext cx="2181758" cy="1600200"/>
          </a:xfrm>
          <a:prstGeom prst="roundRect">
            <a:avLst>
              <a:gd name="adj" fmla="val 3429"/>
            </a:avLst>
          </a:prstGeom>
          <a:solidFill>
            <a:srgbClr val="EFEBFA"/>
          </a:solidFill>
          <a:ln/>
        </p:spPr>
      </p:sp>
      <p:sp>
        <p:nvSpPr>
          <p:cNvPr id="45" name="Text 43"/>
          <p:cNvSpPr/>
          <p:nvPr/>
        </p:nvSpPr>
        <p:spPr>
          <a:xfrm>
            <a:off x="733165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one-click “add to scope” button that updates the contract and price together</a:t>
            </a:r>
            <a:r>
              <a:rPr lang="en-US" sz="850" i="1" dirty="0">
                <a:solidFill>
                  <a:srgbClr val="2E2B45"/>
                </a:solidFill>
                <a:latin typeface="Calibri" pitchFamily="34" charset="0"/>
                <a:ea typeface="Calibri" pitchFamily="34" charset="-122"/>
                <a:cs typeface="Calibri" pitchFamily="34" charset="-120"/>
              </a:rPr>
              <a:t>.</a:t>
            </a:r>
            <a:endParaRPr lang="en-US" sz="850" dirty="0"/>
          </a:p>
        </p:txBody>
      </p:sp>
      <p:sp>
        <p:nvSpPr>
          <p:cNvPr id="46" name="Shape 44"/>
          <p:cNvSpPr/>
          <p:nvPr/>
        </p:nvSpPr>
        <p:spPr>
          <a:xfrm>
            <a:off x="9476842" y="4379976"/>
            <a:ext cx="2181758" cy="1600200"/>
          </a:xfrm>
          <a:prstGeom prst="roundRect">
            <a:avLst>
              <a:gd name="adj" fmla="val 3429"/>
            </a:avLst>
          </a:prstGeom>
          <a:solidFill>
            <a:srgbClr val="EFEBFA"/>
          </a:solidFill>
          <a:ln/>
        </p:spPr>
      </p:sp>
      <p:sp>
        <p:nvSpPr>
          <p:cNvPr id="47" name="Text 45"/>
          <p:cNvSpPr/>
          <p:nvPr/>
        </p:nvSpPr>
        <p:spPr>
          <a:xfrm>
            <a:off x="9586570"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Instant milestone release once the client marks the work approved, not a multi-day hold.</a:t>
            </a:r>
            <a:endParaRPr lang="en-US" sz="1400" dirty="0"/>
          </a:p>
        </p:txBody>
      </p:sp>
      <p:sp>
        <p:nvSpPr>
          <p:cNvPr id="48" name="Text 46"/>
          <p:cNvSpPr/>
          <p:nvPr/>
        </p:nvSpPr>
        <p:spPr>
          <a:xfrm>
            <a:off x="457200" y="6537960"/>
            <a:ext cx="7315200" cy="274320"/>
          </a:xfrm>
          <a:prstGeom prst="rect">
            <a:avLst/>
          </a:prstGeom>
          <a:noFill/>
          <a:ln/>
        </p:spPr>
        <p:txBody>
          <a:bodyPr wrap="square" rtlCol="0" anchor="ctr"/>
          <a:lstStyle/>
          <a:p>
            <a:pPr marL="0" indent="0">
              <a:buNone/>
            </a:pPr>
            <a:endParaRPr lang="en-US" sz="900" dirty="0"/>
          </a:p>
        </p:txBody>
      </p:sp>
      <p:sp>
        <p:nvSpPr>
          <p:cNvPr id="49" name="Text 47"/>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rtlCol="0" anchor="ctr"/>
          <a:lstStyle/>
          <a:p>
            <a:pPr marL="0" indent="0">
              <a:buNone/>
            </a:pPr>
            <a:r>
              <a:rPr lang="en-US" sz="1200" b="1" kern="0" spc="200" dirty="0">
                <a:solidFill>
                  <a:srgbClr val="3E7CB1"/>
                </a:solidFill>
                <a:latin typeface="Calibri" pitchFamily="34" charset="0"/>
                <a:ea typeface="Calibri" pitchFamily="34" charset="-122"/>
                <a:cs typeface="Calibri" pitchFamily="34" charset="-120"/>
              </a:rPr>
              <a:t>USER JOURNEY MAP</a:t>
            </a:r>
            <a:endParaRPr lang="en-US" sz="1200" dirty="0"/>
          </a:p>
        </p:txBody>
      </p:sp>
      <p:sp>
        <p:nvSpPr>
          <p:cNvPr id="3" name="Text 1"/>
          <p:cNvSpPr/>
          <p:nvPr/>
        </p:nvSpPr>
        <p:spPr>
          <a:xfrm>
            <a:off x="457200" y="548640"/>
            <a:ext cx="8686800" cy="50292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Managing a Long-Term Dev Contract</a:t>
            </a:r>
            <a:endParaRPr lang="en-US" sz="2400" dirty="0"/>
          </a:p>
        </p:txBody>
      </p:sp>
      <p:sp>
        <p:nvSpPr>
          <p:cNvPr id="4" name="Shape 2"/>
          <p:cNvSpPr/>
          <p:nvPr/>
        </p:nvSpPr>
        <p:spPr>
          <a:xfrm>
            <a:off x="9966960" y="292608"/>
            <a:ext cx="566928" cy="566928"/>
          </a:xfrm>
          <a:prstGeom prst="ellipse">
            <a:avLst/>
          </a:prstGeom>
          <a:solidFill>
            <a:srgbClr val="AEDFF7"/>
          </a:solidFill>
          <a:ln/>
        </p:spPr>
      </p:sp>
      <p:sp>
        <p:nvSpPr>
          <p:cNvPr id="5" name="Text 3"/>
          <p:cNvSpPr/>
          <p:nvPr/>
        </p:nvSpPr>
        <p:spPr>
          <a:xfrm>
            <a:off x="9966960" y="292608"/>
            <a:ext cx="566928"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AV</a:t>
            </a:r>
            <a:endParaRPr lang="en-US" sz="1300" dirty="0"/>
          </a:p>
        </p:txBody>
      </p:sp>
      <p:sp>
        <p:nvSpPr>
          <p:cNvPr id="6" name="Text 4"/>
          <p:cNvSpPr/>
          <p:nvPr/>
        </p:nvSpPr>
        <p:spPr>
          <a:xfrm>
            <a:off x="10607040" y="310896"/>
            <a:ext cx="2743200" cy="274320"/>
          </a:xfrm>
          <a:prstGeom prst="rect">
            <a:avLst/>
          </a:prstGeom>
          <a:noFill/>
          <a:ln/>
        </p:spPr>
        <p:txBody>
          <a:bodyPr wrap="square" rtlCol="0" anchor="ctr"/>
          <a:lstStyle/>
          <a:p>
            <a:pPr marL="0" indent="0">
              <a:buNone/>
            </a:pPr>
            <a:r>
              <a:rPr lang="en-US" sz="1100" b="1" dirty="0">
                <a:solidFill>
                  <a:srgbClr val="2E2B45"/>
                </a:solidFill>
                <a:latin typeface="Calibri" pitchFamily="34" charset="0"/>
                <a:ea typeface="Calibri" pitchFamily="34" charset="-122"/>
                <a:cs typeface="Calibri" pitchFamily="34" charset="-120"/>
              </a:rPr>
              <a:t>Arjun Verma</a:t>
            </a:r>
            <a:endParaRPr lang="en-US" sz="1100" dirty="0"/>
          </a:p>
        </p:txBody>
      </p:sp>
      <p:sp>
        <p:nvSpPr>
          <p:cNvPr id="7" name="Text 5"/>
          <p:cNvSpPr/>
          <p:nvPr/>
        </p:nvSpPr>
        <p:spPr>
          <a:xfrm>
            <a:off x="10607040" y="548640"/>
            <a:ext cx="2743200" cy="274320"/>
          </a:xfrm>
          <a:prstGeom prst="rect">
            <a:avLst/>
          </a:prstGeom>
          <a:noFill/>
          <a:ln/>
        </p:spPr>
        <p:txBody>
          <a:bodyPr wrap="square" rtlCol="0" anchor="ctr"/>
          <a:lstStyle/>
          <a:p>
            <a:pPr marL="0" indent="0">
              <a:buNone/>
            </a:pPr>
            <a:r>
              <a:rPr lang="en-US" sz="850" dirty="0">
                <a:solidFill>
                  <a:srgbClr val="5B5570"/>
                </a:solidFill>
                <a:latin typeface="Calibri" pitchFamily="34" charset="0"/>
                <a:ea typeface="Calibri" pitchFamily="34" charset="-122"/>
                <a:cs typeface="Calibri" pitchFamily="34" charset="-120"/>
              </a:rPr>
              <a:t>Freelance Web Developer</a:t>
            </a:r>
            <a:endParaRPr lang="en-US" sz="850" dirty="0"/>
          </a:p>
        </p:txBody>
      </p:sp>
      <p:sp>
        <p:nvSpPr>
          <p:cNvPr id="8" name="Shape 6"/>
          <p:cNvSpPr/>
          <p:nvPr/>
        </p:nvSpPr>
        <p:spPr>
          <a:xfrm>
            <a:off x="457200" y="1234440"/>
            <a:ext cx="2181758" cy="502920"/>
          </a:xfrm>
          <a:prstGeom prst="roundRect">
            <a:avLst>
              <a:gd name="adj" fmla="val 10909"/>
            </a:avLst>
          </a:prstGeom>
          <a:solidFill>
            <a:srgbClr val="3E7CB1"/>
          </a:solidFill>
          <a:ln/>
        </p:spPr>
      </p:sp>
      <p:sp>
        <p:nvSpPr>
          <p:cNvPr id="9" name="Text 7"/>
          <p:cNvSpPr/>
          <p:nvPr/>
        </p:nvSpPr>
        <p:spPr>
          <a:xfrm>
            <a:off x="53035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Signs the Contract</a:t>
            </a:r>
            <a:endParaRPr lang="en-US" sz="1000" dirty="0"/>
          </a:p>
        </p:txBody>
      </p:sp>
      <p:sp>
        <p:nvSpPr>
          <p:cNvPr id="10" name="Shape 8"/>
          <p:cNvSpPr/>
          <p:nvPr/>
        </p:nvSpPr>
        <p:spPr>
          <a:xfrm>
            <a:off x="2712110" y="1234440"/>
            <a:ext cx="2181758" cy="502920"/>
          </a:xfrm>
          <a:prstGeom prst="roundRect">
            <a:avLst>
              <a:gd name="adj" fmla="val 10909"/>
            </a:avLst>
          </a:prstGeom>
          <a:solidFill>
            <a:srgbClr val="3E7CB1"/>
          </a:solidFill>
          <a:ln/>
        </p:spPr>
      </p:sp>
      <p:sp>
        <p:nvSpPr>
          <p:cNvPr id="11" name="Text 9"/>
          <p:cNvSpPr/>
          <p:nvPr/>
        </p:nvSpPr>
        <p:spPr>
          <a:xfrm>
            <a:off x="278526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Kicks Off Sprint One</a:t>
            </a:r>
            <a:endParaRPr lang="en-US" sz="1000" dirty="0"/>
          </a:p>
        </p:txBody>
      </p:sp>
      <p:sp>
        <p:nvSpPr>
          <p:cNvPr id="12" name="Shape 10"/>
          <p:cNvSpPr/>
          <p:nvPr/>
        </p:nvSpPr>
        <p:spPr>
          <a:xfrm>
            <a:off x="4967021" y="1234440"/>
            <a:ext cx="2181758" cy="502920"/>
          </a:xfrm>
          <a:prstGeom prst="roundRect">
            <a:avLst>
              <a:gd name="adj" fmla="val 10909"/>
            </a:avLst>
          </a:prstGeom>
          <a:solidFill>
            <a:srgbClr val="3E7CB1"/>
          </a:solidFill>
          <a:ln/>
        </p:spPr>
      </p:sp>
      <p:sp>
        <p:nvSpPr>
          <p:cNvPr id="13" name="Text 11"/>
          <p:cNvSpPr/>
          <p:nvPr/>
        </p:nvSpPr>
        <p:spPr>
          <a:xfrm>
            <a:off x="504017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Client Requests a Quick Fix</a:t>
            </a:r>
            <a:endParaRPr lang="en-US" sz="1000" dirty="0"/>
          </a:p>
        </p:txBody>
      </p:sp>
      <p:sp>
        <p:nvSpPr>
          <p:cNvPr id="14" name="Shape 12"/>
          <p:cNvSpPr/>
          <p:nvPr/>
        </p:nvSpPr>
        <p:spPr>
          <a:xfrm>
            <a:off x="7221931" y="1234440"/>
            <a:ext cx="2181758" cy="502920"/>
          </a:xfrm>
          <a:prstGeom prst="roundRect">
            <a:avLst>
              <a:gd name="adj" fmla="val 10909"/>
            </a:avLst>
          </a:prstGeom>
          <a:solidFill>
            <a:srgbClr val="3E7CB1"/>
          </a:solidFill>
          <a:ln/>
        </p:spPr>
      </p:sp>
      <p:sp>
        <p:nvSpPr>
          <p:cNvPr id="15" name="Text 13"/>
          <p:cNvSpPr/>
          <p:nvPr/>
        </p:nvSpPr>
        <p:spPr>
          <a:xfrm>
            <a:off x="729508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Logs the Extra Work</a:t>
            </a:r>
            <a:endParaRPr lang="en-US" sz="1000" dirty="0"/>
          </a:p>
        </p:txBody>
      </p:sp>
      <p:sp>
        <p:nvSpPr>
          <p:cNvPr id="16" name="Shape 14"/>
          <p:cNvSpPr/>
          <p:nvPr/>
        </p:nvSpPr>
        <p:spPr>
          <a:xfrm>
            <a:off x="9476842" y="1234440"/>
            <a:ext cx="2181758" cy="502920"/>
          </a:xfrm>
          <a:prstGeom prst="roundRect">
            <a:avLst>
              <a:gd name="adj" fmla="val 10909"/>
            </a:avLst>
          </a:prstGeom>
          <a:solidFill>
            <a:srgbClr val="3E7CB1"/>
          </a:solidFill>
          <a:ln/>
        </p:spPr>
      </p:sp>
      <p:sp>
        <p:nvSpPr>
          <p:cNvPr id="17" name="Text 15"/>
          <p:cNvSpPr/>
          <p:nvPr/>
        </p:nvSpPr>
        <p:spPr>
          <a:xfrm>
            <a:off x="9549994"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Submits Milestone for Payment</a:t>
            </a:r>
            <a:endParaRPr lang="en-US" sz="1000" dirty="0"/>
          </a:p>
        </p:txBody>
      </p:sp>
      <p:sp>
        <p:nvSpPr>
          <p:cNvPr id="18" name="Shape 16"/>
          <p:cNvSpPr/>
          <p:nvPr/>
        </p:nvSpPr>
        <p:spPr>
          <a:xfrm>
            <a:off x="457200" y="1810512"/>
            <a:ext cx="2181758" cy="1965960"/>
          </a:xfrm>
          <a:prstGeom prst="roundRect">
            <a:avLst>
              <a:gd name="adj" fmla="val 2791"/>
            </a:avLst>
          </a:prstGeom>
          <a:solidFill>
            <a:srgbClr val="FFFFFF"/>
          </a:solidFill>
          <a:ln w="12700">
            <a:solidFill>
              <a:srgbClr val="E7E3F3"/>
            </a:solidFill>
            <a:prstDash val="solid"/>
          </a:ln>
        </p:spPr>
      </p:sp>
      <p:sp>
        <p:nvSpPr>
          <p:cNvPr id="19" name="Text 17"/>
          <p:cNvSpPr/>
          <p:nvPr/>
        </p:nvSpPr>
        <p:spPr>
          <a:xfrm>
            <a:off x="56692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Reviews contract terms line by line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Confirms milestone schedule with client</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Sets up a shared project board</a:t>
            </a:r>
            <a:endParaRPr lang="en-US" sz="1200" dirty="0"/>
          </a:p>
        </p:txBody>
      </p:sp>
      <p:sp>
        <p:nvSpPr>
          <p:cNvPr id="20" name="Shape 18"/>
          <p:cNvSpPr/>
          <p:nvPr/>
        </p:nvSpPr>
        <p:spPr>
          <a:xfrm>
            <a:off x="2712110" y="1810512"/>
            <a:ext cx="2181758" cy="1965960"/>
          </a:xfrm>
          <a:prstGeom prst="roundRect">
            <a:avLst>
              <a:gd name="adj" fmla="val 2791"/>
            </a:avLst>
          </a:prstGeom>
          <a:solidFill>
            <a:srgbClr val="FFFFFF"/>
          </a:solidFill>
          <a:ln w="12700">
            <a:solidFill>
              <a:srgbClr val="E7E3F3"/>
            </a:solidFill>
            <a:prstDash val="solid"/>
          </a:ln>
        </p:spPr>
      </p:sp>
      <p:sp>
        <p:nvSpPr>
          <p:cNvPr id="21" name="Text 19"/>
          <p:cNvSpPr/>
          <p:nvPr/>
        </p:nvSpPr>
        <p:spPr>
          <a:xfrm>
            <a:off x="282183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Breaks the sprint into daily tasks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Pushes first update within 48 hours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Shares a quick progress note</a:t>
            </a:r>
            <a:endParaRPr lang="en-US" sz="1200" dirty="0"/>
          </a:p>
        </p:txBody>
      </p:sp>
      <p:sp>
        <p:nvSpPr>
          <p:cNvPr id="22" name="Shape 20"/>
          <p:cNvSpPr/>
          <p:nvPr/>
        </p:nvSpPr>
        <p:spPr>
          <a:xfrm>
            <a:off x="4967021" y="1810512"/>
            <a:ext cx="2181758" cy="1965960"/>
          </a:xfrm>
          <a:prstGeom prst="roundRect">
            <a:avLst>
              <a:gd name="adj" fmla="val 2791"/>
            </a:avLst>
          </a:prstGeom>
          <a:solidFill>
            <a:srgbClr val="FFFFFF"/>
          </a:solidFill>
          <a:ln w="12700">
            <a:solidFill>
              <a:srgbClr val="E7E3F3"/>
            </a:solidFill>
            <a:prstDash val="solid"/>
          </a:ln>
        </p:spPr>
      </p:sp>
      <p:sp>
        <p:nvSpPr>
          <p:cNvPr id="23" name="Text 21"/>
          <p:cNvSpPr/>
          <p:nvPr/>
        </p:nvSpPr>
        <p:spPr>
          <a:xfrm>
            <a:off x="507674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a:solidFill>
                  <a:srgbClr val="2E2B45"/>
                </a:solidFill>
                <a:latin typeface="Calibri" pitchFamily="34" charset="0"/>
                <a:ea typeface="Calibri" pitchFamily="34" charset="-122"/>
                <a:cs typeface="Calibri" pitchFamily="34" charset="-120"/>
              </a:rPr>
              <a:t>Client asks for a small extra feature</a:t>
            </a:r>
            <a:endParaRPr lang="en-US" sz="1200"/>
          </a:p>
          <a:p>
            <a:pPr marL="127000" indent="-127000">
              <a:lnSpc>
                <a:spcPct val="105000"/>
              </a:lnSpc>
              <a:spcAft>
                <a:spcPts val="500"/>
              </a:spcAft>
              <a:buSzPct val="100000"/>
              <a:buChar char="•"/>
            </a:pPr>
            <a:r>
              <a:rPr lang="en-US" sz="1200">
                <a:solidFill>
                  <a:srgbClr val="2E2B45"/>
                </a:solidFill>
                <a:latin typeface="Calibri" pitchFamily="34" charset="0"/>
                <a:ea typeface="Calibri" pitchFamily="34" charset="-122"/>
                <a:cs typeface="Calibri" pitchFamily="34" charset="-120"/>
              </a:rPr>
              <a:t>Realizes it’s outside the agreed scope</a:t>
            </a:r>
            <a:endParaRPr lang="en-US" sz="1200"/>
          </a:p>
          <a:p>
            <a:pPr marL="127000" indent="-127000">
              <a:lnSpc>
                <a:spcPct val="105000"/>
              </a:lnSpc>
              <a:spcAft>
                <a:spcPts val="500"/>
              </a:spcAft>
              <a:buSzPct val="100000"/>
              <a:buChar char="•"/>
            </a:pPr>
            <a:r>
              <a:rPr lang="en-US" sz="1200">
                <a:solidFill>
                  <a:srgbClr val="2E2B45"/>
                </a:solidFill>
                <a:latin typeface="Calibri" pitchFamily="34" charset="0"/>
                <a:ea typeface="Calibri" pitchFamily="34" charset="-122"/>
                <a:cs typeface="Calibri" pitchFamily="34" charset="-120"/>
              </a:rPr>
              <a:t>Isn’t sure how to raise the cost issue</a:t>
            </a:r>
            <a:endParaRPr lang="en-US" sz="1200" dirty="0"/>
          </a:p>
        </p:txBody>
      </p:sp>
      <p:sp>
        <p:nvSpPr>
          <p:cNvPr id="24" name="Shape 22"/>
          <p:cNvSpPr/>
          <p:nvPr/>
        </p:nvSpPr>
        <p:spPr>
          <a:xfrm>
            <a:off x="7221931" y="1810512"/>
            <a:ext cx="2181758" cy="1965960"/>
          </a:xfrm>
          <a:prstGeom prst="roundRect">
            <a:avLst>
              <a:gd name="adj" fmla="val 2791"/>
            </a:avLst>
          </a:prstGeom>
          <a:solidFill>
            <a:srgbClr val="FFFFFF"/>
          </a:solidFill>
          <a:ln w="12700">
            <a:solidFill>
              <a:srgbClr val="E7E3F3"/>
            </a:solidFill>
            <a:prstDash val="solid"/>
          </a:ln>
        </p:spPr>
        <p:txBody>
          <a:bodyPr/>
          <a:lstStyle/>
          <a:p>
            <a:endParaRPr lang="en-IN" dirty="0"/>
          </a:p>
        </p:txBody>
      </p:sp>
      <p:sp>
        <p:nvSpPr>
          <p:cNvPr id="25" name="Text 23"/>
          <p:cNvSpPr/>
          <p:nvPr/>
        </p:nvSpPr>
        <p:spPr>
          <a:xfrm>
            <a:off x="733165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Documents the extra hours in his tracker</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Sends a polite note about added cost</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Waits for the client’s confirmation</a:t>
            </a:r>
            <a:endParaRPr lang="en-US" sz="1200" dirty="0"/>
          </a:p>
        </p:txBody>
      </p:sp>
      <p:sp>
        <p:nvSpPr>
          <p:cNvPr id="26" name="Shape 24"/>
          <p:cNvSpPr/>
          <p:nvPr/>
        </p:nvSpPr>
        <p:spPr>
          <a:xfrm>
            <a:off x="9476842" y="1810512"/>
            <a:ext cx="2181758" cy="1965960"/>
          </a:xfrm>
          <a:prstGeom prst="roundRect">
            <a:avLst>
              <a:gd name="adj" fmla="val 2791"/>
            </a:avLst>
          </a:prstGeom>
          <a:solidFill>
            <a:srgbClr val="FFFFFF"/>
          </a:solidFill>
          <a:ln w="12700">
            <a:solidFill>
              <a:srgbClr val="E7E3F3"/>
            </a:solidFill>
            <a:prstDash val="solid"/>
          </a:ln>
        </p:spPr>
      </p:sp>
      <p:sp>
        <p:nvSpPr>
          <p:cNvPr id="27" name="Text 25"/>
          <p:cNvSpPr/>
          <p:nvPr/>
        </p:nvSpPr>
        <p:spPr>
          <a:xfrm>
            <a:off x="9586570"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Marks the milestone complete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Client approves after two days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Payment shows “processing” for three more</a:t>
            </a:r>
            <a:endParaRPr lang="en-US" sz="1200" dirty="0"/>
          </a:p>
        </p:txBody>
      </p:sp>
      <p:sp>
        <p:nvSpPr>
          <p:cNvPr id="28" name="Shape 26"/>
          <p:cNvSpPr/>
          <p:nvPr/>
        </p:nvSpPr>
        <p:spPr>
          <a:xfrm>
            <a:off x="457200" y="3849624"/>
            <a:ext cx="2181758" cy="457200"/>
          </a:xfrm>
          <a:prstGeom prst="roundRect">
            <a:avLst>
              <a:gd name="adj" fmla="val 12000"/>
            </a:avLst>
          </a:prstGeom>
          <a:solidFill>
            <a:srgbClr val="E7F2FB"/>
          </a:solidFill>
          <a:ln/>
        </p:spPr>
      </p:sp>
      <p:sp>
        <p:nvSpPr>
          <p:cNvPr id="29" name="Text 27"/>
          <p:cNvSpPr/>
          <p:nvPr/>
        </p:nvSpPr>
        <p:spPr>
          <a:xfrm>
            <a:off x="530352" y="3849624"/>
            <a:ext cx="2035454" cy="457200"/>
          </a:xfrm>
          <a:prstGeom prst="rect">
            <a:avLst/>
          </a:prstGeom>
          <a:noFill/>
          <a:ln/>
        </p:spPr>
        <p:txBody>
          <a:bodyPr wrap="square" rtlCol="0" anchor="ctr"/>
          <a:lstStyle/>
          <a:p>
            <a:pPr marL="0" indent="0" algn="ctr">
              <a:buNone/>
            </a:pPr>
            <a:r>
              <a:rPr lang="en-US" sz="1050" b="1" dirty="0">
                <a:solidFill>
                  <a:srgbClr val="3E7CB1"/>
                </a:solidFill>
                <a:latin typeface="Calibri" pitchFamily="34" charset="0"/>
                <a:ea typeface="Calibri" pitchFamily="34" charset="-122"/>
                <a:cs typeface="Calibri" pitchFamily="34" charset="-120"/>
              </a:rPr>
              <a:t>Organized</a:t>
            </a:r>
            <a:endParaRPr lang="en-US" sz="1050" dirty="0"/>
          </a:p>
        </p:txBody>
      </p:sp>
      <p:sp>
        <p:nvSpPr>
          <p:cNvPr id="30" name="Shape 28"/>
          <p:cNvSpPr/>
          <p:nvPr/>
        </p:nvSpPr>
        <p:spPr>
          <a:xfrm>
            <a:off x="2712110" y="3849624"/>
            <a:ext cx="2181758" cy="457200"/>
          </a:xfrm>
          <a:prstGeom prst="roundRect">
            <a:avLst>
              <a:gd name="adj" fmla="val 12000"/>
            </a:avLst>
          </a:prstGeom>
          <a:solidFill>
            <a:srgbClr val="E7F2FB"/>
          </a:solidFill>
          <a:ln/>
        </p:spPr>
      </p:sp>
      <p:sp>
        <p:nvSpPr>
          <p:cNvPr id="31" name="Text 29"/>
          <p:cNvSpPr/>
          <p:nvPr/>
        </p:nvSpPr>
        <p:spPr>
          <a:xfrm>
            <a:off x="2785262" y="3849624"/>
            <a:ext cx="2035454" cy="457200"/>
          </a:xfrm>
          <a:prstGeom prst="rect">
            <a:avLst/>
          </a:prstGeom>
          <a:noFill/>
          <a:ln/>
        </p:spPr>
        <p:txBody>
          <a:bodyPr wrap="square" rtlCol="0" anchor="ctr"/>
          <a:lstStyle/>
          <a:p>
            <a:pPr marL="0" indent="0" algn="ctr">
              <a:buNone/>
            </a:pPr>
            <a:r>
              <a:rPr lang="en-US" sz="1050" b="1" dirty="0">
                <a:solidFill>
                  <a:srgbClr val="3E7CB1"/>
                </a:solidFill>
                <a:latin typeface="Calibri" pitchFamily="34" charset="0"/>
                <a:ea typeface="Calibri" pitchFamily="34" charset="-122"/>
                <a:cs typeface="Calibri" pitchFamily="34" charset="-120"/>
              </a:rPr>
              <a:t>Focused</a:t>
            </a:r>
            <a:endParaRPr lang="en-US" sz="1050" dirty="0"/>
          </a:p>
        </p:txBody>
      </p:sp>
      <p:sp>
        <p:nvSpPr>
          <p:cNvPr id="32" name="Shape 30"/>
          <p:cNvSpPr/>
          <p:nvPr/>
        </p:nvSpPr>
        <p:spPr>
          <a:xfrm>
            <a:off x="4967021" y="3849624"/>
            <a:ext cx="2181758" cy="457200"/>
          </a:xfrm>
          <a:prstGeom prst="roundRect">
            <a:avLst>
              <a:gd name="adj" fmla="val 12000"/>
            </a:avLst>
          </a:prstGeom>
          <a:solidFill>
            <a:srgbClr val="E7F2FB"/>
          </a:solidFill>
          <a:ln/>
        </p:spPr>
      </p:sp>
      <p:sp>
        <p:nvSpPr>
          <p:cNvPr id="33" name="Text 31"/>
          <p:cNvSpPr/>
          <p:nvPr/>
        </p:nvSpPr>
        <p:spPr>
          <a:xfrm>
            <a:off x="5040173" y="3849624"/>
            <a:ext cx="2035454" cy="457200"/>
          </a:xfrm>
          <a:prstGeom prst="rect">
            <a:avLst/>
          </a:prstGeom>
          <a:noFill/>
          <a:ln/>
        </p:spPr>
        <p:txBody>
          <a:bodyPr wrap="square" rtlCol="0" anchor="ctr"/>
          <a:lstStyle/>
          <a:p>
            <a:pPr marL="0" indent="0" algn="ctr">
              <a:buNone/>
            </a:pPr>
            <a:r>
              <a:rPr lang="en-US" sz="1050" b="1" dirty="0">
                <a:solidFill>
                  <a:srgbClr val="3E7CB1"/>
                </a:solidFill>
                <a:latin typeface="Calibri" pitchFamily="34" charset="0"/>
                <a:ea typeface="Calibri" pitchFamily="34" charset="-122"/>
                <a:cs typeface="Calibri" pitchFamily="34" charset="-120"/>
              </a:rPr>
              <a:t>Hesitant</a:t>
            </a:r>
            <a:endParaRPr lang="en-US" sz="1050" dirty="0"/>
          </a:p>
        </p:txBody>
      </p:sp>
      <p:sp>
        <p:nvSpPr>
          <p:cNvPr id="34" name="Shape 32"/>
          <p:cNvSpPr/>
          <p:nvPr/>
        </p:nvSpPr>
        <p:spPr>
          <a:xfrm>
            <a:off x="7221931" y="3849624"/>
            <a:ext cx="2181758" cy="457200"/>
          </a:xfrm>
          <a:prstGeom prst="roundRect">
            <a:avLst>
              <a:gd name="adj" fmla="val 12000"/>
            </a:avLst>
          </a:prstGeom>
          <a:solidFill>
            <a:srgbClr val="E7F2FB"/>
          </a:solidFill>
          <a:ln/>
        </p:spPr>
      </p:sp>
      <p:sp>
        <p:nvSpPr>
          <p:cNvPr id="35" name="Text 33"/>
          <p:cNvSpPr/>
          <p:nvPr/>
        </p:nvSpPr>
        <p:spPr>
          <a:xfrm>
            <a:off x="7295083" y="3849624"/>
            <a:ext cx="2035454" cy="457200"/>
          </a:xfrm>
          <a:prstGeom prst="rect">
            <a:avLst/>
          </a:prstGeom>
          <a:noFill/>
          <a:ln/>
        </p:spPr>
        <p:txBody>
          <a:bodyPr wrap="square" rtlCol="0" anchor="ctr"/>
          <a:lstStyle/>
          <a:p>
            <a:pPr marL="0" indent="0" algn="ctr">
              <a:buNone/>
            </a:pPr>
            <a:r>
              <a:rPr lang="en-US" sz="1050" b="1" dirty="0">
                <a:solidFill>
                  <a:srgbClr val="3E7CB1"/>
                </a:solidFill>
                <a:latin typeface="Calibri" pitchFamily="34" charset="0"/>
                <a:ea typeface="Calibri" pitchFamily="34" charset="-122"/>
                <a:cs typeface="Calibri" pitchFamily="34" charset="-120"/>
              </a:rPr>
              <a:t>Frustrated</a:t>
            </a:r>
            <a:endParaRPr lang="en-US" sz="1050" dirty="0"/>
          </a:p>
        </p:txBody>
      </p:sp>
      <p:sp>
        <p:nvSpPr>
          <p:cNvPr id="36" name="Shape 34"/>
          <p:cNvSpPr/>
          <p:nvPr/>
        </p:nvSpPr>
        <p:spPr>
          <a:xfrm>
            <a:off x="9476842" y="3849624"/>
            <a:ext cx="2181758" cy="457200"/>
          </a:xfrm>
          <a:prstGeom prst="roundRect">
            <a:avLst>
              <a:gd name="adj" fmla="val 12000"/>
            </a:avLst>
          </a:prstGeom>
          <a:solidFill>
            <a:srgbClr val="E7F2FB"/>
          </a:solidFill>
          <a:ln/>
        </p:spPr>
      </p:sp>
      <p:sp>
        <p:nvSpPr>
          <p:cNvPr id="37" name="Text 35"/>
          <p:cNvSpPr/>
          <p:nvPr/>
        </p:nvSpPr>
        <p:spPr>
          <a:xfrm>
            <a:off x="9549994" y="3849624"/>
            <a:ext cx="2035454" cy="457200"/>
          </a:xfrm>
          <a:prstGeom prst="rect">
            <a:avLst/>
          </a:prstGeom>
          <a:noFill/>
          <a:ln/>
        </p:spPr>
        <p:txBody>
          <a:bodyPr wrap="square" rtlCol="0" anchor="ctr"/>
          <a:lstStyle/>
          <a:p>
            <a:pPr marL="0" indent="0" algn="ctr">
              <a:buNone/>
            </a:pPr>
            <a:r>
              <a:rPr lang="en-US" sz="1050" b="1" dirty="0">
                <a:solidFill>
                  <a:srgbClr val="3E7CB1"/>
                </a:solidFill>
                <a:latin typeface="Calibri" pitchFamily="34" charset="0"/>
                <a:ea typeface="Calibri" pitchFamily="34" charset="-122"/>
                <a:cs typeface="Calibri" pitchFamily="34" charset="-120"/>
              </a:rPr>
              <a:t>Impatient</a:t>
            </a:r>
            <a:endParaRPr lang="en-US" sz="1050" dirty="0"/>
          </a:p>
        </p:txBody>
      </p:sp>
      <p:sp>
        <p:nvSpPr>
          <p:cNvPr id="38" name="Shape 36"/>
          <p:cNvSpPr/>
          <p:nvPr/>
        </p:nvSpPr>
        <p:spPr>
          <a:xfrm>
            <a:off x="457200" y="4379976"/>
            <a:ext cx="2181758" cy="1600200"/>
          </a:xfrm>
          <a:prstGeom prst="roundRect">
            <a:avLst>
              <a:gd name="adj" fmla="val 3429"/>
            </a:avLst>
          </a:prstGeom>
          <a:solidFill>
            <a:srgbClr val="EFEBFA"/>
          </a:solidFill>
          <a:ln/>
        </p:spPr>
      </p:sp>
      <p:sp>
        <p:nvSpPr>
          <p:cNvPr id="39" name="Text 37"/>
          <p:cNvSpPr/>
          <p:nvPr/>
        </p:nvSpPr>
        <p:spPr>
          <a:xfrm>
            <a:off x="56692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contract template with pre-built milestone and scope fields.</a:t>
            </a:r>
            <a:endParaRPr lang="en-US" sz="1400" dirty="0"/>
          </a:p>
        </p:txBody>
      </p:sp>
      <p:sp>
        <p:nvSpPr>
          <p:cNvPr id="40" name="Shape 38"/>
          <p:cNvSpPr/>
          <p:nvPr/>
        </p:nvSpPr>
        <p:spPr>
          <a:xfrm>
            <a:off x="2712110" y="4379976"/>
            <a:ext cx="2181758" cy="1600200"/>
          </a:xfrm>
          <a:prstGeom prst="roundRect">
            <a:avLst>
              <a:gd name="adj" fmla="val 3429"/>
            </a:avLst>
          </a:prstGeom>
          <a:solidFill>
            <a:srgbClr val="EFEBFA"/>
          </a:solidFill>
          <a:ln/>
        </p:spPr>
      </p:sp>
      <p:sp>
        <p:nvSpPr>
          <p:cNvPr id="41" name="Text 39"/>
          <p:cNvSpPr/>
          <p:nvPr/>
        </p:nvSpPr>
        <p:spPr>
          <a:xfrm>
            <a:off x="282183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An auto-generated progress summary pulled from his commit activity.</a:t>
            </a:r>
            <a:endParaRPr lang="en-US" sz="1400" dirty="0"/>
          </a:p>
        </p:txBody>
      </p:sp>
      <p:sp>
        <p:nvSpPr>
          <p:cNvPr id="42" name="Shape 40"/>
          <p:cNvSpPr/>
          <p:nvPr/>
        </p:nvSpPr>
        <p:spPr>
          <a:xfrm>
            <a:off x="4967021" y="4379976"/>
            <a:ext cx="2181758" cy="1600200"/>
          </a:xfrm>
          <a:prstGeom prst="roundRect">
            <a:avLst>
              <a:gd name="adj" fmla="val 3429"/>
            </a:avLst>
          </a:prstGeom>
          <a:solidFill>
            <a:srgbClr val="EFEBFA"/>
          </a:solidFill>
          <a:ln/>
        </p:spPr>
      </p:sp>
      <p:sp>
        <p:nvSpPr>
          <p:cNvPr id="43" name="Text 41"/>
          <p:cNvSpPr/>
          <p:nvPr/>
        </p:nvSpPr>
        <p:spPr>
          <a:xfrm>
            <a:off x="507674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built-in “this is outside scope” flag that opens a quick re-quote conversation.</a:t>
            </a:r>
            <a:endParaRPr lang="en-US" sz="1400" dirty="0"/>
          </a:p>
        </p:txBody>
      </p:sp>
      <p:sp>
        <p:nvSpPr>
          <p:cNvPr id="44" name="Shape 42"/>
          <p:cNvSpPr/>
          <p:nvPr/>
        </p:nvSpPr>
        <p:spPr>
          <a:xfrm>
            <a:off x="7221931" y="4379976"/>
            <a:ext cx="2181758" cy="1600200"/>
          </a:xfrm>
          <a:prstGeom prst="roundRect">
            <a:avLst>
              <a:gd name="adj" fmla="val 3429"/>
            </a:avLst>
          </a:prstGeom>
          <a:solidFill>
            <a:srgbClr val="EFEBFA"/>
          </a:solidFill>
          <a:ln/>
        </p:spPr>
      </p:sp>
      <p:sp>
        <p:nvSpPr>
          <p:cNvPr id="45" name="Text 43"/>
          <p:cNvSpPr/>
          <p:nvPr/>
        </p:nvSpPr>
        <p:spPr>
          <a:xfrm>
            <a:off x="733165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change-order log baked into the contract, visible to both sides.</a:t>
            </a:r>
            <a:endParaRPr lang="en-US" sz="1400" dirty="0"/>
          </a:p>
        </p:txBody>
      </p:sp>
      <p:sp>
        <p:nvSpPr>
          <p:cNvPr id="46" name="Shape 44"/>
          <p:cNvSpPr/>
          <p:nvPr/>
        </p:nvSpPr>
        <p:spPr>
          <a:xfrm>
            <a:off x="9476842" y="4379976"/>
            <a:ext cx="2181758" cy="1600200"/>
          </a:xfrm>
          <a:prstGeom prst="roundRect">
            <a:avLst>
              <a:gd name="adj" fmla="val 3429"/>
            </a:avLst>
          </a:prstGeom>
          <a:solidFill>
            <a:srgbClr val="EFEBFA"/>
          </a:solidFill>
          <a:ln/>
        </p:spPr>
      </p:sp>
      <p:sp>
        <p:nvSpPr>
          <p:cNvPr id="47" name="Text 45"/>
          <p:cNvSpPr/>
          <p:nvPr/>
        </p:nvSpPr>
        <p:spPr>
          <a:xfrm>
            <a:off x="9586570"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Same-day payment release after milestone approval, with visible status steps.</a:t>
            </a:r>
            <a:endParaRPr lang="en-US" sz="1400" dirty="0"/>
          </a:p>
        </p:txBody>
      </p:sp>
      <p:sp>
        <p:nvSpPr>
          <p:cNvPr id="48" name="Text 46"/>
          <p:cNvSpPr/>
          <p:nvPr/>
        </p:nvSpPr>
        <p:spPr>
          <a:xfrm>
            <a:off x="457200" y="6537960"/>
            <a:ext cx="7315200" cy="274320"/>
          </a:xfrm>
          <a:prstGeom prst="rect">
            <a:avLst/>
          </a:prstGeom>
          <a:noFill/>
          <a:ln/>
        </p:spPr>
        <p:txBody>
          <a:bodyPr wrap="square" rtlCol="0" anchor="ctr"/>
          <a:lstStyle/>
          <a:p>
            <a:pPr marL="0" indent="0">
              <a:buNone/>
            </a:pPr>
            <a:endParaRPr lang="en-US" sz="900" dirty="0"/>
          </a:p>
        </p:txBody>
      </p:sp>
      <p:sp>
        <p:nvSpPr>
          <p:cNvPr id="49" name="Text 47"/>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rtlCol="0" anchor="ctr"/>
          <a:lstStyle/>
          <a:p>
            <a:pPr marL="0" indent="0">
              <a:buNone/>
            </a:pPr>
            <a:r>
              <a:rPr lang="en-US" sz="1200" b="1" kern="0" spc="200" dirty="0">
                <a:solidFill>
                  <a:srgbClr val="D97B4F"/>
                </a:solidFill>
                <a:latin typeface="Calibri" pitchFamily="34" charset="0"/>
                <a:ea typeface="Calibri" pitchFamily="34" charset="-122"/>
                <a:cs typeface="Calibri" pitchFamily="34" charset="-120"/>
              </a:rPr>
              <a:t>USER JOURNEY MAP</a:t>
            </a:r>
            <a:endParaRPr lang="en-US" sz="1200" dirty="0"/>
          </a:p>
        </p:txBody>
      </p:sp>
      <p:sp>
        <p:nvSpPr>
          <p:cNvPr id="3" name="Text 1"/>
          <p:cNvSpPr/>
          <p:nvPr/>
        </p:nvSpPr>
        <p:spPr>
          <a:xfrm>
            <a:off x="457200" y="548640"/>
            <a:ext cx="8686800" cy="50292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Landing a Niche Writing Client</a:t>
            </a:r>
            <a:endParaRPr lang="en-US" sz="2400" dirty="0"/>
          </a:p>
        </p:txBody>
      </p:sp>
      <p:sp>
        <p:nvSpPr>
          <p:cNvPr id="4" name="Shape 2"/>
          <p:cNvSpPr/>
          <p:nvPr/>
        </p:nvSpPr>
        <p:spPr>
          <a:xfrm>
            <a:off x="9966960" y="292608"/>
            <a:ext cx="566928" cy="566928"/>
          </a:xfrm>
          <a:prstGeom prst="ellipse">
            <a:avLst/>
          </a:prstGeom>
          <a:solidFill>
            <a:srgbClr val="F7C9A8"/>
          </a:solidFill>
          <a:ln/>
        </p:spPr>
      </p:sp>
      <p:sp>
        <p:nvSpPr>
          <p:cNvPr id="5" name="Text 3"/>
          <p:cNvSpPr/>
          <p:nvPr/>
        </p:nvSpPr>
        <p:spPr>
          <a:xfrm>
            <a:off x="9966960" y="292608"/>
            <a:ext cx="566928"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a:t>
            </a:r>
            <a:endParaRPr lang="en-US" sz="1300" dirty="0"/>
          </a:p>
        </p:txBody>
      </p:sp>
      <p:sp>
        <p:nvSpPr>
          <p:cNvPr id="6" name="Text 4"/>
          <p:cNvSpPr/>
          <p:nvPr/>
        </p:nvSpPr>
        <p:spPr>
          <a:xfrm>
            <a:off x="10607040" y="310896"/>
            <a:ext cx="2743200" cy="274320"/>
          </a:xfrm>
          <a:prstGeom prst="rect">
            <a:avLst/>
          </a:prstGeom>
          <a:noFill/>
          <a:ln/>
        </p:spPr>
        <p:txBody>
          <a:bodyPr wrap="square" rtlCol="0" anchor="ctr"/>
          <a:lstStyle/>
          <a:p>
            <a:pPr marL="0" indent="0">
              <a:buNone/>
            </a:pPr>
            <a:r>
              <a:rPr lang="en-US" sz="1100" b="1" dirty="0">
                <a:solidFill>
                  <a:srgbClr val="2E2B45"/>
                </a:solidFill>
                <a:latin typeface="Calibri" pitchFamily="34" charset="0"/>
                <a:ea typeface="Calibri" pitchFamily="34" charset="-122"/>
                <a:cs typeface="Calibri" pitchFamily="34" charset="-120"/>
              </a:rPr>
              <a:t>Meera Iyer</a:t>
            </a:r>
            <a:endParaRPr lang="en-US" sz="1100" dirty="0"/>
          </a:p>
        </p:txBody>
      </p:sp>
      <p:sp>
        <p:nvSpPr>
          <p:cNvPr id="7" name="Text 5"/>
          <p:cNvSpPr/>
          <p:nvPr/>
        </p:nvSpPr>
        <p:spPr>
          <a:xfrm>
            <a:off x="10607040" y="548640"/>
            <a:ext cx="2743200" cy="274320"/>
          </a:xfrm>
          <a:prstGeom prst="rect">
            <a:avLst/>
          </a:prstGeom>
          <a:noFill/>
          <a:ln/>
        </p:spPr>
        <p:txBody>
          <a:bodyPr wrap="square" rtlCol="0" anchor="ctr"/>
          <a:lstStyle/>
          <a:p>
            <a:pPr marL="0" indent="0">
              <a:buNone/>
            </a:pPr>
            <a:r>
              <a:rPr lang="en-US" sz="850" dirty="0">
                <a:solidFill>
                  <a:srgbClr val="5B5570"/>
                </a:solidFill>
                <a:latin typeface="Calibri" pitchFamily="34" charset="0"/>
                <a:ea typeface="Calibri" pitchFamily="34" charset="-122"/>
                <a:cs typeface="Calibri" pitchFamily="34" charset="-120"/>
              </a:rPr>
              <a:t>Freelance Content Writer</a:t>
            </a:r>
            <a:endParaRPr lang="en-US" sz="850" dirty="0"/>
          </a:p>
        </p:txBody>
      </p:sp>
      <p:sp>
        <p:nvSpPr>
          <p:cNvPr id="8" name="Shape 6"/>
          <p:cNvSpPr/>
          <p:nvPr/>
        </p:nvSpPr>
        <p:spPr>
          <a:xfrm>
            <a:off x="457200" y="1234440"/>
            <a:ext cx="2181758" cy="502920"/>
          </a:xfrm>
          <a:prstGeom prst="roundRect">
            <a:avLst>
              <a:gd name="adj" fmla="val 10909"/>
            </a:avLst>
          </a:prstGeom>
          <a:solidFill>
            <a:srgbClr val="D97B4F"/>
          </a:solidFill>
          <a:ln/>
        </p:spPr>
      </p:sp>
      <p:sp>
        <p:nvSpPr>
          <p:cNvPr id="9" name="Text 7"/>
          <p:cNvSpPr/>
          <p:nvPr/>
        </p:nvSpPr>
        <p:spPr>
          <a:xfrm>
            <a:off x="53035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Client Requests Free Samples</a:t>
            </a:r>
            <a:endParaRPr lang="en-US" sz="1000" dirty="0"/>
          </a:p>
        </p:txBody>
      </p:sp>
      <p:sp>
        <p:nvSpPr>
          <p:cNvPr id="10" name="Shape 8"/>
          <p:cNvSpPr/>
          <p:nvPr/>
        </p:nvSpPr>
        <p:spPr>
          <a:xfrm>
            <a:off x="2712110" y="1234440"/>
            <a:ext cx="2181758" cy="502920"/>
          </a:xfrm>
          <a:prstGeom prst="roundRect">
            <a:avLst>
              <a:gd name="adj" fmla="val 10909"/>
            </a:avLst>
          </a:prstGeom>
          <a:solidFill>
            <a:srgbClr val="D97B4F"/>
          </a:solidFill>
          <a:ln/>
        </p:spPr>
      </p:sp>
      <p:sp>
        <p:nvSpPr>
          <p:cNvPr id="11" name="Text 9"/>
          <p:cNvSpPr/>
          <p:nvPr/>
        </p:nvSpPr>
        <p:spPr>
          <a:xfrm>
            <a:off x="278526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Offers a Paid Trial Instead</a:t>
            </a:r>
            <a:endParaRPr lang="en-US" sz="1000" dirty="0"/>
          </a:p>
        </p:txBody>
      </p:sp>
      <p:sp>
        <p:nvSpPr>
          <p:cNvPr id="12" name="Shape 10"/>
          <p:cNvSpPr/>
          <p:nvPr/>
        </p:nvSpPr>
        <p:spPr>
          <a:xfrm>
            <a:off x="4967021" y="1234440"/>
            <a:ext cx="2181758" cy="502920"/>
          </a:xfrm>
          <a:prstGeom prst="roundRect">
            <a:avLst>
              <a:gd name="adj" fmla="val 10909"/>
            </a:avLst>
          </a:prstGeom>
          <a:solidFill>
            <a:srgbClr val="D97B4F"/>
          </a:solidFill>
          <a:ln/>
        </p:spPr>
      </p:sp>
      <p:sp>
        <p:nvSpPr>
          <p:cNvPr id="13" name="Text 11"/>
          <p:cNvSpPr/>
          <p:nvPr/>
        </p:nvSpPr>
        <p:spPr>
          <a:xfrm>
            <a:off x="504017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Writes the Trial Article</a:t>
            </a:r>
            <a:endParaRPr lang="en-US" sz="1000" dirty="0"/>
          </a:p>
        </p:txBody>
      </p:sp>
      <p:sp>
        <p:nvSpPr>
          <p:cNvPr id="14" name="Shape 12"/>
          <p:cNvSpPr/>
          <p:nvPr/>
        </p:nvSpPr>
        <p:spPr>
          <a:xfrm>
            <a:off x="7221931" y="1234440"/>
            <a:ext cx="2181758" cy="502920"/>
          </a:xfrm>
          <a:prstGeom prst="roundRect">
            <a:avLst>
              <a:gd name="adj" fmla="val 10909"/>
            </a:avLst>
          </a:prstGeom>
          <a:solidFill>
            <a:srgbClr val="D97B4F"/>
          </a:solidFill>
          <a:ln/>
        </p:spPr>
      </p:sp>
      <p:sp>
        <p:nvSpPr>
          <p:cNvPr id="15" name="Text 13"/>
          <p:cNvSpPr/>
          <p:nvPr/>
        </p:nvSpPr>
        <p:spPr>
          <a:xfrm>
            <a:off x="729508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Client Sends Scattered Feedback</a:t>
            </a:r>
            <a:endParaRPr lang="en-US" sz="1000" dirty="0"/>
          </a:p>
        </p:txBody>
      </p:sp>
      <p:sp>
        <p:nvSpPr>
          <p:cNvPr id="16" name="Shape 14"/>
          <p:cNvSpPr/>
          <p:nvPr/>
        </p:nvSpPr>
        <p:spPr>
          <a:xfrm>
            <a:off x="9476842" y="1234440"/>
            <a:ext cx="2181758" cy="502920"/>
          </a:xfrm>
          <a:prstGeom prst="roundRect">
            <a:avLst>
              <a:gd name="adj" fmla="val 10909"/>
            </a:avLst>
          </a:prstGeom>
          <a:solidFill>
            <a:srgbClr val="D97B4F"/>
          </a:solidFill>
          <a:ln/>
        </p:spPr>
      </p:sp>
      <p:sp>
        <p:nvSpPr>
          <p:cNvPr id="17" name="Text 15"/>
          <p:cNvSpPr/>
          <p:nvPr/>
        </p:nvSpPr>
        <p:spPr>
          <a:xfrm>
            <a:off x="9549994"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Signs an Ongoing Contract</a:t>
            </a:r>
            <a:endParaRPr lang="en-US" sz="1000" dirty="0"/>
          </a:p>
        </p:txBody>
      </p:sp>
      <p:sp>
        <p:nvSpPr>
          <p:cNvPr id="18" name="Shape 16"/>
          <p:cNvSpPr/>
          <p:nvPr/>
        </p:nvSpPr>
        <p:spPr>
          <a:xfrm>
            <a:off x="457200" y="1810512"/>
            <a:ext cx="2181758" cy="1965960"/>
          </a:xfrm>
          <a:prstGeom prst="roundRect">
            <a:avLst>
              <a:gd name="adj" fmla="val 2791"/>
            </a:avLst>
          </a:prstGeom>
          <a:solidFill>
            <a:srgbClr val="FFFFFF"/>
          </a:solidFill>
          <a:ln w="12700">
            <a:solidFill>
              <a:srgbClr val="E7E3F3"/>
            </a:solidFill>
            <a:prstDash val="solid"/>
          </a:ln>
        </p:spPr>
        <p:txBody>
          <a:bodyPr/>
          <a:lstStyle/>
          <a:p>
            <a:endParaRPr lang="en-IN" dirty="0"/>
          </a:p>
        </p:txBody>
      </p:sp>
      <p:sp>
        <p:nvSpPr>
          <p:cNvPr id="19" name="Text 17"/>
          <p:cNvSpPr/>
          <p:nvPr/>
        </p:nvSpPr>
        <p:spPr>
          <a:xfrm>
            <a:off x="56692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Client asks for three free sample articles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Explains her six years of niche experience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Points to past niche portfolio pieces</a:t>
            </a:r>
            <a:endParaRPr lang="en-US" sz="1200" dirty="0"/>
          </a:p>
        </p:txBody>
      </p:sp>
      <p:sp>
        <p:nvSpPr>
          <p:cNvPr id="20" name="Shape 18"/>
          <p:cNvSpPr/>
          <p:nvPr/>
        </p:nvSpPr>
        <p:spPr>
          <a:xfrm>
            <a:off x="2712110" y="1810512"/>
            <a:ext cx="2181758" cy="1965960"/>
          </a:xfrm>
          <a:prstGeom prst="roundRect">
            <a:avLst>
              <a:gd name="adj" fmla="val 2791"/>
            </a:avLst>
          </a:prstGeom>
          <a:solidFill>
            <a:srgbClr val="FFFFFF"/>
          </a:solidFill>
          <a:ln w="12700">
            <a:solidFill>
              <a:srgbClr val="E7E3F3"/>
            </a:solidFill>
            <a:prstDash val="solid"/>
          </a:ln>
        </p:spPr>
      </p:sp>
      <p:sp>
        <p:nvSpPr>
          <p:cNvPr id="21" name="Text 19"/>
          <p:cNvSpPr/>
          <p:nvPr/>
        </p:nvSpPr>
        <p:spPr>
          <a:xfrm>
            <a:off x="282183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Proposes one small paid trial piece instead</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Sets a fair rate for the trial</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Client hesitates, then agrees</a:t>
            </a:r>
            <a:endParaRPr lang="en-US" sz="1200" dirty="0"/>
          </a:p>
        </p:txBody>
      </p:sp>
      <p:sp>
        <p:nvSpPr>
          <p:cNvPr id="22" name="Shape 20"/>
          <p:cNvSpPr/>
          <p:nvPr/>
        </p:nvSpPr>
        <p:spPr>
          <a:xfrm>
            <a:off x="4967021" y="1810512"/>
            <a:ext cx="2181758" cy="1965960"/>
          </a:xfrm>
          <a:prstGeom prst="roundRect">
            <a:avLst>
              <a:gd name="adj" fmla="val 2791"/>
            </a:avLst>
          </a:prstGeom>
          <a:solidFill>
            <a:srgbClr val="FFFFFF"/>
          </a:solidFill>
          <a:ln w="12700">
            <a:solidFill>
              <a:srgbClr val="E7E3F3"/>
            </a:solidFill>
            <a:prstDash val="solid"/>
          </a:ln>
        </p:spPr>
      </p:sp>
      <p:sp>
        <p:nvSpPr>
          <p:cNvPr id="23" name="Text 21"/>
          <p:cNvSpPr/>
          <p:nvPr/>
        </p:nvSpPr>
        <p:spPr>
          <a:xfrm>
            <a:off x="507674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Researches the topic thoroughly</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Writes and edits the trial article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Submits before the deadline</a:t>
            </a:r>
            <a:endParaRPr lang="en-US" sz="1200" dirty="0"/>
          </a:p>
        </p:txBody>
      </p:sp>
      <p:sp>
        <p:nvSpPr>
          <p:cNvPr id="24" name="Shape 22"/>
          <p:cNvSpPr/>
          <p:nvPr/>
        </p:nvSpPr>
        <p:spPr>
          <a:xfrm>
            <a:off x="7221931" y="1810512"/>
            <a:ext cx="2181758" cy="1965960"/>
          </a:xfrm>
          <a:prstGeom prst="roundRect">
            <a:avLst>
              <a:gd name="adj" fmla="val 2791"/>
            </a:avLst>
          </a:prstGeom>
          <a:solidFill>
            <a:srgbClr val="FFFFFF"/>
          </a:solidFill>
          <a:ln w="12700">
            <a:solidFill>
              <a:srgbClr val="E7E3F3"/>
            </a:solidFill>
            <a:prstDash val="solid"/>
          </a:ln>
        </p:spPr>
      </p:sp>
      <p:sp>
        <p:nvSpPr>
          <p:cNvPr id="25" name="Text 23"/>
          <p:cNvSpPr/>
          <p:nvPr/>
        </p:nvSpPr>
        <p:spPr>
          <a:xfrm>
            <a:off x="733165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Gets feedback over email, then chat, then a call</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Struggles to track which round is final</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Consolidates all the notes herself</a:t>
            </a:r>
            <a:endParaRPr lang="en-US" sz="1200" dirty="0"/>
          </a:p>
        </p:txBody>
      </p:sp>
      <p:sp>
        <p:nvSpPr>
          <p:cNvPr id="26" name="Shape 24"/>
          <p:cNvSpPr/>
          <p:nvPr/>
        </p:nvSpPr>
        <p:spPr>
          <a:xfrm>
            <a:off x="9476842" y="1810512"/>
            <a:ext cx="2181758" cy="1965960"/>
          </a:xfrm>
          <a:prstGeom prst="roundRect">
            <a:avLst>
              <a:gd name="adj" fmla="val 2791"/>
            </a:avLst>
          </a:prstGeom>
          <a:solidFill>
            <a:srgbClr val="FFFFFF"/>
          </a:solidFill>
          <a:ln w="12700">
            <a:solidFill>
              <a:srgbClr val="E7E3F3"/>
            </a:solidFill>
            <a:prstDash val="solid"/>
          </a:ln>
        </p:spPr>
      </p:sp>
      <p:sp>
        <p:nvSpPr>
          <p:cNvPr id="27" name="Text 25"/>
          <p:cNvSpPr/>
          <p:nvPr/>
        </p:nvSpPr>
        <p:spPr>
          <a:xfrm>
            <a:off x="9586570"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Client is happy with the final piece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Offers an ongoing monthly contract</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Agrees on recurring rate and volume</a:t>
            </a:r>
            <a:endParaRPr lang="en-US" sz="1200" dirty="0"/>
          </a:p>
        </p:txBody>
      </p:sp>
      <p:sp>
        <p:nvSpPr>
          <p:cNvPr id="28" name="Shape 26"/>
          <p:cNvSpPr/>
          <p:nvPr/>
        </p:nvSpPr>
        <p:spPr>
          <a:xfrm>
            <a:off x="457200" y="3849624"/>
            <a:ext cx="2181758" cy="457200"/>
          </a:xfrm>
          <a:prstGeom prst="roundRect">
            <a:avLst>
              <a:gd name="adj" fmla="val 12000"/>
            </a:avLst>
          </a:prstGeom>
          <a:solidFill>
            <a:srgbClr val="FDECE0"/>
          </a:solidFill>
          <a:ln/>
        </p:spPr>
      </p:sp>
      <p:sp>
        <p:nvSpPr>
          <p:cNvPr id="29" name="Text 27"/>
          <p:cNvSpPr/>
          <p:nvPr/>
        </p:nvSpPr>
        <p:spPr>
          <a:xfrm>
            <a:off x="530352" y="3849624"/>
            <a:ext cx="2035454" cy="457200"/>
          </a:xfrm>
          <a:prstGeom prst="rect">
            <a:avLst/>
          </a:prstGeom>
          <a:noFill/>
          <a:ln/>
        </p:spPr>
        <p:txBody>
          <a:bodyPr wrap="square" rtlCol="0" anchor="ctr"/>
          <a:lstStyle/>
          <a:p>
            <a:pPr marL="0" indent="0" algn="ctr">
              <a:buNone/>
            </a:pPr>
            <a:r>
              <a:rPr lang="en-US" sz="1050" b="1" dirty="0">
                <a:solidFill>
                  <a:srgbClr val="D97B4F"/>
                </a:solidFill>
                <a:latin typeface="Calibri" pitchFamily="34" charset="0"/>
                <a:ea typeface="Calibri" pitchFamily="34" charset="-122"/>
                <a:cs typeface="Calibri" pitchFamily="34" charset="-120"/>
              </a:rPr>
              <a:t>Undervalued</a:t>
            </a:r>
            <a:endParaRPr lang="en-US" sz="1050" dirty="0"/>
          </a:p>
        </p:txBody>
      </p:sp>
      <p:sp>
        <p:nvSpPr>
          <p:cNvPr id="30" name="Shape 28"/>
          <p:cNvSpPr/>
          <p:nvPr/>
        </p:nvSpPr>
        <p:spPr>
          <a:xfrm>
            <a:off x="2712110" y="3849624"/>
            <a:ext cx="2181758" cy="457200"/>
          </a:xfrm>
          <a:prstGeom prst="roundRect">
            <a:avLst>
              <a:gd name="adj" fmla="val 12000"/>
            </a:avLst>
          </a:prstGeom>
          <a:solidFill>
            <a:srgbClr val="FDECE0"/>
          </a:solidFill>
          <a:ln/>
        </p:spPr>
      </p:sp>
      <p:sp>
        <p:nvSpPr>
          <p:cNvPr id="31" name="Text 29"/>
          <p:cNvSpPr/>
          <p:nvPr/>
        </p:nvSpPr>
        <p:spPr>
          <a:xfrm>
            <a:off x="2785262" y="3849624"/>
            <a:ext cx="2035454" cy="457200"/>
          </a:xfrm>
          <a:prstGeom prst="rect">
            <a:avLst/>
          </a:prstGeom>
          <a:noFill/>
          <a:ln/>
        </p:spPr>
        <p:txBody>
          <a:bodyPr wrap="square" rtlCol="0" anchor="ctr"/>
          <a:lstStyle/>
          <a:p>
            <a:pPr marL="0" indent="0" algn="ctr">
              <a:buNone/>
            </a:pPr>
            <a:r>
              <a:rPr lang="en-US" sz="1050" b="1" dirty="0">
                <a:solidFill>
                  <a:srgbClr val="D97B4F"/>
                </a:solidFill>
                <a:latin typeface="Calibri" pitchFamily="34" charset="0"/>
                <a:ea typeface="Calibri" pitchFamily="34" charset="-122"/>
                <a:cs typeface="Calibri" pitchFamily="34" charset="-120"/>
              </a:rPr>
              <a:t>Cautiously hopeful</a:t>
            </a:r>
            <a:endParaRPr lang="en-US" sz="1050" dirty="0"/>
          </a:p>
        </p:txBody>
      </p:sp>
      <p:sp>
        <p:nvSpPr>
          <p:cNvPr id="32" name="Shape 30"/>
          <p:cNvSpPr/>
          <p:nvPr/>
        </p:nvSpPr>
        <p:spPr>
          <a:xfrm>
            <a:off x="4967021" y="3849624"/>
            <a:ext cx="2181758" cy="457200"/>
          </a:xfrm>
          <a:prstGeom prst="roundRect">
            <a:avLst>
              <a:gd name="adj" fmla="val 12000"/>
            </a:avLst>
          </a:prstGeom>
          <a:solidFill>
            <a:srgbClr val="FDECE0"/>
          </a:solidFill>
          <a:ln/>
        </p:spPr>
      </p:sp>
      <p:sp>
        <p:nvSpPr>
          <p:cNvPr id="33" name="Text 31"/>
          <p:cNvSpPr/>
          <p:nvPr/>
        </p:nvSpPr>
        <p:spPr>
          <a:xfrm>
            <a:off x="5040173" y="3849624"/>
            <a:ext cx="2035454" cy="457200"/>
          </a:xfrm>
          <a:prstGeom prst="rect">
            <a:avLst/>
          </a:prstGeom>
          <a:noFill/>
          <a:ln/>
        </p:spPr>
        <p:txBody>
          <a:bodyPr wrap="square" rtlCol="0" anchor="ctr"/>
          <a:lstStyle/>
          <a:p>
            <a:pPr marL="0" indent="0" algn="ctr">
              <a:buNone/>
            </a:pPr>
            <a:r>
              <a:rPr lang="en-US" sz="1050" b="1" dirty="0">
                <a:solidFill>
                  <a:srgbClr val="D97B4F"/>
                </a:solidFill>
                <a:latin typeface="Calibri" pitchFamily="34" charset="0"/>
                <a:ea typeface="Calibri" pitchFamily="34" charset="-122"/>
                <a:cs typeface="Calibri" pitchFamily="34" charset="-120"/>
              </a:rPr>
              <a:t>Focused</a:t>
            </a:r>
            <a:endParaRPr lang="en-US" sz="1050" dirty="0"/>
          </a:p>
        </p:txBody>
      </p:sp>
      <p:sp>
        <p:nvSpPr>
          <p:cNvPr id="34" name="Shape 32"/>
          <p:cNvSpPr/>
          <p:nvPr/>
        </p:nvSpPr>
        <p:spPr>
          <a:xfrm>
            <a:off x="7221931" y="3849624"/>
            <a:ext cx="2181758" cy="457200"/>
          </a:xfrm>
          <a:prstGeom prst="roundRect">
            <a:avLst>
              <a:gd name="adj" fmla="val 12000"/>
            </a:avLst>
          </a:prstGeom>
          <a:solidFill>
            <a:srgbClr val="FDECE0"/>
          </a:solidFill>
          <a:ln/>
        </p:spPr>
      </p:sp>
      <p:sp>
        <p:nvSpPr>
          <p:cNvPr id="35" name="Text 33"/>
          <p:cNvSpPr/>
          <p:nvPr/>
        </p:nvSpPr>
        <p:spPr>
          <a:xfrm>
            <a:off x="7295083" y="3849624"/>
            <a:ext cx="2035454" cy="457200"/>
          </a:xfrm>
          <a:prstGeom prst="rect">
            <a:avLst/>
          </a:prstGeom>
          <a:noFill/>
          <a:ln/>
        </p:spPr>
        <p:txBody>
          <a:bodyPr wrap="square" rtlCol="0" anchor="ctr"/>
          <a:lstStyle/>
          <a:p>
            <a:pPr marL="0" indent="0" algn="ctr">
              <a:buNone/>
            </a:pPr>
            <a:r>
              <a:rPr lang="en-US" sz="1050" b="1" dirty="0">
                <a:solidFill>
                  <a:srgbClr val="D97B4F"/>
                </a:solidFill>
                <a:latin typeface="Calibri" pitchFamily="34" charset="0"/>
                <a:ea typeface="Calibri" pitchFamily="34" charset="-122"/>
                <a:cs typeface="Calibri" pitchFamily="34" charset="-120"/>
              </a:rPr>
              <a:t>Scattered</a:t>
            </a:r>
            <a:endParaRPr lang="en-US" sz="1050" dirty="0"/>
          </a:p>
        </p:txBody>
      </p:sp>
      <p:sp>
        <p:nvSpPr>
          <p:cNvPr id="36" name="Shape 34"/>
          <p:cNvSpPr/>
          <p:nvPr/>
        </p:nvSpPr>
        <p:spPr>
          <a:xfrm>
            <a:off x="9476842" y="3849624"/>
            <a:ext cx="2181758" cy="457200"/>
          </a:xfrm>
          <a:prstGeom prst="roundRect">
            <a:avLst>
              <a:gd name="adj" fmla="val 12000"/>
            </a:avLst>
          </a:prstGeom>
          <a:solidFill>
            <a:srgbClr val="FDECE0"/>
          </a:solidFill>
          <a:ln/>
        </p:spPr>
      </p:sp>
      <p:sp>
        <p:nvSpPr>
          <p:cNvPr id="37" name="Text 35"/>
          <p:cNvSpPr/>
          <p:nvPr/>
        </p:nvSpPr>
        <p:spPr>
          <a:xfrm>
            <a:off x="9549994" y="3849624"/>
            <a:ext cx="2035454" cy="457200"/>
          </a:xfrm>
          <a:prstGeom prst="rect">
            <a:avLst/>
          </a:prstGeom>
          <a:noFill/>
          <a:ln/>
        </p:spPr>
        <p:txBody>
          <a:bodyPr wrap="square" rtlCol="0" anchor="ctr"/>
          <a:lstStyle/>
          <a:p>
            <a:pPr marL="0" indent="0" algn="ctr">
              <a:buNone/>
            </a:pPr>
            <a:r>
              <a:rPr lang="en-US" sz="1050" b="1" dirty="0">
                <a:solidFill>
                  <a:srgbClr val="D97B4F"/>
                </a:solidFill>
                <a:latin typeface="Calibri" pitchFamily="34" charset="0"/>
                <a:ea typeface="Calibri" pitchFamily="34" charset="-122"/>
                <a:cs typeface="Calibri" pitchFamily="34" charset="-120"/>
              </a:rPr>
              <a:t>Proud</a:t>
            </a:r>
            <a:endParaRPr lang="en-US" sz="1050" dirty="0"/>
          </a:p>
        </p:txBody>
      </p:sp>
      <p:sp>
        <p:nvSpPr>
          <p:cNvPr id="38" name="Shape 36"/>
          <p:cNvSpPr/>
          <p:nvPr/>
        </p:nvSpPr>
        <p:spPr>
          <a:xfrm>
            <a:off x="457200" y="4379976"/>
            <a:ext cx="2181758" cy="1600200"/>
          </a:xfrm>
          <a:prstGeom prst="roundRect">
            <a:avLst>
              <a:gd name="adj" fmla="val 3429"/>
            </a:avLst>
          </a:prstGeom>
          <a:solidFill>
            <a:srgbClr val="EFEBFA"/>
          </a:solidFill>
          <a:ln/>
        </p:spPr>
      </p:sp>
      <p:sp>
        <p:nvSpPr>
          <p:cNvPr id="39" name="Text 37"/>
          <p:cNvSpPr/>
          <p:nvPr/>
        </p:nvSpPr>
        <p:spPr>
          <a:xfrm>
            <a:off x="56692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“verified niche expertise” badge so clients see credibility instantly.</a:t>
            </a:r>
            <a:endParaRPr lang="en-US" sz="1400" dirty="0"/>
          </a:p>
        </p:txBody>
      </p:sp>
      <p:sp>
        <p:nvSpPr>
          <p:cNvPr id="40" name="Shape 38"/>
          <p:cNvSpPr/>
          <p:nvPr/>
        </p:nvSpPr>
        <p:spPr>
          <a:xfrm>
            <a:off x="2712110" y="4379976"/>
            <a:ext cx="2181758" cy="1600200"/>
          </a:xfrm>
          <a:prstGeom prst="roundRect">
            <a:avLst>
              <a:gd name="adj" fmla="val 3429"/>
            </a:avLst>
          </a:prstGeom>
          <a:solidFill>
            <a:srgbClr val="EFEBFA"/>
          </a:solidFill>
          <a:ln/>
        </p:spPr>
      </p:sp>
      <p:sp>
        <p:nvSpPr>
          <p:cNvPr id="41" name="Text 39"/>
          <p:cNvSpPr/>
          <p:nvPr/>
        </p:nvSpPr>
        <p:spPr>
          <a:xfrm>
            <a:off x="282183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standard “paid trial” contract type built into the platform.</a:t>
            </a:r>
            <a:endParaRPr lang="en-US" sz="1400" dirty="0"/>
          </a:p>
        </p:txBody>
      </p:sp>
      <p:sp>
        <p:nvSpPr>
          <p:cNvPr id="42" name="Shape 40"/>
          <p:cNvSpPr/>
          <p:nvPr/>
        </p:nvSpPr>
        <p:spPr>
          <a:xfrm>
            <a:off x="4967021" y="4379976"/>
            <a:ext cx="2181758" cy="1600200"/>
          </a:xfrm>
          <a:prstGeom prst="roundRect">
            <a:avLst>
              <a:gd name="adj" fmla="val 3429"/>
            </a:avLst>
          </a:prstGeom>
          <a:solidFill>
            <a:srgbClr val="EFEBFA"/>
          </a:solidFill>
          <a:ln/>
        </p:spPr>
      </p:sp>
      <p:sp>
        <p:nvSpPr>
          <p:cNvPr id="43" name="Text 41"/>
          <p:cNvSpPr/>
          <p:nvPr/>
        </p:nvSpPr>
        <p:spPr>
          <a:xfrm>
            <a:off x="507674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research-time estimator that helps price trial pieces fairly.</a:t>
            </a:r>
            <a:endParaRPr lang="en-US" sz="1400" dirty="0"/>
          </a:p>
        </p:txBody>
      </p:sp>
      <p:sp>
        <p:nvSpPr>
          <p:cNvPr id="44" name="Shape 42"/>
          <p:cNvSpPr/>
          <p:nvPr/>
        </p:nvSpPr>
        <p:spPr>
          <a:xfrm>
            <a:off x="7221931" y="4379976"/>
            <a:ext cx="2181758" cy="1600200"/>
          </a:xfrm>
          <a:prstGeom prst="roundRect">
            <a:avLst>
              <a:gd name="adj" fmla="val 3429"/>
            </a:avLst>
          </a:prstGeom>
          <a:solidFill>
            <a:srgbClr val="EFEBFA"/>
          </a:solidFill>
          <a:ln/>
        </p:spPr>
      </p:sp>
      <p:sp>
        <p:nvSpPr>
          <p:cNvPr id="45" name="Text 43"/>
          <p:cNvSpPr/>
          <p:nvPr/>
        </p:nvSpPr>
        <p:spPr>
          <a:xfrm>
            <a:off x="733165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One feedback thread per article, timestamped and versioned.</a:t>
            </a:r>
            <a:endParaRPr lang="en-US" sz="1400" dirty="0"/>
          </a:p>
        </p:txBody>
      </p:sp>
      <p:sp>
        <p:nvSpPr>
          <p:cNvPr id="46" name="Shape 44"/>
          <p:cNvSpPr/>
          <p:nvPr/>
        </p:nvSpPr>
        <p:spPr>
          <a:xfrm>
            <a:off x="9476842" y="4379976"/>
            <a:ext cx="2181758" cy="1600200"/>
          </a:xfrm>
          <a:prstGeom prst="roundRect">
            <a:avLst>
              <a:gd name="adj" fmla="val 3429"/>
            </a:avLst>
          </a:prstGeom>
          <a:solidFill>
            <a:srgbClr val="EFEBFA"/>
          </a:solidFill>
          <a:ln/>
        </p:spPr>
      </p:sp>
      <p:sp>
        <p:nvSpPr>
          <p:cNvPr id="47" name="Text 45"/>
          <p:cNvSpPr/>
          <p:nvPr/>
        </p:nvSpPr>
        <p:spPr>
          <a:xfrm>
            <a:off x="9586570"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An auto-generated recurring contract template based on the trial terms.</a:t>
            </a:r>
            <a:endParaRPr lang="en-US" sz="1400" dirty="0"/>
          </a:p>
        </p:txBody>
      </p:sp>
      <p:sp>
        <p:nvSpPr>
          <p:cNvPr id="48" name="Text 46"/>
          <p:cNvSpPr/>
          <p:nvPr/>
        </p:nvSpPr>
        <p:spPr>
          <a:xfrm>
            <a:off x="457200" y="6537960"/>
            <a:ext cx="7315200" cy="274320"/>
          </a:xfrm>
          <a:prstGeom prst="rect">
            <a:avLst/>
          </a:prstGeom>
          <a:noFill/>
          <a:ln/>
        </p:spPr>
        <p:txBody>
          <a:bodyPr wrap="square" rtlCol="0" anchor="ctr"/>
          <a:lstStyle/>
          <a:p>
            <a:pPr marL="0" indent="0">
              <a:buNone/>
            </a:pPr>
            <a:endParaRPr lang="en-US" sz="900" dirty="0"/>
          </a:p>
        </p:txBody>
      </p:sp>
      <p:sp>
        <p:nvSpPr>
          <p:cNvPr id="49" name="Text 47"/>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rtlCol="0" anchor="ctr"/>
          <a:lstStyle/>
          <a:p>
            <a:pPr marL="0" indent="0">
              <a:buNone/>
            </a:pPr>
            <a:r>
              <a:rPr lang="en-US" sz="1200" b="1" kern="0" spc="200" dirty="0">
                <a:solidFill>
                  <a:srgbClr val="2FA88A"/>
                </a:solidFill>
                <a:latin typeface="Calibri" pitchFamily="34" charset="0"/>
                <a:ea typeface="Calibri" pitchFamily="34" charset="-122"/>
                <a:cs typeface="Calibri" pitchFamily="34" charset="-120"/>
              </a:rPr>
              <a:t>USER JOURNEY MAP</a:t>
            </a:r>
            <a:endParaRPr lang="en-US" sz="1200" dirty="0"/>
          </a:p>
        </p:txBody>
      </p:sp>
      <p:sp>
        <p:nvSpPr>
          <p:cNvPr id="3" name="Text 1"/>
          <p:cNvSpPr/>
          <p:nvPr/>
        </p:nvSpPr>
        <p:spPr>
          <a:xfrm>
            <a:off x="457200" y="548640"/>
            <a:ext cx="8686800" cy="50292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Getting His First Real Client</a:t>
            </a:r>
            <a:endParaRPr lang="en-US" sz="2400" dirty="0"/>
          </a:p>
        </p:txBody>
      </p:sp>
      <p:sp>
        <p:nvSpPr>
          <p:cNvPr id="4" name="Shape 2"/>
          <p:cNvSpPr/>
          <p:nvPr/>
        </p:nvSpPr>
        <p:spPr>
          <a:xfrm>
            <a:off x="9966960" y="292608"/>
            <a:ext cx="566928" cy="566928"/>
          </a:xfrm>
          <a:prstGeom prst="ellipse">
            <a:avLst/>
          </a:prstGeom>
          <a:solidFill>
            <a:srgbClr val="A8E6CF"/>
          </a:solidFill>
          <a:ln/>
        </p:spPr>
      </p:sp>
      <p:sp>
        <p:nvSpPr>
          <p:cNvPr id="5" name="Text 3"/>
          <p:cNvSpPr/>
          <p:nvPr/>
        </p:nvSpPr>
        <p:spPr>
          <a:xfrm>
            <a:off x="9966960" y="292608"/>
            <a:ext cx="566928"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RD</a:t>
            </a:r>
            <a:endParaRPr lang="en-US" sz="1300" dirty="0"/>
          </a:p>
        </p:txBody>
      </p:sp>
      <p:sp>
        <p:nvSpPr>
          <p:cNvPr id="6" name="Text 4"/>
          <p:cNvSpPr/>
          <p:nvPr/>
        </p:nvSpPr>
        <p:spPr>
          <a:xfrm>
            <a:off x="10607040" y="310896"/>
            <a:ext cx="2743200" cy="274320"/>
          </a:xfrm>
          <a:prstGeom prst="rect">
            <a:avLst/>
          </a:prstGeom>
          <a:noFill/>
          <a:ln/>
        </p:spPr>
        <p:txBody>
          <a:bodyPr wrap="square" rtlCol="0" anchor="ctr"/>
          <a:lstStyle/>
          <a:p>
            <a:pPr marL="0" indent="0">
              <a:buNone/>
            </a:pPr>
            <a:r>
              <a:rPr lang="en-US" sz="1100" b="1" dirty="0">
                <a:solidFill>
                  <a:srgbClr val="2E2B45"/>
                </a:solidFill>
                <a:latin typeface="Calibri" pitchFamily="34" charset="0"/>
                <a:ea typeface="Calibri" pitchFamily="34" charset="-122"/>
                <a:cs typeface="Calibri" pitchFamily="34" charset="-120"/>
              </a:rPr>
              <a:t>Rohan Das</a:t>
            </a:r>
            <a:endParaRPr lang="en-US" sz="1100" dirty="0"/>
          </a:p>
        </p:txBody>
      </p:sp>
      <p:sp>
        <p:nvSpPr>
          <p:cNvPr id="7" name="Text 5"/>
          <p:cNvSpPr/>
          <p:nvPr/>
        </p:nvSpPr>
        <p:spPr>
          <a:xfrm>
            <a:off x="10607040" y="548640"/>
            <a:ext cx="2743200" cy="274320"/>
          </a:xfrm>
          <a:prstGeom prst="rect">
            <a:avLst/>
          </a:prstGeom>
          <a:noFill/>
          <a:ln/>
        </p:spPr>
        <p:txBody>
          <a:bodyPr wrap="square" rtlCol="0" anchor="ctr"/>
          <a:lstStyle/>
          <a:p>
            <a:pPr marL="0" indent="0">
              <a:buNone/>
            </a:pPr>
            <a:r>
              <a:rPr lang="en-US" sz="850" dirty="0">
                <a:solidFill>
                  <a:srgbClr val="5B5570"/>
                </a:solidFill>
                <a:latin typeface="Calibri" pitchFamily="34" charset="0"/>
                <a:ea typeface="Calibri" pitchFamily="34" charset="-122"/>
                <a:cs typeface="Calibri" pitchFamily="34" charset="-120"/>
              </a:rPr>
              <a:t>Freelance Video Editor</a:t>
            </a:r>
            <a:endParaRPr lang="en-US" sz="850" dirty="0"/>
          </a:p>
        </p:txBody>
      </p:sp>
      <p:sp>
        <p:nvSpPr>
          <p:cNvPr id="8" name="Shape 6"/>
          <p:cNvSpPr/>
          <p:nvPr/>
        </p:nvSpPr>
        <p:spPr>
          <a:xfrm>
            <a:off x="457200" y="1234440"/>
            <a:ext cx="2181758" cy="502920"/>
          </a:xfrm>
          <a:prstGeom prst="roundRect">
            <a:avLst>
              <a:gd name="adj" fmla="val 10909"/>
            </a:avLst>
          </a:prstGeom>
          <a:solidFill>
            <a:srgbClr val="2FA88A"/>
          </a:solidFill>
          <a:ln/>
        </p:spPr>
      </p:sp>
      <p:sp>
        <p:nvSpPr>
          <p:cNvPr id="9" name="Text 7"/>
          <p:cNvSpPr/>
          <p:nvPr/>
        </p:nvSpPr>
        <p:spPr>
          <a:xfrm>
            <a:off x="53035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Applies to 10 Small Jobs</a:t>
            </a:r>
            <a:endParaRPr lang="en-US" sz="1000" dirty="0"/>
          </a:p>
        </p:txBody>
      </p:sp>
      <p:sp>
        <p:nvSpPr>
          <p:cNvPr id="10" name="Shape 8"/>
          <p:cNvSpPr/>
          <p:nvPr/>
        </p:nvSpPr>
        <p:spPr>
          <a:xfrm>
            <a:off x="2712110" y="1234440"/>
            <a:ext cx="2181758" cy="502920"/>
          </a:xfrm>
          <a:prstGeom prst="roundRect">
            <a:avLst>
              <a:gd name="adj" fmla="val 10909"/>
            </a:avLst>
          </a:prstGeom>
          <a:solidFill>
            <a:srgbClr val="2FA88A"/>
          </a:solidFill>
          <a:ln/>
        </p:spPr>
      </p:sp>
      <p:sp>
        <p:nvSpPr>
          <p:cNvPr id="11" name="Text 9"/>
          <p:cNvSpPr/>
          <p:nvPr/>
        </p:nvSpPr>
        <p:spPr>
          <a:xfrm>
            <a:off x="278526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Offers an Unpaid Teaser Edit</a:t>
            </a:r>
            <a:endParaRPr lang="en-US" sz="1000" dirty="0"/>
          </a:p>
        </p:txBody>
      </p:sp>
      <p:sp>
        <p:nvSpPr>
          <p:cNvPr id="12" name="Shape 10"/>
          <p:cNvSpPr/>
          <p:nvPr/>
        </p:nvSpPr>
        <p:spPr>
          <a:xfrm>
            <a:off x="4967021" y="1234440"/>
            <a:ext cx="2181758" cy="502920"/>
          </a:xfrm>
          <a:prstGeom prst="roundRect">
            <a:avLst>
              <a:gd name="adj" fmla="val 10909"/>
            </a:avLst>
          </a:prstGeom>
          <a:solidFill>
            <a:srgbClr val="2FA88A"/>
          </a:solidFill>
          <a:ln/>
        </p:spPr>
      </p:sp>
      <p:sp>
        <p:nvSpPr>
          <p:cNvPr id="13" name="Text 11"/>
          <p:cNvSpPr/>
          <p:nvPr/>
        </p:nvSpPr>
        <p:spPr>
          <a:xfrm>
            <a:off x="504017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Client Goes Silent</a:t>
            </a:r>
            <a:endParaRPr lang="en-US" sz="1000" dirty="0"/>
          </a:p>
        </p:txBody>
      </p:sp>
      <p:sp>
        <p:nvSpPr>
          <p:cNvPr id="14" name="Shape 12"/>
          <p:cNvSpPr/>
          <p:nvPr/>
        </p:nvSpPr>
        <p:spPr>
          <a:xfrm>
            <a:off x="7221931" y="1234440"/>
            <a:ext cx="2181758" cy="502920"/>
          </a:xfrm>
          <a:prstGeom prst="roundRect">
            <a:avLst>
              <a:gd name="adj" fmla="val 10909"/>
            </a:avLst>
          </a:prstGeom>
          <a:solidFill>
            <a:srgbClr val="2FA88A"/>
          </a:solidFill>
          <a:ln/>
        </p:spPr>
      </p:sp>
      <p:sp>
        <p:nvSpPr>
          <p:cNvPr id="15" name="Text 13"/>
          <p:cNvSpPr/>
          <p:nvPr/>
        </p:nvSpPr>
        <p:spPr>
          <a:xfrm>
            <a:off x="729508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Follows Up Once</a:t>
            </a:r>
            <a:endParaRPr lang="en-US" sz="1000" dirty="0"/>
          </a:p>
        </p:txBody>
      </p:sp>
      <p:sp>
        <p:nvSpPr>
          <p:cNvPr id="16" name="Shape 14"/>
          <p:cNvSpPr/>
          <p:nvPr/>
        </p:nvSpPr>
        <p:spPr>
          <a:xfrm>
            <a:off x="9476842" y="1234440"/>
            <a:ext cx="2181758" cy="502920"/>
          </a:xfrm>
          <a:prstGeom prst="roundRect">
            <a:avLst>
              <a:gd name="adj" fmla="val 10909"/>
            </a:avLst>
          </a:prstGeom>
          <a:solidFill>
            <a:srgbClr val="2FA88A"/>
          </a:solidFill>
          <a:ln/>
        </p:spPr>
      </p:sp>
      <p:sp>
        <p:nvSpPr>
          <p:cNvPr id="17" name="Text 15"/>
          <p:cNvSpPr/>
          <p:nvPr/>
        </p:nvSpPr>
        <p:spPr>
          <a:xfrm>
            <a:off x="9549994"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Lands the First Paid Project</a:t>
            </a:r>
            <a:endParaRPr lang="en-US" sz="1000" dirty="0"/>
          </a:p>
        </p:txBody>
      </p:sp>
      <p:sp>
        <p:nvSpPr>
          <p:cNvPr id="18" name="Shape 16"/>
          <p:cNvSpPr/>
          <p:nvPr/>
        </p:nvSpPr>
        <p:spPr>
          <a:xfrm>
            <a:off x="457200" y="1810512"/>
            <a:ext cx="2181758" cy="1965960"/>
          </a:xfrm>
          <a:prstGeom prst="roundRect">
            <a:avLst>
              <a:gd name="adj" fmla="val 2791"/>
            </a:avLst>
          </a:prstGeom>
          <a:solidFill>
            <a:srgbClr val="FFFFFF"/>
          </a:solidFill>
          <a:ln w="12700">
            <a:solidFill>
              <a:srgbClr val="E7E3F3"/>
            </a:solidFill>
            <a:prstDash val="solid"/>
          </a:ln>
        </p:spPr>
      </p:sp>
      <p:sp>
        <p:nvSpPr>
          <p:cNvPr id="19" name="Text 17"/>
          <p:cNvSpPr/>
          <p:nvPr/>
        </p:nvSpPr>
        <p:spPr>
          <a:xfrm>
            <a:off x="56692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Filters for beginner-friendly video jobs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Applies with a short, honest pitch</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Attaches two best sample edits</a:t>
            </a:r>
            <a:endParaRPr lang="en-US" sz="1200" dirty="0"/>
          </a:p>
        </p:txBody>
      </p:sp>
      <p:sp>
        <p:nvSpPr>
          <p:cNvPr id="20" name="Shape 18"/>
          <p:cNvSpPr/>
          <p:nvPr/>
        </p:nvSpPr>
        <p:spPr>
          <a:xfrm>
            <a:off x="2712110" y="1810512"/>
            <a:ext cx="2181758" cy="1965960"/>
          </a:xfrm>
          <a:prstGeom prst="roundRect">
            <a:avLst>
              <a:gd name="adj" fmla="val 2791"/>
            </a:avLst>
          </a:prstGeom>
          <a:solidFill>
            <a:srgbClr val="FFFFFF"/>
          </a:solidFill>
          <a:ln w="12700">
            <a:solidFill>
              <a:srgbClr val="E7E3F3"/>
            </a:solidFill>
            <a:prstDash val="solid"/>
          </a:ln>
        </p:spPr>
      </p:sp>
      <p:sp>
        <p:nvSpPr>
          <p:cNvPr id="21" name="Text 19"/>
          <p:cNvSpPr/>
          <p:nvPr/>
        </p:nvSpPr>
        <p:spPr>
          <a:xfrm>
            <a:off x="282183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A client asks for a free teaser edit</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Agrees, hoping it leads somewhere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Delivers a polished 15-second cut</a:t>
            </a:r>
            <a:endParaRPr lang="en-US" sz="1200" dirty="0"/>
          </a:p>
        </p:txBody>
      </p:sp>
      <p:sp>
        <p:nvSpPr>
          <p:cNvPr id="22" name="Shape 20"/>
          <p:cNvSpPr/>
          <p:nvPr/>
        </p:nvSpPr>
        <p:spPr>
          <a:xfrm>
            <a:off x="4967021" y="1810512"/>
            <a:ext cx="2181758" cy="1965960"/>
          </a:xfrm>
          <a:prstGeom prst="roundRect">
            <a:avLst>
              <a:gd name="adj" fmla="val 2791"/>
            </a:avLst>
          </a:prstGeom>
          <a:solidFill>
            <a:srgbClr val="FFFFFF"/>
          </a:solidFill>
          <a:ln w="12700">
            <a:solidFill>
              <a:srgbClr val="E7E3F3"/>
            </a:solidFill>
            <a:prstDash val="solid"/>
          </a:ln>
        </p:spPr>
      </p:sp>
      <p:sp>
        <p:nvSpPr>
          <p:cNvPr id="23" name="Text 21"/>
          <p:cNvSpPr/>
          <p:nvPr/>
        </p:nvSpPr>
        <p:spPr>
          <a:xfrm>
            <a:off x="507674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Client stops responding after the teaser</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Checks his messages daily</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Can’t tell if the client is deciding or gone</a:t>
            </a:r>
            <a:endParaRPr lang="en-US" sz="1200" dirty="0"/>
          </a:p>
        </p:txBody>
      </p:sp>
      <p:sp>
        <p:nvSpPr>
          <p:cNvPr id="24" name="Shape 22"/>
          <p:cNvSpPr/>
          <p:nvPr/>
        </p:nvSpPr>
        <p:spPr>
          <a:xfrm>
            <a:off x="7221931" y="1810512"/>
            <a:ext cx="2181758" cy="1965960"/>
          </a:xfrm>
          <a:prstGeom prst="roundRect">
            <a:avLst>
              <a:gd name="adj" fmla="val 2791"/>
            </a:avLst>
          </a:prstGeom>
          <a:solidFill>
            <a:srgbClr val="FFFFFF"/>
          </a:solidFill>
          <a:ln w="12700">
            <a:solidFill>
              <a:srgbClr val="E7E3F3"/>
            </a:solidFill>
            <a:prstDash val="solid"/>
          </a:ln>
        </p:spPr>
      </p:sp>
      <p:sp>
        <p:nvSpPr>
          <p:cNvPr id="25" name="Text 23"/>
          <p:cNvSpPr/>
          <p:nvPr/>
        </p:nvSpPr>
        <p:spPr>
          <a:xfrm>
            <a:off x="733165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Sends one polite follow-up message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Offers a small discount for a first client</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Waits three more days</a:t>
            </a:r>
            <a:endParaRPr lang="en-US" sz="1200" dirty="0"/>
          </a:p>
        </p:txBody>
      </p:sp>
      <p:sp>
        <p:nvSpPr>
          <p:cNvPr id="26" name="Shape 24"/>
          <p:cNvSpPr/>
          <p:nvPr/>
        </p:nvSpPr>
        <p:spPr>
          <a:xfrm>
            <a:off x="9476842" y="1810512"/>
            <a:ext cx="2181758" cy="1965960"/>
          </a:xfrm>
          <a:prstGeom prst="roundRect">
            <a:avLst>
              <a:gd name="adj" fmla="val 2791"/>
            </a:avLst>
          </a:prstGeom>
          <a:solidFill>
            <a:srgbClr val="FFFFFF"/>
          </a:solidFill>
          <a:ln w="12700">
            <a:solidFill>
              <a:srgbClr val="E7E3F3"/>
            </a:solidFill>
            <a:prstDash val="solid"/>
          </a:ln>
        </p:spPr>
      </p:sp>
      <p:sp>
        <p:nvSpPr>
          <p:cNvPr id="27" name="Text 25"/>
          <p:cNvSpPr/>
          <p:nvPr/>
        </p:nvSpPr>
        <p:spPr>
          <a:xfrm>
            <a:off x="9586570"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Client finally responds and hires him</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Delivers the full edit on time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Gets his first five-star review</a:t>
            </a:r>
            <a:endParaRPr lang="en-US" sz="1200" dirty="0"/>
          </a:p>
        </p:txBody>
      </p:sp>
      <p:sp>
        <p:nvSpPr>
          <p:cNvPr id="28" name="Shape 26"/>
          <p:cNvSpPr/>
          <p:nvPr/>
        </p:nvSpPr>
        <p:spPr>
          <a:xfrm>
            <a:off x="457200" y="3849624"/>
            <a:ext cx="2181758" cy="457200"/>
          </a:xfrm>
          <a:prstGeom prst="roundRect">
            <a:avLst>
              <a:gd name="adj" fmla="val 12000"/>
            </a:avLst>
          </a:prstGeom>
          <a:solidFill>
            <a:srgbClr val="E1F5EC"/>
          </a:solidFill>
          <a:ln/>
        </p:spPr>
      </p:sp>
      <p:sp>
        <p:nvSpPr>
          <p:cNvPr id="29" name="Text 27"/>
          <p:cNvSpPr/>
          <p:nvPr/>
        </p:nvSpPr>
        <p:spPr>
          <a:xfrm>
            <a:off x="530352" y="3849624"/>
            <a:ext cx="2035454" cy="457200"/>
          </a:xfrm>
          <a:prstGeom prst="rect">
            <a:avLst/>
          </a:prstGeom>
          <a:noFill/>
          <a:ln/>
        </p:spPr>
        <p:txBody>
          <a:bodyPr wrap="square" rtlCol="0" anchor="ctr"/>
          <a:lstStyle/>
          <a:p>
            <a:pPr marL="0" indent="0" algn="ctr">
              <a:buNone/>
            </a:pPr>
            <a:r>
              <a:rPr lang="en-US" sz="1050" b="1" dirty="0">
                <a:solidFill>
                  <a:srgbClr val="2FA88A"/>
                </a:solidFill>
                <a:latin typeface="Calibri" pitchFamily="34" charset="0"/>
                <a:ea typeface="Calibri" pitchFamily="34" charset="-122"/>
                <a:cs typeface="Calibri" pitchFamily="34" charset="-120"/>
              </a:rPr>
              <a:t>Determined</a:t>
            </a:r>
            <a:endParaRPr lang="en-US" sz="1050" dirty="0"/>
          </a:p>
        </p:txBody>
      </p:sp>
      <p:sp>
        <p:nvSpPr>
          <p:cNvPr id="30" name="Shape 28"/>
          <p:cNvSpPr/>
          <p:nvPr/>
        </p:nvSpPr>
        <p:spPr>
          <a:xfrm>
            <a:off x="2712110" y="3849624"/>
            <a:ext cx="2181758" cy="457200"/>
          </a:xfrm>
          <a:prstGeom prst="roundRect">
            <a:avLst>
              <a:gd name="adj" fmla="val 12000"/>
            </a:avLst>
          </a:prstGeom>
          <a:solidFill>
            <a:srgbClr val="E1F5EC"/>
          </a:solidFill>
          <a:ln/>
        </p:spPr>
      </p:sp>
      <p:sp>
        <p:nvSpPr>
          <p:cNvPr id="31" name="Text 29"/>
          <p:cNvSpPr/>
          <p:nvPr/>
        </p:nvSpPr>
        <p:spPr>
          <a:xfrm>
            <a:off x="2785262" y="3849624"/>
            <a:ext cx="2035454" cy="457200"/>
          </a:xfrm>
          <a:prstGeom prst="rect">
            <a:avLst/>
          </a:prstGeom>
          <a:noFill/>
          <a:ln/>
        </p:spPr>
        <p:txBody>
          <a:bodyPr wrap="square" rtlCol="0" anchor="ctr"/>
          <a:lstStyle/>
          <a:p>
            <a:pPr marL="0" indent="0" algn="ctr">
              <a:buNone/>
            </a:pPr>
            <a:r>
              <a:rPr lang="en-US" sz="1050" b="1" dirty="0">
                <a:solidFill>
                  <a:srgbClr val="2FA88A"/>
                </a:solidFill>
                <a:latin typeface="Calibri" pitchFamily="34" charset="0"/>
                <a:ea typeface="Calibri" pitchFamily="34" charset="-122"/>
                <a:cs typeface="Calibri" pitchFamily="34" charset="-120"/>
              </a:rPr>
              <a:t>Uncertain</a:t>
            </a:r>
            <a:endParaRPr lang="en-US" sz="1050" dirty="0"/>
          </a:p>
        </p:txBody>
      </p:sp>
      <p:sp>
        <p:nvSpPr>
          <p:cNvPr id="32" name="Shape 30"/>
          <p:cNvSpPr/>
          <p:nvPr/>
        </p:nvSpPr>
        <p:spPr>
          <a:xfrm>
            <a:off x="4967021" y="3849624"/>
            <a:ext cx="2181758" cy="457200"/>
          </a:xfrm>
          <a:prstGeom prst="roundRect">
            <a:avLst>
              <a:gd name="adj" fmla="val 12000"/>
            </a:avLst>
          </a:prstGeom>
          <a:solidFill>
            <a:srgbClr val="E1F5EC"/>
          </a:solidFill>
          <a:ln/>
        </p:spPr>
      </p:sp>
      <p:sp>
        <p:nvSpPr>
          <p:cNvPr id="33" name="Text 31"/>
          <p:cNvSpPr/>
          <p:nvPr/>
        </p:nvSpPr>
        <p:spPr>
          <a:xfrm>
            <a:off x="5040173" y="3849624"/>
            <a:ext cx="2035454" cy="457200"/>
          </a:xfrm>
          <a:prstGeom prst="rect">
            <a:avLst/>
          </a:prstGeom>
          <a:noFill/>
          <a:ln/>
        </p:spPr>
        <p:txBody>
          <a:bodyPr wrap="square" rtlCol="0" anchor="ctr"/>
          <a:lstStyle/>
          <a:p>
            <a:pPr marL="0" indent="0" algn="ctr">
              <a:buNone/>
            </a:pPr>
            <a:r>
              <a:rPr lang="en-US" sz="1050" b="1" dirty="0">
                <a:solidFill>
                  <a:srgbClr val="2FA88A"/>
                </a:solidFill>
                <a:latin typeface="Calibri" pitchFamily="34" charset="0"/>
                <a:ea typeface="Calibri" pitchFamily="34" charset="-122"/>
                <a:cs typeface="Calibri" pitchFamily="34" charset="-120"/>
              </a:rPr>
              <a:t>Discouraged</a:t>
            </a:r>
            <a:endParaRPr lang="en-US" sz="1050" dirty="0"/>
          </a:p>
        </p:txBody>
      </p:sp>
      <p:sp>
        <p:nvSpPr>
          <p:cNvPr id="34" name="Shape 32"/>
          <p:cNvSpPr/>
          <p:nvPr/>
        </p:nvSpPr>
        <p:spPr>
          <a:xfrm>
            <a:off x="7221931" y="3849624"/>
            <a:ext cx="2181758" cy="457200"/>
          </a:xfrm>
          <a:prstGeom prst="roundRect">
            <a:avLst>
              <a:gd name="adj" fmla="val 12000"/>
            </a:avLst>
          </a:prstGeom>
          <a:solidFill>
            <a:srgbClr val="E1F5EC"/>
          </a:solidFill>
          <a:ln/>
        </p:spPr>
      </p:sp>
      <p:sp>
        <p:nvSpPr>
          <p:cNvPr id="35" name="Text 33"/>
          <p:cNvSpPr/>
          <p:nvPr/>
        </p:nvSpPr>
        <p:spPr>
          <a:xfrm>
            <a:off x="7295083" y="3849624"/>
            <a:ext cx="2035454" cy="457200"/>
          </a:xfrm>
          <a:prstGeom prst="rect">
            <a:avLst/>
          </a:prstGeom>
          <a:noFill/>
          <a:ln/>
        </p:spPr>
        <p:txBody>
          <a:bodyPr wrap="square" rtlCol="0" anchor="ctr"/>
          <a:lstStyle/>
          <a:p>
            <a:pPr marL="0" indent="0" algn="ctr">
              <a:buNone/>
            </a:pPr>
            <a:r>
              <a:rPr lang="en-US" sz="1050" b="1" dirty="0">
                <a:solidFill>
                  <a:srgbClr val="2FA88A"/>
                </a:solidFill>
                <a:latin typeface="Calibri" pitchFamily="34" charset="0"/>
                <a:ea typeface="Calibri" pitchFamily="34" charset="-122"/>
                <a:cs typeface="Calibri" pitchFamily="34" charset="-120"/>
              </a:rPr>
              <a:t>Anxious</a:t>
            </a:r>
            <a:endParaRPr lang="en-US" sz="1050" dirty="0"/>
          </a:p>
        </p:txBody>
      </p:sp>
      <p:sp>
        <p:nvSpPr>
          <p:cNvPr id="36" name="Shape 34"/>
          <p:cNvSpPr/>
          <p:nvPr/>
        </p:nvSpPr>
        <p:spPr>
          <a:xfrm>
            <a:off x="9476842" y="3849624"/>
            <a:ext cx="2181758" cy="457200"/>
          </a:xfrm>
          <a:prstGeom prst="roundRect">
            <a:avLst>
              <a:gd name="adj" fmla="val 12000"/>
            </a:avLst>
          </a:prstGeom>
          <a:solidFill>
            <a:srgbClr val="E1F5EC"/>
          </a:solidFill>
          <a:ln/>
        </p:spPr>
      </p:sp>
      <p:sp>
        <p:nvSpPr>
          <p:cNvPr id="37" name="Text 35"/>
          <p:cNvSpPr/>
          <p:nvPr/>
        </p:nvSpPr>
        <p:spPr>
          <a:xfrm>
            <a:off x="9549994" y="3849624"/>
            <a:ext cx="2035454" cy="457200"/>
          </a:xfrm>
          <a:prstGeom prst="rect">
            <a:avLst/>
          </a:prstGeom>
          <a:noFill/>
          <a:ln/>
        </p:spPr>
        <p:txBody>
          <a:bodyPr wrap="square" rtlCol="0" anchor="ctr"/>
          <a:lstStyle/>
          <a:p>
            <a:pPr marL="0" indent="0" algn="ctr">
              <a:buNone/>
            </a:pPr>
            <a:r>
              <a:rPr lang="en-US" sz="1050" b="1" dirty="0">
                <a:solidFill>
                  <a:srgbClr val="2FA88A"/>
                </a:solidFill>
                <a:latin typeface="Calibri" pitchFamily="34" charset="0"/>
                <a:ea typeface="Calibri" pitchFamily="34" charset="-122"/>
                <a:cs typeface="Calibri" pitchFamily="34" charset="-120"/>
              </a:rPr>
              <a:t>Elated</a:t>
            </a:r>
            <a:endParaRPr lang="en-US" sz="1050" dirty="0"/>
          </a:p>
        </p:txBody>
      </p:sp>
      <p:sp>
        <p:nvSpPr>
          <p:cNvPr id="38" name="Shape 36"/>
          <p:cNvSpPr/>
          <p:nvPr/>
        </p:nvSpPr>
        <p:spPr>
          <a:xfrm>
            <a:off x="457200" y="4379976"/>
            <a:ext cx="2181758" cy="1600200"/>
          </a:xfrm>
          <a:prstGeom prst="roundRect">
            <a:avLst>
              <a:gd name="adj" fmla="val 3429"/>
            </a:avLst>
          </a:prstGeom>
          <a:solidFill>
            <a:srgbClr val="EFEBFA"/>
          </a:solidFill>
          <a:ln/>
        </p:spPr>
      </p:sp>
      <p:sp>
        <p:nvSpPr>
          <p:cNvPr id="39" name="Text 37"/>
          <p:cNvSpPr/>
          <p:nvPr/>
        </p:nvSpPr>
        <p:spPr>
          <a:xfrm>
            <a:off x="56692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“new talent” filter that surfaces low-review, high-potential profiles to clients</a:t>
            </a:r>
            <a:r>
              <a:rPr lang="en-US" sz="850" i="1" dirty="0">
                <a:solidFill>
                  <a:srgbClr val="2E2B45"/>
                </a:solidFill>
                <a:latin typeface="Calibri" pitchFamily="34" charset="0"/>
                <a:ea typeface="Calibri" pitchFamily="34" charset="-122"/>
                <a:cs typeface="Calibri" pitchFamily="34" charset="-120"/>
              </a:rPr>
              <a:t>.</a:t>
            </a:r>
            <a:endParaRPr lang="en-US" sz="850" dirty="0"/>
          </a:p>
        </p:txBody>
      </p:sp>
      <p:sp>
        <p:nvSpPr>
          <p:cNvPr id="40" name="Shape 38"/>
          <p:cNvSpPr/>
          <p:nvPr/>
        </p:nvSpPr>
        <p:spPr>
          <a:xfrm>
            <a:off x="2712110" y="4379976"/>
            <a:ext cx="2181758" cy="1600200"/>
          </a:xfrm>
          <a:prstGeom prst="roundRect">
            <a:avLst>
              <a:gd name="adj" fmla="val 3429"/>
            </a:avLst>
          </a:prstGeom>
          <a:solidFill>
            <a:srgbClr val="EFEBFA"/>
          </a:solidFill>
          <a:ln/>
        </p:spPr>
      </p:sp>
      <p:sp>
        <p:nvSpPr>
          <p:cNvPr id="41" name="Text 39"/>
          <p:cNvSpPr/>
          <p:nvPr/>
        </p:nvSpPr>
        <p:spPr>
          <a:xfrm>
            <a:off x="282183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capped-length “teaser preview” feature instead of unpaid full edits</a:t>
            </a:r>
            <a:r>
              <a:rPr lang="en-US" sz="850" i="1" dirty="0">
                <a:solidFill>
                  <a:srgbClr val="2E2B45"/>
                </a:solidFill>
                <a:latin typeface="Calibri" pitchFamily="34" charset="0"/>
                <a:ea typeface="Calibri" pitchFamily="34" charset="-122"/>
                <a:cs typeface="Calibri" pitchFamily="34" charset="-120"/>
              </a:rPr>
              <a:t>.</a:t>
            </a:r>
            <a:endParaRPr lang="en-US" sz="850" dirty="0"/>
          </a:p>
        </p:txBody>
      </p:sp>
      <p:sp>
        <p:nvSpPr>
          <p:cNvPr id="42" name="Shape 40"/>
          <p:cNvSpPr/>
          <p:nvPr/>
        </p:nvSpPr>
        <p:spPr>
          <a:xfrm>
            <a:off x="4967021" y="4379976"/>
            <a:ext cx="2181758" cy="1600200"/>
          </a:xfrm>
          <a:prstGeom prst="roundRect">
            <a:avLst>
              <a:gd name="adj" fmla="val 3429"/>
            </a:avLst>
          </a:prstGeom>
          <a:solidFill>
            <a:srgbClr val="EFEBFA"/>
          </a:solidFill>
          <a:ln/>
        </p:spPr>
      </p:sp>
      <p:sp>
        <p:nvSpPr>
          <p:cNvPr id="43" name="Text 41"/>
          <p:cNvSpPr/>
          <p:nvPr/>
        </p:nvSpPr>
        <p:spPr>
          <a:xfrm>
            <a:off x="507674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visible “client last active” indicator so he knows whether to keep waiting.</a:t>
            </a:r>
            <a:endParaRPr lang="en-US" sz="1400" dirty="0"/>
          </a:p>
        </p:txBody>
      </p:sp>
      <p:sp>
        <p:nvSpPr>
          <p:cNvPr id="44" name="Shape 42"/>
          <p:cNvSpPr/>
          <p:nvPr/>
        </p:nvSpPr>
        <p:spPr>
          <a:xfrm>
            <a:off x="7221931" y="4379976"/>
            <a:ext cx="2181758" cy="1600200"/>
          </a:xfrm>
          <a:prstGeom prst="roundRect">
            <a:avLst>
              <a:gd name="adj" fmla="val 3429"/>
            </a:avLst>
          </a:prstGeom>
          <a:solidFill>
            <a:srgbClr val="EFEBFA"/>
          </a:solidFill>
          <a:ln/>
        </p:spPr>
      </p:sp>
      <p:sp>
        <p:nvSpPr>
          <p:cNvPr id="45" name="Text 43"/>
          <p:cNvSpPr/>
          <p:nvPr/>
        </p:nvSpPr>
        <p:spPr>
          <a:xfrm>
            <a:off x="733165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gentle automated nudge sent to the client if they haven’t replied in 5 days</a:t>
            </a:r>
            <a:r>
              <a:rPr lang="en-US" sz="850" i="1" dirty="0">
                <a:solidFill>
                  <a:srgbClr val="2E2B45"/>
                </a:solidFill>
                <a:latin typeface="Calibri" pitchFamily="34" charset="0"/>
                <a:ea typeface="Calibri" pitchFamily="34" charset="-122"/>
                <a:cs typeface="Calibri" pitchFamily="34" charset="-120"/>
              </a:rPr>
              <a:t>.</a:t>
            </a:r>
            <a:endParaRPr lang="en-US" sz="850" dirty="0"/>
          </a:p>
        </p:txBody>
      </p:sp>
      <p:sp>
        <p:nvSpPr>
          <p:cNvPr id="46" name="Shape 44"/>
          <p:cNvSpPr/>
          <p:nvPr/>
        </p:nvSpPr>
        <p:spPr>
          <a:xfrm>
            <a:off x="9476842" y="4379976"/>
            <a:ext cx="2181758" cy="1600200"/>
          </a:xfrm>
          <a:prstGeom prst="roundRect">
            <a:avLst>
              <a:gd name="adj" fmla="val 3429"/>
            </a:avLst>
          </a:prstGeom>
          <a:solidFill>
            <a:srgbClr val="EFEBFA"/>
          </a:solidFill>
          <a:ln/>
        </p:spPr>
      </p:sp>
      <p:sp>
        <p:nvSpPr>
          <p:cNvPr id="47" name="Text 45"/>
          <p:cNvSpPr/>
          <p:nvPr/>
        </p:nvSpPr>
        <p:spPr>
          <a:xfrm>
            <a:off x="9586570"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“first project” badge that boosts visibility right after the first completed job.</a:t>
            </a:r>
            <a:endParaRPr lang="en-US" sz="1400" dirty="0"/>
          </a:p>
        </p:txBody>
      </p:sp>
      <p:sp>
        <p:nvSpPr>
          <p:cNvPr id="48" name="Text 46"/>
          <p:cNvSpPr/>
          <p:nvPr/>
        </p:nvSpPr>
        <p:spPr>
          <a:xfrm>
            <a:off x="457200" y="6537960"/>
            <a:ext cx="7315200" cy="274320"/>
          </a:xfrm>
          <a:prstGeom prst="rect">
            <a:avLst/>
          </a:prstGeom>
          <a:noFill/>
          <a:ln/>
        </p:spPr>
        <p:txBody>
          <a:bodyPr wrap="square" rtlCol="0" anchor="ctr"/>
          <a:lstStyle/>
          <a:p>
            <a:pPr marL="0" indent="0">
              <a:buNone/>
            </a:pPr>
            <a:endParaRPr lang="en-US" sz="900" dirty="0"/>
          </a:p>
        </p:txBody>
      </p:sp>
      <p:sp>
        <p:nvSpPr>
          <p:cNvPr id="49" name="Text 47"/>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rtlCol="0" anchor="ctr"/>
          <a:lstStyle/>
          <a:p>
            <a:pPr marL="0" indent="0">
              <a:buNone/>
            </a:pPr>
            <a:r>
              <a:rPr lang="en-US" sz="1200" b="1" kern="0" spc="200" dirty="0">
                <a:solidFill>
                  <a:srgbClr val="B98E1F"/>
                </a:solidFill>
                <a:latin typeface="Calibri" pitchFamily="34" charset="0"/>
                <a:ea typeface="Calibri" pitchFamily="34" charset="-122"/>
                <a:cs typeface="Calibri" pitchFamily="34" charset="-120"/>
              </a:rPr>
              <a:t>USER JOURNEY MAP</a:t>
            </a:r>
            <a:endParaRPr lang="en-US" sz="1200" dirty="0"/>
          </a:p>
        </p:txBody>
      </p:sp>
      <p:sp>
        <p:nvSpPr>
          <p:cNvPr id="3" name="Text 1"/>
          <p:cNvSpPr/>
          <p:nvPr/>
        </p:nvSpPr>
        <p:spPr>
          <a:xfrm>
            <a:off x="457200" y="548640"/>
            <a:ext cx="8686800" cy="502920"/>
          </a:xfrm>
          <a:prstGeom prst="rect">
            <a:avLst/>
          </a:prstGeom>
          <a:noFill/>
          <a:ln/>
        </p:spPr>
        <p:txBody>
          <a:bodyPr wrap="square" rtlCol="0" anchor="ctr"/>
          <a:lstStyle/>
          <a:p>
            <a:pPr marL="0" indent="0">
              <a:buNone/>
            </a:pPr>
            <a:r>
              <a:rPr lang="en-US" sz="2400" b="1" dirty="0">
                <a:solidFill>
                  <a:srgbClr val="2E2B45"/>
                </a:solidFill>
                <a:latin typeface="Poppins" pitchFamily="34" charset="0"/>
                <a:ea typeface="Poppins" pitchFamily="34" charset="-122"/>
                <a:cs typeface="Poppins" pitchFamily="34" charset="-120"/>
              </a:rPr>
              <a:t>Juggling Recurring Client Tasks</a:t>
            </a:r>
            <a:endParaRPr lang="en-US" sz="2400" dirty="0"/>
          </a:p>
        </p:txBody>
      </p:sp>
      <p:sp>
        <p:nvSpPr>
          <p:cNvPr id="4" name="Shape 2"/>
          <p:cNvSpPr/>
          <p:nvPr/>
        </p:nvSpPr>
        <p:spPr>
          <a:xfrm>
            <a:off x="9966960" y="292608"/>
            <a:ext cx="566928" cy="566928"/>
          </a:xfrm>
          <a:prstGeom prst="ellipse">
            <a:avLst/>
          </a:prstGeom>
          <a:solidFill>
            <a:srgbClr val="F0D77B"/>
          </a:solidFill>
          <a:ln/>
        </p:spPr>
      </p:sp>
      <p:sp>
        <p:nvSpPr>
          <p:cNvPr id="5" name="Text 3"/>
          <p:cNvSpPr/>
          <p:nvPr/>
        </p:nvSpPr>
        <p:spPr>
          <a:xfrm>
            <a:off x="9966960" y="292608"/>
            <a:ext cx="566928"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KN</a:t>
            </a:r>
            <a:endParaRPr lang="en-US" sz="1300" dirty="0"/>
          </a:p>
        </p:txBody>
      </p:sp>
      <p:sp>
        <p:nvSpPr>
          <p:cNvPr id="6" name="Text 4"/>
          <p:cNvSpPr/>
          <p:nvPr/>
        </p:nvSpPr>
        <p:spPr>
          <a:xfrm>
            <a:off x="10607040" y="310896"/>
            <a:ext cx="2743200" cy="274320"/>
          </a:xfrm>
          <a:prstGeom prst="rect">
            <a:avLst/>
          </a:prstGeom>
          <a:noFill/>
          <a:ln/>
        </p:spPr>
        <p:txBody>
          <a:bodyPr wrap="square" rtlCol="0" anchor="ctr"/>
          <a:lstStyle/>
          <a:p>
            <a:pPr marL="0" indent="0">
              <a:buNone/>
            </a:pPr>
            <a:r>
              <a:rPr lang="en-US" sz="1100" b="1" dirty="0">
                <a:solidFill>
                  <a:srgbClr val="2E2B45"/>
                </a:solidFill>
                <a:latin typeface="Calibri" pitchFamily="34" charset="0"/>
                <a:ea typeface="Calibri" pitchFamily="34" charset="-122"/>
                <a:cs typeface="Calibri" pitchFamily="34" charset="-120"/>
              </a:rPr>
              <a:t>Kavita Nair</a:t>
            </a:r>
            <a:endParaRPr lang="en-US" sz="1100" dirty="0"/>
          </a:p>
        </p:txBody>
      </p:sp>
      <p:sp>
        <p:nvSpPr>
          <p:cNvPr id="7" name="Text 5"/>
          <p:cNvSpPr/>
          <p:nvPr/>
        </p:nvSpPr>
        <p:spPr>
          <a:xfrm>
            <a:off x="10607040" y="548640"/>
            <a:ext cx="2743200" cy="274320"/>
          </a:xfrm>
          <a:prstGeom prst="rect">
            <a:avLst/>
          </a:prstGeom>
          <a:noFill/>
          <a:ln/>
        </p:spPr>
        <p:txBody>
          <a:bodyPr wrap="square" rtlCol="0" anchor="ctr"/>
          <a:lstStyle/>
          <a:p>
            <a:pPr marL="0" indent="0">
              <a:buNone/>
            </a:pPr>
            <a:r>
              <a:rPr lang="en-US" sz="850" dirty="0">
                <a:solidFill>
                  <a:srgbClr val="5B5570"/>
                </a:solidFill>
                <a:latin typeface="Calibri" pitchFamily="34" charset="0"/>
                <a:ea typeface="Calibri" pitchFamily="34" charset="-122"/>
                <a:cs typeface="Calibri" pitchFamily="34" charset="-120"/>
              </a:rPr>
              <a:t>Freelance Virtual Assistant</a:t>
            </a:r>
            <a:endParaRPr lang="en-US" sz="850" dirty="0"/>
          </a:p>
        </p:txBody>
      </p:sp>
      <p:sp>
        <p:nvSpPr>
          <p:cNvPr id="8" name="Shape 6"/>
          <p:cNvSpPr/>
          <p:nvPr/>
        </p:nvSpPr>
        <p:spPr>
          <a:xfrm>
            <a:off x="457200" y="1234440"/>
            <a:ext cx="2181758" cy="502920"/>
          </a:xfrm>
          <a:prstGeom prst="roundRect">
            <a:avLst>
              <a:gd name="adj" fmla="val 10909"/>
            </a:avLst>
          </a:prstGeom>
          <a:solidFill>
            <a:srgbClr val="B98E1F"/>
          </a:solidFill>
          <a:ln/>
        </p:spPr>
      </p:sp>
      <p:sp>
        <p:nvSpPr>
          <p:cNvPr id="9" name="Text 7"/>
          <p:cNvSpPr/>
          <p:nvPr/>
        </p:nvSpPr>
        <p:spPr>
          <a:xfrm>
            <a:off x="53035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Checks Four Chat Apps</a:t>
            </a:r>
            <a:endParaRPr lang="en-US" sz="1000" dirty="0"/>
          </a:p>
        </p:txBody>
      </p:sp>
      <p:sp>
        <p:nvSpPr>
          <p:cNvPr id="10" name="Shape 8"/>
          <p:cNvSpPr/>
          <p:nvPr/>
        </p:nvSpPr>
        <p:spPr>
          <a:xfrm>
            <a:off x="2712110" y="1234440"/>
            <a:ext cx="2181758" cy="502920"/>
          </a:xfrm>
          <a:prstGeom prst="roundRect">
            <a:avLst>
              <a:gd name="adj" fmla="val 10909"/>
            </a:avLst>
          </a:prstGeom>
          <a:solidFill>
            <a:srgbClr val="B98E1F"/>
          </a:solidFill>
          <a:ln/>
        </p:spPr>
      </p:sp>
      <p:sp>
        <p:nvSpPr>
          <p:cNvPr id="11" name="Text 9"/>
          <p:cNvSpPr/>
          <p:nvPr/>
        </p:nvSpPr>
        <p:spPr>
          <a:xfrm>
            <a:off x="2785262"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Compiles the Day’s Task List</a:t>
            </a:r>
            <a:endParaRPr lang="en-US" sz="1000" dirty="0"/>
          </a:p>
        </p:txBody>
      </p:sp>
      <p:sp>
        <p:nvSpPr>
          <p:cNvPr id="12" name="Shape 10"/>
          <p:cNvSpPr/>
          <p:nvPr/>
        </p:nvSpPr>
        <p:spPr>
          <a:xfrm>
            <a:off x="4967021" y="1234440"/>
            <a:ext cx="2181758" cy="502920"/>
          </a:xfrm>
          <a:prstGeom prst="roundRect">
            <a:avLst>
              <a:gd name="adj" fmla="val 10909"/>
            </a:avLst>
          </a:prstGeom>
          <a:solidFill>
            <a:srgbClr val="B98E1F"/>
          </a:solidFill>
          <a:ln/>
        </p:spPr>
      </p:sp>
      <p:sp>
        <p:nvSpPr>
          <p:cNvPr id="13" name="Text 11"/>
          <p:cNvSpPr/>
          <p:nvPr/>
        </p:nvSpPr>
        <p:spPr>
          <a:xfrm>
            <a:off x="504017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Two Clients Need Help at Once</a:t>
            </a:r>
            <a:endParaRPr lang="en-US" sz="1000" dirty="0"/>
          </a:p>
        </p:txBody>
      </p:sp>
      <p:sp>
        <p:nvSpPr>
          <p:cNvPr id="14" name="Shape 12"/>
          <p:cNvSpPr/>
          <p:nvPr/>
        </p:nvSpPr>
        <p:spPr>
          <a:xfrm>
            <a:off x="7221931" y="1234440"/>
            <a:ext cx="2181758" cy="502920"/>
          </a:xfrm>
          <a:prstGeom prst="roundRect">
            <a:avLst>
              <a:gd name="adj" fmla="val 10909"/>
            </a:avLst>
          </a:prstGeom>
          <a:solidFill>
            <a:srgbClr val="B98E1F"/>
          </a:solidFill>
          <a:ln/>
        </p:spPr>
      </p:sp>
      <p:sp>
        <p:nvSpPr>
          <p:cNvPr id="15" name="Text 13"/>
          <p:cNvSpPr/>
          <p:nvPr/>
        </p:nvSpPr>
        <p:spPr>
          <a:xfrm>
            <a:off x="7295083"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Sends a Payment Reminder</a:t>
            </a:r>
            <a:endParaRPr lang="en-US" sz="1000" dirty="0"/>
          </a:p>
        </p:txBody>
      </p:sp>
      <p:sp>
        <p:nvSpPr>
          <p:cNvPr id="16" name="Shape 14"/>
          <p:cNvSpPr/>
          <p:nvPr/>
        </p:nvSpPr>
        <p:spPr>
          <a:xfrm>
            <a:off x="9476842" y="1234440"/>
            <a:ext cx="2181758" cy="502920"/>
          </a:xfrm>
          <a:prstGeom prst="roundRect">
            <a:avLst>
              <a:gd name="adj" fmla="val 10909"/>
            </a:avLst>
          </a:prstGeom>
          <a:solidFill>
            <a:srgbClr val="B98E1F"/>
          </a:solidFill>
          <a:ln/>
        </p:spPr>
      </p:sp>
      <p:sp>
        <p:nvSpPr>
          <p:cNvPr id="17" name="Text 15"/>
          <p:cNvSpPr/>
          <p:nvPr/>
        </p:nvSpPr>
        <p:spPr>
          <a:xfrm>
            <a:off x="9549994" y="1234440"/>
            <a:ext cx="2035454"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Wraps Up and Logs Hours</a:t>
            </a:r>
            <a:endParaRPr lang="en-US" sz="1000" dirty="0"/>
          </a:p>
        </p:txBody>
      </p:sp>
      <p:sp>
        <p:nvSpPr>
          <p:cNvPr id="18" name="Shape 16"/>
          <p:cNvSpPr/>
          <p:nvPr/>
        </p:nvSpPr>
        <p:spPr>
          <a:xfrm>
            <a:off x="457200" y="1810512"/>
            <a:ext cx="2181758" cy="1965960"/>
          </a:xfrm>
          <a:prstGeom prst="roundRect">
            <a:avLst>
              <a:gd name="adj" fmla="val 2791"/>
            </a:avLst>
          </a:prstGeom>
          <a:solidFill>
            <a:srgbClr val="FFFFFF"/>
          </a:solidFill>
          <a:ln w="12700">
            <a:solidFill>
              <a:srgbClr val="E7E3F3"/>
            </a:solidFill>
            <a:prstDash val="solid"/>
          </a:ln>
        </p:spPr>
      </p:sp>
      <p:sp>
        <p:nvSpPr>
          <p:cNvPr id="19" name="Text 17"/>
          <p:cNvSpPr/>
          <p:nvPr/>
        </p:nvSpPr>
        <p:spPr>
          <a:xfrm>
            <a:off x="56692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Opens platform chat, WhatsApp, two inboxes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Notes new requests from each client</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Flags anything urgent</a:t>
            </a:r>
            <a:endParaRPr lang="en-US" sz="1200" dirty="0"/>
          </a:p>
        </p:txBody>
      </p:sp>
      <p:sp>
        <p:nvSpPr>
          <p:cNvPr id="20" name="Shape 18"/>
          <p:cNvSpPr/>
          <p:nvPr/>
        </p:nvSpPr>
        <p:spPr>
          <a:xfrm>
            <a:off x="2712110" y="1810512"/>
            <a:ext cx="2181758" cy="1965960"/>
          </a:xfrm>
          <a:prstGeom prst="roundRect">
            <a:avLst>
              <a:gd name="adj" fmla="val 2791"/>
            </a:avLst>
          </a:prstGeom>
          <a:solidFill>
            <a:srgbClr val="FFFFFF"/>
          </a:solidFill>
          <a:ln w="12700">
            <a:solidFill>
              <a:srgbClr val="E7E3F3"/>
            </a:solidFill>
            <a:prstDash val="solid"/>
          </a:ln>
        </p:spPr>
      </p:sp>
      <p:sp>
        <p:nvSpPr>
          <p:cNvPr id="21" name="Text 19"/>
          <p:cNvSpPr/>
          <p:nvPr/>
        </p:nvSpPr>
        <p:spPr>
          <a:xfrm>
            <a:off x="2821838"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Combines requests into a priority list</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Estimates time needed per task</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Blocks her calendar accordingly</a:t>
            </a:r>
            <a:endParaRPr lang="en-US" sz="1200" dirty="0"/>
          </a:p>
        </p:txBody>
      </p:sp>
      <p:sp>
        <p:nvSpPr>
          <p:cNvPr id="22" name="Shape 20"/>
          <p:cNvSpPr/>
          <p:nvPr/>
        </p:nvSpPr>
        <p:spPr>
          <a:xfrm>
            <a:off x="4967021" y="1810512"/>
            <a:ext cx="2181758" cy="1965960"/>
          </a:xfrm>
          <a:prstGeom prst="roundRect">
            <a:avLst>
              <a:gd name="adj" fmla="val 2791"/>
            </a:avLst>
          </a:prstGeom>
          <a:solidFill>
            <a:srgbClr val="FFFFFF"/>
          </a:solidFill>
          <a:ln w="12700">
            <a:solidFill>
              <a:srgbClr val="E7E3F3"/>
            </a:solidFill>
            <a:prstDash val="solid"/>
          </a:ln>
        </p:spPr>
      </p:sp>
      <p:sp>
        <p:nvSpPr>
          <p:cNvPr id="23" name="Text 21"/>
          <p:cNvSpPr/>
          <p:nvPr/>
        </p:nvSpPr>
        <p:spPr>
          <a:xfrm>
            <a:off x="507674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Two clients message urgently at once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Decides which to handle first</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Sends a quick “on it” reply to both</a:t>
            </a:r>
            <a:endParaRPr lang="en-US" sz="1200" dirty="0"/>
          </a:p>
        </p:txBody>
      </p:sp>
      <p:sp>
        <p:nvSpPr>
          <p:cNvPr id="24" name="Shape 22"/>
          <p:cNvSpPr/>
          <p:nvPr/>
        </p:nvSpPr>
        <p:spPr>
          <a:xfrm>
            <a:off x="7221931" y="1810512"/>
            <a:ext cx="2181758" cy="1965960"/>
          </a:xfrm>
          <a:prstGeom prst="roundRect">
            <a:avLst>
              <a:gd name="adj" fmla="val 2791"/>
            </a:avLst>
          </a:prstGeom>
          <a:solidFill>
            <a:srgbClr val="FFFFFF"/>
          </a:solidFill>
          <a:ln w="12700">
            <a:solidFill>
              <a:srgbClr val="E7E3F3"/>
            </a:solidFill>
            <a:prstDash val="solid"/>
          </a:ln>
        </p:spPr>
      </p:sp>
      <p:sp>
        <p:nvSpPr>
          <p:cNvPr id="25" name="Text 23"/>
          <p:cNvSpPr/>
          <p:nvPr/>
        </p:nvSpPr>
        <p:spPr>
          <a:xfrm>
            <a:off x="7331659"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Notices a payment date is close</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Manually messages the client a reminder</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Waits for confirmation</a:t>
            </a:r>
            <a:endParaRPr lang="en-US" sz="1200" dirty="0"/>
          </a:p>
        </p:txBody>
      </p:sp>
      <p:sp>
        <p:nvSpPr>
          <p:cNvPr id="26" name="Shape 24"/>
          <p:cNvSpPr/>
          <p:nvPr/>
        </p:nvSpPr>
        <p:spPr>
          <a:xfrm>
            <a:off x="9476842" y="1810512"/>
            <a:ext cx="2181758" cy="1965960"/>
          </a:xfrm>
          <a:prstGeom prst="roundRect">
            <a:avLst>
              <a:gd name="adj" fmla="val 2791"/>
            </a:avLst>
          </a:prstGeom>
          <a:solidFill>
            <a:srgbClr val="FFFFFF"/>
          </a:solidFill>
          <a:ln w="12700">
            <a:solidFill>
              <a:srgbClr val="E7E3F3"/>
            </a:solidFill>
            <a:prstDash val="solid"/>
          </a:ln>
        </p:spPr>
      </p:sp>
      <p:sp>
        <p:nvSpPr>
          <p:cNvPr id="27" name="Text 25"/>
          <p:cNvSpPr/>
          <p:nvPr/>
        </p:nvSpPr>
        <p:spPr>
          <a:xfrm>
            <a:off x="9586570" y="1901952"/>
            <a:ext cx="1962302" cy="1783080"/>
          </a:xfrm>
          <a:prstGeom prst="rect">
            <a:avLst/>
          </a:prstGeom>
          <a:noFill/>
          <a:ln/>
        </p:spPr>
        <p:txBody>
          <a:bodyPr wrap="square" rtlCol="0" anchor="t"/>
          <a:lstStyle/>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Logs hours across all four clients</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Double-checks nothing was missed</a:t>
            </a:r>
            <a:endParaRPr lang="en-US" sz="1200" dirty="0"/>
          </a:p>
          <a:p>
            <a:pPr marL="127000" indent="-127000">
              <a:lnSpc>
                <a:spcPct val="105000"/>
              </a:lnSpc>
              <a:spcAft>
                <a:spcPts val="500"/>
              </a:spcAft>
              <a:buSzPct val="100000"/>
              <a:buChar char="•"/>
            </a:pPr>
            <a:r>
              <a:rPr lang="en-US" sz="1200" dirty="0">
                <a:solidFill>
                  <a:srgbClr val="2E2B45"/>
                </a:solidFill>
                <a:latin typeface="Calibri" pitchFamily="34" charset="0"/>
                <a:ea typeface="Calibri" pitchFamily="34" charset="-122"/>
                <a:cs typeface="Calibri" pitchFamily="34" charset="-120"/>
              </a:rPr>
              <a:t>Closes out the day’s task list</a:t>
            </a:r>
            <a:endParaRPr lang="en-US" sz="1200" dirty="0"/>
          </a:p>
        </p:txBody>
      </p:sp>
      <p:sp>
        <p:nvSpPr>
          <p:cNvPr id="28" name="Shape 26"/>
          <p:cNvSpPr/>
          <p:nvPr/>
        </p:nvSpPr>
        <p:spPr>
          <a:xfrm>
            <a:off x="457200" y="3849624"/>
            <a:ext cx="2181758" cy="457200"/>
          </a:xfrm>
          <a:prstGeom prst="roundRect">
            <a:avLst>
              <a:gd name="adj" fmla="val 12000"/>
            </a:avLst>
          </a:prstGeom>
          <a:solidFill>
            <a:srgbClr val="FBF3D6"/>
          </a:solidFill>
          <a:ln/>
        </p:spPr>
      </p:sp>
      <p:sp>
        <p:nvSpPr>
          <p:cNvPr id="29" name="Text 27"/>
          <p:cNvSpPr/>
          <p:nvPr/>
        </p:nvSpPr>
        <p:spPr>
          <a:xfrm>
            <a:off x="530352" y="3849624"/>
            <a:ext cx="2035454" cy="457200"/>
          </a:xfrm>
          <a:prstGeom prst="rect">
            <a:avLst/>
          </a:prstGeom>
          <a:noFill/>
          <a:ln/>
        </p:spPr>
        <p:txBody>
          <a:bodyPr wrap="square" rtlCol="0" anchor="ctr"/>
          <a:lstStyle/>
          <a:p>
            <a:pPr marL="0" indent="0" algn="ctr">
              <a:buNone/>
            </a:pPr>
            <a:r>
              <a:rPr lang="en-US" sz="1050" b="1" dirty="0">
                <a:solidFill>
                  <a:srgbClr val="B98E1F"/>
                </a:solidFill>
                <a:latin typeface="Calibri" pitchFamily="34" charset="0"/>
                <a:ea typeface="Calibri" pitchFamily="34" charset="-122"/>
                <a:cs typeface="Calibri" pitchFamily="34" charset="-120"/>
              </a:rPr>
              <a:t>Scattered</a:t>
            </a:r>
            <a:endParaRPr lang="en-US" sz="1050" dirty="0"/>
          </a:p>
        </p:txBody>
      </p:sp>
      <p:sp>
        <p:nvSpPr>
          <p:cNvPr id="30" name="Shape 28"/>
          <p:cNvSpPr/>
          <p:nvPr/>
        </p:nvSpPr>
        <p:spPr>
          <a:xfrm>
            <a:off x="2712110" y="3849624"/>
            <a:ext cx="2181758" cy="457200"/>
          </a:xfrm>
          <a:prstGeom prst="roundRect">
            <a:avLst>
              <a:gd name="adj" fmla="val 12000"/>
            </a:avLst>
          </a:prstGeom>
          <a:solidFill>
            <a:srgbClr val="FBF3D6"/>
          </a:solidFill>
          <a:ln/>
        </p:spPr>
      </p:sp>
      <p:sp>
        <p:nvSpPr>
          <p:cNvPr id="31" name="Text 29"/>
          <p:cNvSpPr/>
          <p:nvPr/>
        </p:nvSpPr>
        <p:spPr>
          <a:xfrm>
            <a:off x="2785262" y="3849624"/>
            <a:ext cx="2035454" cy="457200"/>
          </a:xfrm>
          <a:prstGeom prst="rect">
            <a:avLst/>
          </a:prstGeom>
          <a:noFill/>
          <a:ln/>
        </p:spPr>
        <p:txBody>
          <a:bodyPr wrap="square" rtlCol="0" anchor="ctr"/>
          <a:lstStyle/>
          <a:p>
            <a:pPr marL="0" indent="0" algn="ctr">
              <a:buNone/>
            </a:pPr>
            <a:r>
              <a:rPr lang="en-US" sz="1050" b="1" dirty="0">
                <a:solidFill>
                  <a:srgbClr val="B98E1F"/>
                </a:solidFill>
                <a:latin typeface="Calibri" pitchFamily="34" charset="0"/>
                <a:ea typeface="Calibri" pitchFamily="34" charset="-122"/>
                <a:cs typeface="Calibri" pitchFamily="34" charset="-120"/>
              </a:rPr>
              <a:t>In control</a:t>
            </a:r>
            <a:endParaRPr lang="en-US" sz="1050" dirty="0"/>
          </a:p>
        </p:txBody>
      </p:sp>
      <p:sp>
        <p:nvSpPr>
          <p:cNvPr id="32" name="Shape 30"/>
          <p:cNvSpPr/>
          <p:nvPr/>
        </p:nvSpPr>
        <p:spPr>
          <a:xfrm>
            <a:off x="4967021" y="3849624"/>
            <a:ext cx="2181758" cy="457200"/>
          </a:xfrm>
          <a:prstGeom prst="roundRect">
            <a:avLst>
              <a:gd name="adj" fmla="val 12000"/>
            </a:avLst>
          </a:prstGeom>
          <a:solidFill>
            <a:srgbClr val="FBF3D6"/>
          </a:solidFill>
          <a:ln/>
        </p:spPr>
      </p:sp>
      <p:sp>
        <p:nvSpPr>
          <p:cNvPr id="33" name="Text 31"/>
          <p:cNvSpPr/>
          <p:nvPr/>
        </p:nvSpPr>
        <p:spPr>
          <a:xfrm>
            <a:off x="5040173" y="3849624"/>
            <a:ext cx="2035454" cy="457200"/>
          </a:xfrm>
          <a:prstGeom prst="rect">
            <a:avLst/>
          </a:prstGeom>
          <a:noFill/>
          <a:ln/>
        </p:spPr>
        <p:txBody>
          <a:bodyPr wrap="square" rtlCol="0" anchor="ctr"/>
          <a:lstStyle/>
          <a:p>
            <a:pPr marL="0" indent="0" algn="ctr">
              <a:buNone/>
            </a:pPr>
            <a:r>
              <a:rPr lang="en-US" sz="1050" b="1" dirty="0">
                <a:solidFill>
                  <a:srgbClr val="B98E1F"/>
                </a:solidFill>
                <a:latin typeface="Calibri" pitchFamily="34" charset="0"/>
                <a:ea typeface="Calibri" pitchFamily="34" charset="-122"/>
                <a:cs typeface="Calibri" pitchFamily="34" charset="-120"/>
              </a:rPr>
              <a:t>Overwhelmed</a:t>
            </a:r>
            <a:endParaRPr lang="en-US" sz="1050" dirty="0"/>
          </a:p>
        </p:txBody>
      </p:sp>
      <p:sp>
        <p:nvSpPr>
          <p:cNvPr id="34" name="Shape 32"/>
          <p:cNvSpPr/>
          <p:nvPr/>
        </p:nvSpPr>
        <p:spPr>
          <a:xfrm>
            <a:off x="7221931" y="3849624"/>
            <a:ext cx="2181758" cy="457200"/>
          </a:xfrm>
          <a:prstGeom prst="roundRect">
            <a:avLst>
              <a:gd name="adj" fmla="val 12000"/>
            </a:avLst>
          </a:prstGeom>
          <a:solidFill>
            <a:srgbClr val="FBF3D6"/>
          </a:solidFill>
          <a:ln/>
        </p:spPr>
      </p:sp>
      <p:sp>
        <p:nvSpPr>
          <p:cNvPr id="35" name="Text 33"/>
          <p:cNvSpPr/>
          <p:nvPr/>
        </p:nvSpPr>
        <p:spPr>
          <a:xfrm>
            <a:off x="7295083" y="3849624"/>
            <a:ext cx="2035454" cy="457200"/>
          </a:xfrm>
          <a:prstGeom prst="rect">
            <a:avLst/>
          </a:prstGeom>
          <a:noFill/>
          <a:ln/>
        </p:spPr>
        <p:txBody>
          <a:bodyPr wrap="square" rtlCol="0" anchor="ctr"/>
          <a:lstStyle/>
          <a:p>
            <a:pPr marL="0" indent="0" algn="ctr">
              <a:buNone/>
            </a:pPr>
            <a:r>
              <a:rPr lang="en-US" sz="1050" b="1" dirty="0">
                <a:solidFill>
                  <a:srgbClr val="B98E1F"/>
                </a:solidFill>
                <a:latin typeface="Calibri" pitchFamily="34" charset="0"/>
                <a:ea typeface="Calibri" pitchFamily="34" charset="-122"/>
                <a:cs typeface="Calibri" pitchFamily="34" charset="-120"/>
              </a:rPr>
              <a:t>Uneasy</a:t>
            </a:r>
            <a:endParaRPr lang="en-US" sz="1050" dirty="0"/>
          </a:p>
        </p:txBody>
      </p:sp>
      <p:sp>
        <p:nvSpPr>
          <p:cNvPr id="36" name="Shape 34"/>
          <p:cNvSpPr/>
          <p:nvPr/>
        </p:nvSpPr>
        <p:spPr>
          <a:xfrm>
            <a:off x="9476842" y="3849624"/>
            <a:ext cx="2181758" cy="457200"/>
          </a:xfrm>
          <a:prstGeom prst="roundRect">
            <a:avLst>
              <a:gd name="adj" fmla="val 12000"/>
            </a:avLst>
          </a:prstGeom>
          <a:solidFill>
            <a:srgbClr val="FBF3D6"/>
          </a:solidFill>
          <a:ln/>
        </p:spPr>
      </p:sp>
      <p:sp>
        <p:nvSpPr>
          <p:cNvPr id="37" name="Text 35"/>
          <p:cNvSpPr/>
          <p:nvPr/>
        </p:nvSpPr>
        <p:spPr>
          <a:xfrm>
            <a:off x="9549994" y="3849624"/>
            <a:ext cx="2035454" cy="457200"/>
          </a:xfrm>
          <a:prstGeom prst="rect">
            <a:avLst/>
          </a:prstGeom>
          <a:noFill/>
          <a:ln/>
        </p:spPr>
        <p:txBody>
          <a:bodyPr wrap="square" rtlCol="0" anchor="ctr"/>
          <a:lstStyle/>
          <a:p>
            <a:pPr marL="0" indent="0" algn="ctr">
              <a:buNone/>
            </a:pPr>
            <a:r>
              <a:rPr lang="en-US" sz="1050" b="1" dirty="0">
                <a:solidFill>
                  <a:srgbClr val="B98E1F"/>
                </a:solidFill>
                <a:latin typeface="Calibri" pitchFamily="34" charset="0"/>
                <a:ea typeface="Calibri" pitchFamily="34" charset="-122"/>
                <a:cs typeface="Calibri" pitchFamily="34" charset="-120"/>
              </a:rPr>
              <a:t>Accomplished</a:t>
            </a:r>
            <a:endParaRPr lang="en-US" sz="1050" dirty="0"/>
          </a:p>
        </p:txBody>
      </p:sp>
      <p:sp>
        <p:nvSpPr>
          <p:cNvPr id="38" name="Shape 36"/>
          <p:cNvSpPr/>
          <p:nvPr/>
        </p:nvSpPr>
        <p:spPr>
          <a:xfrm>
            <a:off x="457200" y="4379976"/>
            <a:ext cx="2181758" cy="1600200"/>
          </a:xfrm>
          <a:prstGeom prst="roundRect">
            <a:avLst>
              <a:gd name="adj" fmla="val 3429"/>
            </a:avLst>
          </a:prstGeom>
          <a:solidFill>
            <a:srgbClr val="EFEBFA"/>
          </a:solidFill>
          <a:ln/>
        </p:spPr>
      </p:sp>
      <p:sp>
        <p:nvSpPr>
          <p:cNvPr id="39" name="Text 37"/>
          <p:cNvSpPr/>
          <p:nvPr/>
        </p:nvSpPr>
        <p:spPr>
          <a:xfrm>
            <a:off x="56692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One unified inbox pulling messages from all connected client channels.</a:t>
            </a:r>
            <a:endParaRPr lang="en-US" sz="1400" dirty="0"/>
          </a:p>
        </p:txBody>
      </p:sp>
      <p:sp>
        <p:nvSpPr>
          <p:cNvPr id="40" name="Shape 38"/>
          <p:cNvSpPr/>
          <p:nvPr/>
        </p:nvSpPr>
        <p:spPr>
          <a:xfrm>
            <a:off x="2712110" y="4379976"/>
            <a:ext cx="2181758" cy="1600200"/>
          </a:xfrm>
          <a:prstGeom prst="roundRect">
            <a:avLst>
              <a:gd name="adj" fmla="val 3429"/>
            </a:avLst>
          </a:prstGeom>
          <a:solidFill>
            <a:srgbClr val="EFEBFA"/>
          </a:solidFill>
          <a:ln/>
        </p:spPr>
      </p:sp>
      <p:sp>
        <p:nvSpPr>
          <p:cNvPr id="41" name="Text 39"/>
          <p:cNvSpPr/>
          <p:nvPr/>
        </p:nvSpPr>
        <p:spPr>
          <a:xfrm>
            <a:off x="2821838"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An auto-generated daily task list built from tagged client messages.</a:t>
            </a:r>
            <a:endParaRPr lang="en-US" sz="1400" dirty="0"/>
          </a:p>
        </p:txBody>
      </p:sp>
      <p:sp>
        <p:nvSpPr>
          <p:cNvPr id="42" name="Shape 40"/>
          <p:cNvSpPr/>
          <p:nvPr/>
        </p:nvSpPr>
        <p:spPr>
          <a:xfrm>
            <a:off x="4967021" y="4379976"/>
            <a:ext cx="2181758" cy="1600200"/>
          </a:xfrm>
          <a:prstGeom prst="roundRect">
            <a:avLst>
              <a:gd name="adj" fmla="val 3429"/>
            </a:avLst>
          </a:prstGeom>
          <a:solidFill>
            <a:srgbClr val="EFEBFA"/>
          </a:solidFill>
          <a:ln/>
        </p:spPr>
      </p:sp>
      <p:sp>
        <p:nvSpPr>
          <p:cNvPr id="43" name="Text 41"/>
          <p:cNvSpPr/>
          <p:nvPr/>
        </p:nvSpPr>
        <p:spPr>
          <a:xfrm>
            <a:off x="507674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shared status indicator clients can see, showing she’s actively working on it</a:t>
            </a:r>
            <a:r>
              <a:rPr lang="en-US" sz="850" i="1" dirty="0">
                <a:solidFill>
                  <a:srgbClr val="2E2B45"/>
                </a:solidFill>
                <a:latin typeface="Calibri" pitchFamily="34" charset="0"/>
                <a:ea typeface="Calibri" pitchFamily="34" charset="-122"/>
                <a:cs typeface="Calibri" pitchFamily="34" charset="-120"/>
              </a:rPr>
              <a:t>.</a:t>
            </a:r>
            <a:endParaRPr lang="en-US" sz="850" dirty="0"/>
          </a:p>
        </p:txBody>
      </p:sp>
      <p:sp>
        <p:nvSpPr>
          <p:cNvPr id="44" name="Shape 42"/>
          <p:cNvSpPr/>
          <p:nvPr/>
        </p:nvSpPr>
        <p:spPr>
          <a:xfrm>
            <a:off x="7221931" y="4379976"/>
            <a:ext cx="2181758" cy="1600200"/>
          </a:xfrm>
          <a:prstGeom prst="roundRect">
            <a:avLst>
              <a:gd name="adj" fmla="val 3429"/>
            </a:avLst>
          </a:prstGeom>
          <a:solidFill>
            <a:srgbClr val="EFEBFA"/>
          </a:solidFill>
          <a:ln/>
        </p:spPr>
      </p:sp>
      <p:sp>
        <p:nvSpPr>
          <p:cNvPr id="45" name="Text 43"/>
          <p:cNvSpPr/>
          <p:nvPr/>
        </p:nvSpPr>
        <p:spPr>
          <a:xfrm>
            <a:off x="7331659"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Automated payment reminders tied to each client’s recurring schedule.</a:t>
            </a:r>
            <a:endParaRPr lang="en-US" sz="1400" dirty="0"/>
          </a:p>
        </p:txBody>
      </p:sp>
      <p:sp>
        <p:nvSpPr>
          <p:cNvPr id="46" name="Shape 44"/>
          <p:cNvSpPr/>
          <p:nvPr/>
        </p:nvSpPr>
        <p:spPr>
          <a:xfrm>
            <a:off x="9476842" y="4379976"/>
            <a:ext cx="2181758" cy="1600200"/>
          </a:xfrm>
          <a:prstGeom prst="roundRect">
            <a:avLst>
              <a:gd name="adj" fmla="val 3429"/>
            </a:avLst>
          </a:prstGeom>
          <a:solidFill>
            <a:srgbClr val="EFEBFA"/>
          </a:solidFill>
          <a:ln/>
        </p:spPr>
      </p:sp>
      <p:sp>
        <p:nvSpPr>
          <p:cNvPr id="47" name="Text 45"/>
          <p:cNvSpPr/>
          <p:nvPr/>
        </p:nvSpPr>
        <p:spPr>
          <a:xfrm>
            <a:off x="9586570" y="4471416"/>
            <a:ext cx="1962302" cy="1417320"/>
          </a:xfrm>
          <a:prstGeom prst="rect">
            <a:avLst/>
          </a:prstGeom>
          <a:noFill/>
          <a:ln/>
        </p:spPr>
        <p:txBody>
          <a:bodyPr wrap="square" rtlCol="0" anchor="t"/>
          <a:lstStyle/>
          <a:p>
            <a:pPr marL="0" indent="0">
              <a:lnSpc>
                <a:spcPct val="110000"/>
              </a:lnSpc>
              <a:buNone/>
            </a:pPr>
            <a:r>
              <a:rPr lang="en-US" sz="1400" i="1" dirty="0">
                <a:solidFill>
                  <a:srgbClr val="2E2B45"/>
                </a:solidFill>
                <a:latin typeface="Calibri" pitchFamily="34" charset="0"/>
                <a:ea typeface="Calibri" pitchFamily="34" charset="-122"/>
                <a:cs typeface="Calibri" pitchFamily="34" charset="-120"/>
              </a:rPr>
              <a:t>A single dashboard summarizing hours, tasks, and payments across every client</a:t>
            </a:r>
            <a:r>
              <a:rPr lang="en-US" sz="850" i="1" dirty="0">
                <a:solidFill>
                  <a:srgbClr val="2E2B45"/>
                </a:solidFill>
                <a:latin typeface="Calibri" pitchFamily="34" charset="0"/>
                <a:ea typeface="Calibri" pitchFamily="34" charset="-122"/>
                <a:cs typeface="Calibri" pitchFamily="34" charset="-120"/>
              </a:rPr>
              <a:t>.</a:t>
            </a:r>
            <a:endParaRPr lang="en-US" sz="850" dirty="0"/>
          </a:p>
        </p:txBody>
      </p:sp>
      <p:sp>
        <p:nvSpPr>
          <p:cNvPr id="48" name="Text 46"/>
          <p:cNvSpPr/>
          <p:nvPr/>
        </p:nvSpPr>
        <p:spPr>
          <a:xfrm>
            <a:off x="457200" y="6537960"/>
            <a:ext cx="7315200" cy="274320"/>
          </a:xfrm>
          <a:prstGeom prst="rect">
            <a:avLst/>
          </a:prstGeom>
          <a:noFill/>
          <a:ln/>
        </p:spPr>
        <p:txBody>
          <a:bodyPr wrap="square" rtlCol="0" anchor="ctr"/>
          <a:lstStyle/>
          <a:p>
            <a:pPr marL="0" indent="0">
              <a:buNone/>
            </a:pPr>
            <a:endParaRPr lang="en-US" sz="900" dirty="0"/>
          </a:p>
        </p:txBody>
      </p:sp>
      <p:sp>
        <p:nvSpPr>
          <p:cNvPr id="49" name="Text 47"/>
          <p:cNvSpPr/>
          <p:nvPr/>
        </p:nvSpPr>
        <p:spPr>
          <a:xfrm>
            <a:off x="11155680" y="6537960"/>
            <a:ext cx="594360" cy="274320"/>
          </a:xfrm>
          <a:prstGeom prst="rect">
            <a:avLst/>
          </a:prstGeom>
          <a:noFill/>
          <a:ln/>
        </p:spPr>
        <p:txBody>
          <a:bodyPr wrap="square" rtlCol="0" anchor="ctr"/>
          <a:lstStyle/>
          <a:p>
            <a:pPr marL="0" indent="0" algn="r">
              <a:buNone/>
            </a:pPr>
            <a:r>
              <a:rPr lang="en-US" sz="900" dirty="0">
                <a:solidFill>
                  <a:srgbClr val="5B55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2237</Words>
  <Application>Microsoft Office PowerPoint</Application>
  <PresentationFormat>Widescreen</PresentationFormat>
  <Paragraphs>391</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Algerian</vt:lpstr>
      <vt:lpstr>Arial</vt:lpstr>
      <vt:lpstr>Bernard MT Condensed</vt:lpstr>
      <vt:lpstr>Britannic Bold</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vijayalakshmi thiriveedi</cp:lastModifiedBy>
  <cp:revision>2</cp:revision>
  <dcterms:created xsi:type="dcterms:W3CDTF">2026-08-08T13:21:32Z</dcterms:created>
  <dcterms:modified xsi:type="dcterms:W3CDTF">2026-08-08T15:45:32Z</dcterms:modified>
</cp:coreProperties>
</file>